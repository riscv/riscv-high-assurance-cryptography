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Lst>
  <p:notesMasterIdLst>
    <p:notesMasterId r:id="rId38"/>
  </p:notesMasterIdLst>
  <p:sldIdLst>
    <p:sldId id="256" r:id="rId2"/>
    <p:sldId id="427" r:id="rId3"/>
    <p:sldId id="258" r:id="rId4"/>
    <p:sldId id="373" r:id="rId5"/>
    <p:sldId id="261" r:id="rId6"/>
    <p:sldId id="262" r:id="rId7"/>
    <p:sldId id="263" r:id="rId8"/>
    <p:sldId id="428" r:id="rId9"/>
    <p:sldId id="264" r:id="rId10"/>
    <p:sldId id="374" r:id="rId11"/>
    <p:sldId id="375" r:id="rId12"/>
    <p:sldId id="368" r:id="rId13"/>
    <p:sldId id="423" r:id="rId14"/>
    <p:sldId id="269" r:id="rId15"/>
    <p:sldId id="270" r:id="rId16"/>
    <p:sldId id="271" r:id="rId17"/>
    <p:sldId id="272" r:id="rId18"/>
    <p:sldId id="273" r:id="rId19"/>
    <p:sldId id="266" r:id="rId20"/>
    <p:sldId id="436" r:id="rId21"/>
    <p:sldId id="276" r:id="rId22"/>
    <p:sldId id="434" r:id="rId23"/>
    <p:sldId id="275" r:id="rId24"/>
    <p:sldId id="419" r:id="rId25"/>
    <p:sldId id="274" r:id="rId26"/>
    <p:sldId id="426" r:id="rId27"/>
    <p:sldId id="277" r:id="rId28"/>
    <p:sldId id="278" r:id="rId29"/>
    <p:sldId id="420" r:id="rId30"/>
    <p:sldId id="421" r:id="rId31"/>
    <p:sldId id="279" r:id="rId32"/>
    <p:sldId id="430" r:id="rId33"/>
    <p:sldId id="431" r:id="rId34"/>
    <p:sldId id="432" r:id="rId35"/>
    <p:sldId id="433" r:id="rId36"/>
    <p:sldId id="429" r:id="rId37"/>
  </p:sldIdLst>
  <p:sldSz cx="12192000" cy="6858000"/>
  <p:notesSz cx="6858000" cy="9144000"/>
  <p:embeddedFontLst>
    <p:embeddedFont>
      <p:font typeface="Andale Mono" panose="020B0509000000000004" pitchFamily="49" charset="0"/>
      <p:regular r:id="rId39"/>
    </p:embeddedFont>
    <p:embeddedFont>
      <p:font typeface="Aptos Mono" panose="020B0009020202020204" pitchFamily="49" charset="0"/>
      <p:regular r:id="rId40"/>
      <p:bold r:id="rId41"/>
      <p:italic r:id="rId42"/>
      <p:boldItalic r:id="rId43"/>
    </p:embeddedFont>
    <p:embeddedFont>
      <p:font typeface="Play" pitchFamily="2" charset="0"/>
      <p:regular r:id="rId44"/>
      <p:bold r:id="rId45"/>
    </p:embeddedFont>
    <p:embeddedFont>
      <p:font typeface="Roboto" panose="02000000000000000000"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1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6B4B16-5C5E-A248-83B8-069B5AF4C548}" v="30" dt="2026-06-08T07:01:37.277"/>
  </p1510:revLst>
</p1510:revInfo>
</file>

<file path=ppt/tableStyles.xml><?xml version="1.0" encoding="utf-8"?>
<a:tblStyleLst xmlns:a="http://schemas.openxmlformats.org/drawingml/2006/main" def="{5973D75A-92D6-40BF-BCF4-29441B680379}">
  <a:tblStyle styleId="{5973D75A-92D6-40BF-BCF4-29441B68037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FA0F22B-29E8-474E-A09B-2286254150FC}"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73B02A6-C515-4EDC-8851-2E6CCCF6EC13}" styleName="Table_2">
    <a:wholeTbl>
      <a:tcTxStyle b="off" i="off">
        <a:font>
          <a:latin typeface="Aptos"/>
          <a:ea typeface="Aptos"/>
          <a:cs typeface="Aptos"/>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CBCBF7"/>
          </a:solidFill>
        </a:fill>
      </a:tcStyle>
    </a:wholeTbl>
    <a:band1H>
      <a:tcTxStyle/>
      <a:tcStyle>
        <a:tcBdr/>
      </a:tcStyle>
    </a:band1H>
    <a:band2H>
      <a:tcTxStyle b="off" i="off"/>
      <a:tcStyle>
        <a:tcBdr/>
        <a:fill>
          <a:solidFill>
            <a:srgbClr val="E7E7FB"/>
          </a:solidFill>
        </a:fill>
      </a:tcStyle>
    </a:band2H>
    <a:band1V>
      <a:tcTxStyle/>
      <a:tcStyle>
        <a:tcBdr/>
      </a:tcStyle>
    </a:band1V>
    <a:band2V>
      <a:tcTxStyle/>
      <a:tcStyle>
        <a:tcBdr/>
      </a:tcStyle>
    </a:band2V>
    <a:lastCol>
      <a:tcTxStyle/>
      <a:tcStyle>
        <a:tcBdr/>
      </a:tcStyle>
    </a:lastCol>
    <a:firstCol>
      <a:tcTxStyle b="on" i="off">
        <a:font>
          <a:latin typeface="Aptos Display Bold"/>
          <a:ea typeface="Aptos Display Bold"/>
          <a:cs typeface="Aptos Display Bold"/>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Col>
    <a:lastRow>
      <a:tcTxStyle b="on" i="off">
        <a:font>
          <a:latin typeface="Aptos Display Bold"/>
          <a:ea typeface="Aptos Display Bold"/>
          <a:cs typeface="Aptos Display Bold"/>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381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lastRow>
    <a:seCell>
      <a:tcTxStyle/>
      <a:tcStyle>
        <a:tcBdr/>
      </a:tcStyle>
    </a:seCell>
    <a:swCell>
      <a:tcTxStyle/>
      <a:tcStyle>
        <a:tcBdr/>
      </a:tcStyle>
    </a:swCell>
    <a:firstRow>
      <a:tcTxStyle b="on" i="off">
        <a:font>
          <a:latin typeface="Aptos Display Bold"/>
          <a:ea typeface="Aptos Display Bold"/>
          <a:cs typeface="Aptos Display Bold"/>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381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65"/>
    <p:restoredTop sz="96233"/>
  </p:normalViewPr>
  <p:slideViewPr>
    <p:cSldViewPr snapToGrid="0">
      <p:cViewPr varScale="1">
        <p:scale>
          <a:sx n="122" d="100"/>
          <a:sy n="122" d="100"/>
        </p:scale>
        <p:origin x="792" y="200"/>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o Avanzi" userId="726b60b5-caf2-4c88-a19e-629b1111c398" providerId="ADAL" clId="{9B23A614-4FE9-55AA-A7A1-75D2FCC7B6FE}"/>
    <pc:docChg chg="undo redo custSel addSld delSld modSld">
      <pc:chgData name="Roberto Avanzi" userId="726b60b5-caf2-4c88-a19e-629b1111c398" providerId="ADAL" clId="{9B23A614-4FE9-55AA-A7A1-75D2FCC7B6FE}" dt="2026-06-08T07:06:57.970" v="2124" actId="20577"/>
      <pc:docMkLst>
        <pc:docMk/>
      </pc:docMkLst>
      <pc:sldChg chg="del">
        <pc:chgData name="Roberto Avanzi" userId="726b60b5-caf2-4c88-a19e-629b1111c398" providerId="ADAL" clId="{9B23A614-4FE9-55AA-A7A1-75D2FCC7B6FE}" dt="2026-06-08T06:45:55.017" v="1487" actId="2696"/>
        <pc:sldMkLst>
          <pc:docMk/>
          <pc:sldMk cId="0" sldId="257"/>
        </pc:sldMkLst>
      </pc:sldChg>
      <pc:sldChg chg="del">
        <pc:chgData name="Roberto Avanzi" userId="726b60b5-caf2-4c88-a19e-629b1111c398" providerId="ADAL" clId="{9B23A614-4FE9-55AA-A7A1-75D2FCC7B6FE}" dt="2026-06-08T06:45:55.025" v="1488" actId="2696"/>
        <pc:sldMkLst>
          <pc:docMk/>
          <pc:sldMk cId="0" sldId="259"/>
        </pc:sldMkLst>
      </pc:sldChg>
      <pc:sldChg chg="modSp mod">
        <pc:chgData name="Roberto Avanzi" userId="726b60b5-caf2-4c88-a19e-629b1111c398" providerId="ADAL" clId="{9B23A614-4FE9-55AA-A7A1-75D2FCC7B6FE}" dt="2026-06-08T06:27:39.694" v="11" actId="1035"/>
        <pc:sldMkLst>
          <pc:docMk/>
          <pc:sldMk cId="0" sldId="262"/>
        </pc:sldMkLst>
        <pc:spChg chg="mod">
          <ac:chgData name="Roberto Avanzi" userId="726b60b5-caf2-4c88-a19e-629b1111c398" providerId="ADAL" clId="{9B23A614-4FE9-55AA-A7A1-75D2FCC7B6FE}" dt="2026-06-08T06:27:39.694" v="11" actId="1035"/>
          <ac:spMkLst>
            <pc:docMk/>
            <pc:sldMk cId="0" sldId="262"/>
            <ac:spMk id="75" creationId="{00000000-0000-0000-0000-000000000000}"/>
          </ac:spMkLst>
        </pc:spChg>
      </pc:sldChg>
      <pc:sldChg chg="modSp mod">
        <pc:chgData name="Roberto Avanzi" userId="726b60b5-caf2-4c88-a19e-629b1111c398" providerId="ADAL" clId="{9B23A614-4FE9-55AA-A7A1-75D2FCC7B6FE}" dt="2026-06-08T07:06:35.584" v="2106" actId="1036"/>
        <pc:sldMkLst>
          <pc:docMk/>
          <pc:sldMk cId="0" sldId="269"/>
        </pc:sldMkLst>
        <pc:spChg chg="mod">
          <ac:chgData name="Roberto Avanzi" userId="726b60b5-caf2-4c88-a19e-629b1111c398" providerId="ADAL" clId="{9B23A614-4FE9-55AA-A7A1-75D2FCC7B6FE}" dt="2026-06-08T07:06:35.584" v="2106" actId="1036"/>
          <ac:spMkLst>
            <pc:docMk/>
            <pc:sldMk cId="0" sldId="269"/>
            <ac:spMk id="115" creationId="{00000000-0000-0000-0000-000000000000}"/>
          </ac:spMkLst>
        </pc:spChg>
        <pc:spChg chg="mod">
          <ac:chgData name="Roberto Avanzi" userId="726b60b5-caf2-4c88-a19e-629b1111c398" providerId="ADAL" clId="{9B23A614-4FE9-55AA-A7A1-75D2FCC7B6FE}" dt="2026-06-08T06:38:13.197" v="983" actId="1036"/>
          <ac:spMkLst>
            <pc:docMk/>
            <pc:sldMk cId="0" sldId="269"/>
            <ac:spMk id="118" creationId="{00000000-0000-0000-0000-000000000000}"/>
          </ac:spMkLst>
        </pc:spChg>
        <pc:graphicFrameChg chg="mod modGraphic">
          <ac:chgData name="Roberto Avanzi" userId="726b60b5-caf2-4c88-a19e-629b1111c398" providerId="ADAL" clId="{9B23A614-4FE9-55AA-A7A1-75D2FCC7B6FE}" dt="2026-06-08T07:06:35.584" v="2106" actId="1036"/>
          <ac:graphicFrameMkLst>
            <pc:docMk/>
            <pc:sldMk cId="0" sldId="269"/>
            <ac:graphicFrameMk id="117" creationId="{00000000-0000-0000-0000-000000000000}"/>
          </ac:graphicFrameMkLst>
        </pc:graphicFrameChg>
      </pc:sldChg>
      <pc:sldChg chg="modSp mod">
        <pc:chgData name="Roberto Avanzi" userId="726b60b5-caf2-4c88-a19e-629b1111c398" providerId="ADAL" clId="{9B23A614-4FE9-55AA-A7A1-75D2FCC7B6FE}" dt="2026-06-08T06:38:45.211" v="1000" actId="115"/>
        <pc:sldMkLst>
          <pc:docMk/>
          <pc:sldMk cId="0" sldId="270"/>
        </pc:sldMkLst>
        <pc:spChg chg="mod">
          <ac:chgData name="Roberto Avanzi" userId="726b60b5-caf2-4c88-a19e-629b1111c398" providerId="ADAL" clId="{9B23A614-4FE9-55AA-A7A1-75D2FCC7B6FE}" dt="2026-06-08T06:38:45.211" v="1000" actId="115"/>
          <ac:spMkLst>
            <pc:docMk/>
            <pc:sldMk cId="0" sldId="270"/>
            <ac:spMk id="124" creationId="{00000000-0000-0000-0000-000000000000}"/>
          </ac:spMkLst>
        </pc:spChg>
      </pc:sldChg>
      <pc:sldChg chg="modSp mod modNotes">
        <pc:chgData name="Roberto Avanzi" userId="726b60b5-caf2-4c88-a19e-629b1111c398" providerId="ADAL" clId="{9B23A614-4FE9-55AA-A7A1-75D2FCC7B6FE}" dt="2026-06-08T06:39:41.663" v="1063" actId="20577"/>
        <pc:sldMkLst>
          <pc:docMk/>
          <pc:sldMk cId="0" sldId="274"/>
        </pc:sldMkLst>
        <pc:spChg chg="mod">
          <ac:chgData name="Roberto Avanzi" userId="726b60b5-caf2-4c88-a19e-629b1111c398" providerId="ADAL" clId="{9B23A614-4FE9-55AA-A7A1-75D2FCC7B6FE}" dt="2026-06-08T06:39:41.663" v="1063" actId="20577"/>
          <ac:spMkLst>
            <pc:docMk/>
            <pc:sldMk cId="0" sldId="274"/>
            <ac:spMk id="147" creationId="{00000000-0000-0000-0000-000000000000}"/>
          </ac:spMkLst>
        </pc:spChg>
      </pc:sldChg>
      <pc:sldChg chg="modSp mod">
        <pc:chgData name="Roberto Avanzi" userId="726b60b5-caf2-4c88-a19e-629b1111c398" providerId="ADAL" clId="{9B23A614-4FE9-55AA-A7A1-75D2FCC7B6FE}" dt="2026-06-08T06:40:50.491" v="1161" actId="108"/>
        <pc:sldMkLst>
          <pc:docMk/>
          <pc:sldMk cId="0" sldId="276"/>
        </pc:sldMkLst>
        <pc:spChg chg="mod">
          <ac:chgData name="Roberto Avanzi" userId="726b60b5-caf2-4c88-a19e-629b1111c398" providerId="ADAL" clId="{9B23A614-4FE9-55AA-A7A1-75D2FCC7B6FE}" dt="2026-06-08T06:40:50.491" v="1161" actId="108"/>
          <ac:spMkLst>
            <pc:docMk/>
            <pc:sldMk cId="0" sldId="276"/>
            <ac:spMk id="160" creationId="{00000000-0000-0000-0000-000000000000}"/>
          </ac:spMkLst>
        </pc:spChg>
      </pc:sldChg>
      <pc:sldChg chg="modSp mod">
        <pc:chgData name="Roberto Avanzi" userId="726b60b5-caf2-4c88-a19e-629b1111c398" providerId="ADAL" clId="{9B23A614-4FE9-55AA-A7A1-75D2FCC7B6FE}" dt="2026-06-08T06:41:08.879" v="1164" actId="27636"/>
        <pc:sldMkLst>
          <pc:docMk/>
          <pc:sldMk cId="0" sldId="278"/>
        </pc:sldMkLst>
        <pc:spChg chg="mod">
          <ac:chgData name="Roberto Avanzi" userId="726b60b5-caf2-4c88-a19e-629b1111c398" providerId="ADAL" clId="{9B23A614-4FE9-55AA-A7A1-75D2FCC7B6FE}" dt="2026-06-08T06:41:08.879" v="1164" actId="27636"/>
          <ac:spMkLst>
            <pc:docMk/>
            <pc:sldMk cId="0" sldId="278"/>
            <ac:spMk id="170" creationId="{00000000-0000-0000-0000-000000000000}"/>
          </ac:spMkLst>
        </pc:spChg>
      </pc:sldChg>
      <pc:sldChg chg="modSp del mod">
        <pc:chgData name="Roberto Avanzi" userId="726b60b5-caf2-4c88-a19e-629b1111c398" providerId="ADAL" clId="{9B23A614-4FE9-55AA-A7A1-75D2FCC7B6FE}" dt="2026-06-08T06:49:41.178" v="1553" actId="2696"/>
        <pc:sldMkLst>
          <pc:docMk/>
          <pc:sldMk cId="0" sldId="281"/>
        </pc:sldMkLst>
        <pc:graphicFrameChg chg="mod modGraphic">
          <ac:chgData name="Roberto Avanzi" userId="726b60b5-caf2-4c88-a19e-629b1111c398" providerId="ADAL" clId="{9B23A614-4FE9-55AA-A7A1-75D2FCC7B6FE}" dt="2026-06-08T06:49:30.616" v="1552" actId="20577"/>
          <ac:graphicFrameMkLst>
            <pc:docMk/>
            <pc:sldMk cId="0" sldId="281"/>
            <ac:graphicFrameMk id="188" creationId="{00000000-0000-0000-0000-000000000000}"/>
          </ac:graphicFrameMkLst>
        </pc:graphicFrameChg>
      </pc:sldChg>
      <pc:sldChg chg="modSp">
        <pc:chgData name="Roberto Avanzi" userId="726b60b5-caf2-4c88-a19e-629b1111c398" providerId="ADAL" clId="{9B23A614-4FE9-55AA-A7A1-75D2FCC7B6FE}" dt="2026-06-08T06:37:04.658" v="868"/>
        <pc:sldMkLst>
          <pc:docMk/>
          <pc:sldMk cId="0" sldId="286"/>
        </pc:sldMkLst>
        <pc:spChg chg="mod">
          <ac:chgData name="Roberto Avanzi" userId="726b60b5-caf2-4c88-a19e-629b1111c398" providerId="ADAL" clId="{9B23A614-4FE9-55AA-A7A1-75D2FCC7B6FE}" dt="2026-06-08T06:37:04.658" v="868"/>
          <ac:spMkLst>
            <pc:docMk/>
            <pc:sldMk cId="0" sldId="286"/>
            <ac:spMk id="218" creationId="{00000000-0000-0000-0000-000000000000}"/>
          </ac:spMkLst>
        </pc:spChg>
      </pc:sldChg>
      <pc:sldChg chg="modSp">
        <pc:chgData name="Roberto Avanzi" userId="726b60b5-caf2-4c88-a19e-629b1111c398" providerId="ADAL" clId="{9B23A614-4FE9-55AA-A7A1-75D2FCC7B6FE}" dt="2026-06-08T06:37:12.061" v="869"/>
        <pc:sldMkLst>
          <pc:docMk/>
          <pc:sldMk cId="0" sldId="299"/>
        </pc:sldMkLst>
        <pc:spChg chg="mod">
          <ac:chgData name="Roberto Avanzi" userId="726b60b5-caf2-4c88-a19e-629b1111c398" providerId="ADAL" clId="{9B23A614-4FE9-55AA-A7A1-75D2FCC7B6FE}" dt="2026-06-08T06:37:12.061" v="869"/>
          <ac:spMkLst>
            <pc:docMk/>
            <pc:sldMk cId="0" sldId="299"/>
            <ac:spMk id="297" creationId="{00000000-0000-0000-0000-000000000000}"/>
          </ac:spMkLst>
        </pc:spChg>
      </pc:sldChg>
      <pc:sldChg chg="modSp">
        <pc:chgData name="Roberto Avanzi" userId="726b60b5-caf2-4c88-a19e-629b1111c398" providerId="ADAL" clId="{9B23A614-4FE9-55AA-A7A1-75D2FCC7B6FE}" dt="2026-06-08T06:37:04.658" v="868"/>
        <pc:sldMkLst>
          <pc:docMk/>
          <pc:sldMk cId="0" sldId="300"/>
        </pc:sldMkLst>
        <pc:spChg chg="mod">
          <ac:chgData name="Roberto Avanzi" userId="726b60b5-caf2-4c88-a19e-629b1111c398" providerId="ADAL" clId="{9B23A614-4FE9-55AA-A7A1-75D2FCC7B6FE}" dt="2026-06-08T06:37:04.658" v="868"/>
          <ac:spMkLst>
            <pc:docMk/>
            <pc:sldMk cId="0" sldId="300"/>
            <ac:spMk id="304" creationId="{00000000-0000-0000-0000-000000000000}"/>
          </ac:spMkLst>
        </pc:spChg>
      </pc:sldChg>
      <pc:sldChg chg="modSp">
        <pc:chgData name="Roberto Avanzi" userId="726b60b5-caf2-4c88-a19e-629b1111c398" providerId="ADAL" clId="{9B23A614-4FE9-55AA-A7A1-75D2FCC7B6FE}" dt="2026-06-08T06:37:04.658" v="868"/>
        <pc:sldMkLst>
          <pc:docMk/>
          <pc:sldMk cId="0" sldId="301"/>
        </pc:sldMkLst>
        <pc:spChg chg="mod">
          <ac:chgData name="Roberto Avanzi" userId="726b60b5-caf2-4c88-a19e-629b1111c398" providerId="ADAL" clId="{9B23A614-4FE9-55AA-A7A1-75D2FCC7B6FE}" dt="2026-06-08T06:37:04.658" v="868"/>
          <ac:spMkLst>
            <pc:docMk/>
            <pc:sldMk cId="0" sldId="301"/>
            <ac:spMk id="310" creationId="{00000000-0000-0000-0000-000000000000}"/>
          </ac:spMkLst>
        </pc:spChg>
      </pc:sldChg>
      <pc:sldChg chg="modSp">
        <pc:chgData name="Roberto Avanzi" userId="726b60b5-caf2-4c88-a19e-629b1111c398" providerId="ADAL" clId="{9B23A614-4FE9-55AA-A7A1-75D2FCC7B6FE}" dt="2026-06-08T06:37:04.658" v="868"/>
        <pc:sldMkLst>
          <pc:docMk/>
          <pc:sldMk cId="0" sldId="302"/>
        </pc:sldMkLst>
        <pc:spChg chg="mod">
          <ac:chgData name="Roberto Avanzi" userId="726b60b5-caf2-4c88-a19e-629b1111c398" providerId="ADAL" clId="{9B23A614-4FE9-55AA-A7A1-75D2FCC7B6FE}" dt="2026-06-08T06:37:04.658" v="868"/>
          <ac:spMkLst>
            <pc:docMk/>
            <pc:sldMk cId="0" sldId="302"/>
            <ac:spMk id="316" creationId="{00000000-0000-0000-0000-000000000000}"/>
          </ac:spMkLst>
        </pc:spChg>
      </pc:sldChg>
      <pc:sldChg chg="modSp">
        <pc:chgData name="Roberto Avanzi" userId="726b60b5-caf2-4c88-a19e-629b1111c398" providerId="ADAL" clId="{9B23A614-4FE9-55AA-A7A1-75D2FCC7B6FE}" dt="2026-06-08T06:37:04.658" v="868"/>
        <pc:sldMkLst>
          <pc:docMk/>
          <pc:sldMk cId="0" sldId="304"/>
        </pc:sldMkLst>
        <pc:spChg chg="mod">
          <ac:chgData name="Roberto Avanzi" userId="726b60b5-caf2-4c88-a19e-629b1111c398" providerId="ADAL" clId="{9B23A614-4FE9-55AA-A7A1-75D2FCC7B6FE}" dt="2026-06-08T06:37:04.658" v="868"/>
          <ac:spMkLst>
            <pc:docMk/>
            <pc:sldMk cId="0" sldId="304"/>
            <ac:spMk id="331" creationId="{00000000-0000-0000-0000-000000000000}"/>
          </ac:spMkLst>
        </pc:spChg>
        <pc:spChg chg="mod">
          <ac:chgData name="Roberto Avanzi" userId="726b60b5-caf2-4c88-a19e-629b1111c398" providerId="ADAL" clId="{9B23A614-4FE9-55AA-A7A1-75D2FCC7B6FE}" dt="2026-06-08T06:37:04.658" v="868"/>
          <ac:spMkLst>
            <pc:docMk/>
            <pc:sldMk cId="0" sldId="304"/>
            <ac:spMk id="332" creationId="{00000000-0000-0000-0000-000000000000}"/>
          </ac:spMkLst>
        </pc:spChg>
      </pc:sldChg>
      <pc:sldChg chg="modSp">
        <pc:chgData name="Roberto Avanzi" userId="726b60b5-caf2-4c88-a19e-629b1111c398" providerId="ADAL" clId="{9B23A614-4FE9-55AA-A7A1-75D2FCC7B6FE}" dt="2026-06-08T06:37:04.658" v="868"/>
        <pc:sldMkLst>
          <pc:docMk/>
          <pc:sldMk cId="0" sldId="305"/>
        </pc:sldMkLst>
        <pc:spChg chg="mod">
          <ac:chgData name="Roberto Avanzi" userId="726b60b5-caf2-4c88-a19e-629b1111c398" providerId="ADAL" clId="{9B23A614-4FE9-55AA-A7A1-75D2FCC7B6FE}" dt="2026-06-08T06:37:04.658" v="868"/>
          <ac:spMkLst>
            <pc:docMk/>
            <pc:sldMk cId="0" sldId="305"/>
            <ac:spMk id="338" creationId="{00000000-0000-0000-0000-000000000000}"/>
          </ac:spMkLst>
        </pc:spChg>
        <pc:spChg chg="mod">
          <ac:chgData name="Roberto Avanzi" userId="726b60b5-caf2-4c88-a19e-629b1111c398" providerId="ADAL" clId="{9B23A614-4FE9-55AA-A7A1-75D2FCC7B6FE}" dt="2026-06-08T06:37:04.658" v="868"/>
          <ac:spMkLst>
            <pc:docMk/>
            <pc:sldMk cId="0" sldId="305"/>
            <ac:spMk id="339" creationId="{00000000-0000-0000-0000-000000000000}"/>
          </ac:spMkLst>
        </pc:spChg>
      </pc:sldChg>
      <pc:sldChg chg="modSp">
        <pc:chgData name="Roberto Avanzi" userId="726b60b5-caf2-4c88-a19e-629b1111c398" providerId="ADAL" clId="{9B23A614-4FE9-55AA-A7A1-75D2FCC7B6FE}" dt="2026-06-08T06:37:04.658" v="868"/>
        <pc:sldMkLst>
          <pc:docMk/>
          <pc:sldMk cId="0" sldId="306"/>
        </pc:sldMkLst>
        <pc:spChg chg="mod">
          <ac:chgData name="Roberto Avanzi" userId="726b60b5-caf2-4c88-a19e-629b1111c398" providerId="ADAL" clId="{9B23A614-4FE9-55AA-A7A1-75D2FCC7B6FE}" dt="2026-06-08T06:37:04.658" v="868"/>
          <ac:spMkLst>
            <pc:docMk/>
            <pc:sldMk cId="0" sldId="306"/>
            <ac:spMk id="345" creationId="{00000000-0000-0000-0000-000000000000}"/>
          </ac:spMkLst>
        </pc:spChg>
        <pc:spChg chg="mod">
          <ac:chgData name="Roberto Avanzi" userId="726b60b5-caf2-4c88-a19e-629b1111c398" providerId="ADAL" clId="{9B23A614-4FE9-55AA-A7A1-75D2FCC7B6FE}" dt="2026-06-08T06:37:04.658" v="868"/>
          <ac:spMkLst>
            <pc:docMk/>
            <pc:sldMk cId="0" sldId="306"/>
            <ac:spMk id="347" creationId="{00000000-0000-0000-0000-000000000000}"/>
          </ac:spMkLst>
        </pc:spChg>
      </pc:sldChg>
      <pc:sldChg chg="modSp modNotes">
        <pc:chgData name="Roberto Avanzi" userId="726b60b5-caf2-4c88-a19e-629b1111c398" providerId="ADAL" clId="{9B23A614-4FE9-55AA-A7A1-75D2FCC7B6FE}" dt="2026-06-08T06:37:04.658" v="868"/>
        <pc:sldMkLst>
          <pc:docMk/>
          <pc:sldMk cId="0" sldId="307"/>
        </pc:sldMkLst>
        <pc:spChg chg="mod">
          <ac:chgData name="Roberto Avanzi" userId="726b60b5-caf2-4c88-a19e-629b1111c398" providerId="ADAL" clId="{9B23A614-4FE9-55AA-A7A1-75D2FCC7B6FE}" dt="2026-06-08T06:37:04.658" v="868"/>
          <ac:spMkLst>
            <pc:docMk/>
            <pc:sldMk cId="0" sldId="307"/>
            <ac:spMk id="352" creationId="{00000000-0000-0000-0000-000000000000}"/>
          </ac:spMkLst>
        </pc:spChg>
        <pc:spChg chg="mod">
          <ac:chgData name="Roberto Avanzi" userId="726b60b5-caf2-4c88-a19e-629b1111c398" providerId="ADAL" clId="{9B23A614-4FE9-55AA-A7A1-75D2FCC7B6FE}" dt="2026-06-08T06:37:04.658" v="868"/>
          <ac:spMkLst>
            <pc:docMk/>
            <pc:sldMk cId="0" sldId="307"/>
            <ac:spMk id="354" creationId="{00000000-0000-0000-0000-000000000000}"/>
          </ac:spMkLst>
        </pc:spChg>
      </pc:sldChg>
      <pc:sldChg chg="modSp modNotes">
        <pc:chgData name="Roberto Avanzi" userId="726b60b5-caf2-4c88-a19e-629b1111c398" providerId="ADAL" clId="{9B23A614-4FE9-55AA-A7A1-75D2FCC7B6FE}" dt="2026-06-08T06:37:04.658" v="868"/>
        <pc:sldMkLst>
          <pc:docMk/>
          <pc:sldMk cId="0" sldId="308"/>
        </pc:sldMkLst>
        <pc:spChg chg="mod">
          <ac:chgData name="Roberto Avanzi" userId="726b60b5-caf2-4c88-a19e-629b1111c398" providerId="ADAL" clId="{9B23A614-4FE9-55AA-A7A1-75D2FCC7B6FE}" dt="2026-06-08T06:37:04.658" v="868"/>
          <ac:spMkLst>
            <pc:docMk/>
            <pc:sldMk cId="0" sldId="308"/>
            <ac:spMk id="359" creationId="{00000000-0000-0000-0000-000000000000}"/>
          </ac:spMkLst>
        </pc:spChg>
        <pc:spChg chg="mod">
          <ac:chgData name="Roberto Avanzi" userId="726b60b5-caf2-4c88-a19e-629b1111c398" providerId="ADAL" clId="{9B23A614-4FE9-55AA-A7A1-75D2FCC7B6FE}" dt="2026-06-08T06:37:04.658" v="868"/>
          <ac:spMkLst>
            <pc:docMk/>
            <pc:sldMk cId="0" sldId="308"/>
            <ac:spMk id="361" creationId="{00000000-0000-0000-0000-000000000000}"/>
          </ac:spMkLst>
        </pc:spChg>
      </pc:sldChg>
      <pc:sldChg chg="modSp">
        <pc:chgData name="Roberto Avanzi" userId="726b60b5-caf2-4c88-a19e-629b1111c398" providerId="ADAL" clId="{9B23A614-4FE9-55AA-A7A1-75D2FCC7B6FE}" dt="2026-06-08T06:37:04.658" v="868"/>
        <pc:sldMkLst>
          <pc:docMk/>
          <pc:sldMk cId="0" sldId="309"/>
        </pc:sldMkLst>
        <pc:spChg chg="mod">
          <ac:chgData name="Roberto Avanzi" userId="726b60b5-caf2-4c88-a19e-629b1111c398" providerId="ADAL" clId="{9B23A614-4FE9-55AA-A7A1-75D2FCC7B6FE}" dt="2026-06-08T06:37:04.658" v="868"/>
          <ac:spMkLst>
            <pc:docMk/>
            <pc:sldMk cId="0" sldId="309"/>
            <ac:spMk id="367" creationId="{00000000-0000-0000-0000-000000000000}"/>
          </ac:spMkLst>
        </pc:spChg>
      </pc:sldChg>
      <pc:sldChg chg="modSp">
        <pc:chgData name="Roberto Avanzi" userId="726b60b5-caf2-4c88-a19e-629b1111c398" providerId="ADAL" clId="{9B23A614-4FE9-55AA-A7A1-75D2FCC7B6FE}" dt="2026-06-08T06:33:29.898" v="709"/>
        <pc:sldMkLst>
          <pc:docMk/>
          <pc:sldMk cId="0" sldId="310"/>
        </pc:sldMkLst>
        <pc:spChg chg="mod">
          <ac:chgData name="Roberto Avanzi" userId="726b60b5-caf2-4c88-a19e-629b1111c398" providerId="ADAL" clId="{9B23A614-4FE9-55AA-A7A1-75D2FCC7B6FE}" dt="2026-06-08T06:33:29.898" v="709"/>
          <ac:spMkLst>
            <pc:docMk/>
            <pc:sldMk cId="0" sldId="310"/>
            <ac:spMk id="372" creationId="{00000000-0000-0000-0000-000000000000}"/>
          </ac:spMkLst>
        </pc:spChg>
      </pc:sldChg>
      <pc:sldChg chg="modSp mod">
        <pc:chgData name="Roberto Avanzi" userId="726b60b5-caf2-4c88-a19e-629b1111c398" providerId="ADAL" clId="{9B23A614-4FE9-55AA-A7A1-75D2FCC7B6FE}" dt="2026-06-08T06:34:40.174" v="742" actId="313"/>
        <pc:sldMkLst>
          <pc:docMk/>
          <pc:sldMk cId="0" sldId="313"/>
        </pc:sldMkLst>
        <pc:spChg chg="mod">
          <ac:chgData name="Roberto Avanzi" userId="726b60b5-caf2-4c88-a19e-629b1111c398" providerId="ADAL" clId="{9B23A614-4FE9-55AA-A7A1-75D2FCC7B6FE}" dt="2026-06-08T06:34:40.174" v="742" actId="313"/>
          <ac:spMkLst>
            <pc:docMk/>
            <pc:sldMk cId="0" sldId="313"/>
            <ac:spMk id="391" creationId="{00000000-0000-0000-0000-000000000000}"/>
          </ac:spMkLst>
        </pc:spChg>
      </pc:sldChg>
      <pc:sldChg chg="modSp mod">
        <pc:chgData name="Roberto Avanzi" userId="726b60b5-caf2-4c88-a19e-629b1111c398" providerId="ADAL" clId="{9B23A614-4FE9-55AA-A7A1-75D2FCC7B6FE}" dt="2026-06-08T06:34:30.516" v="725" actId="313"/>
        <pc:sldMkLst>
          <pc:docMk/>
          <pc:sldMk cId="0" sldId="314"/>
        </pc:sldMkLst>
        <pc:spChg chg="mod">
          <ac:chgData name="Roberto Avanzi" userId="726b60b5-caf2-4c88-a19e-629b1111c398" providerId="ADAL" clId="{9B23A614-4FE9-55AA-A7A1-75D2FCC7B6FE}" dt="2026-06-08T06:34:30.516" v="725" actId="313"/>
          <ac:spMkLst>
            <pc:docMk/>
            <pc:sldMk cId="0" sldId="314"/>
            <ac:spMk id="397" creationId="{00000000-0000-0000-0000-000000000000}"/>
          </ac:spMkLst>
        </pc:spChg>
      </pc:sldChg>
      <pc:sldChg chg="modSp mod">
        <pc:chgData name="Roberto Avanzi" userId="726b60b5-caf2-4c88-a19e-629b1111c398" providerId="ADAL" clId="{9B23A614-4FE9-55AA-A7A1-75D2FCC7B6FE}" dt="2026-06-08T06:34:31.377" v="726" actId="313"/>
        <pc:sldMkLst>
          <pc:docMk/>
          <pc:sldMk cId="0" sldId="315"/>
        </pc:sldMkLst>
        <pc:spChg chg="mod">
          <ac:chgData name="Roberto Avanzi" userId="726b60b5-caf2-4c88-a19e-629b1111c398" providerId="ADAL" clId="{9B23A614-4FE9-55AA-A7A1-75D2FCC7B6FE}" dt="2026-06-08T06:34:31.377" v="726" actId="313"/>
          <ac:spMkLst>
            <pc:docMk/>
            <pc:sldMk cId="0" sldId="315"/>
            <ac:spMk id="402" creationId="{00000000-0000-0000-0000-000000000000}"/>
          </ac:spMkLst>
        </pc:spChg>
      </pc:sldChg>
      <pc:sldChg chg="modSp mod">
        <pc:chgData name="Roberto Avanzi" userId="726b60b5-caf2-4c88-a19e-629b1111c398" providerId="ADAL" clId="{9B23A614-4FE9-55AA-A7A1-75D2FCC7B6FE}" dt="2026-06-08T06:34:32.041" v="727" actId="313"/>
        <pc:sldMkLst>
          <pc:docMk/>
          <pc:sldMk cId="0" sldId="316"/>
        </pc:sldMkLst>
        <pc:spChg chg="mod">
          <ac:chgData name="Roberto Avanzi" userId="726b60b5-caf2-4c88-a19e-629b1111c398" providerId="ADAL" clId="{9B23A614-4FE9-55AA-A7A1-75D2FCC7B6FE}" dt="2026-06-08T06:34:32.041" v="727" actId="313"/>
          <ac:spMkLst>
            <pc:docMk/>
            <pc:sldMk cId="0" sldId="316"/>
            <ac:spMk id="409" creationId="{00000000-0000-0000-0000-000000000000}"/>
          </ac:spMkLst>
        </pc:spChg>
      </pc:sldChg>
      <pc:sldChg chg="modSp mod">
        <pc:chgData name="Roberto Avanzi" userId="726b60b5-caf2-4c88-a19e-629b1111c398" providerId="ADAL" clId="{9B23A614-4FE9-55AA-A7A1-75D2FCC7B6FE}" dt="2026-06-08T06:34:34.799" v="731" actId="313"/>
        <pc:sldMkLst>
          <pc:docMk/>
          <pc:sldMk cId="0" sldId="317"/>
        </pc:sldMkLst>
        <pc:spChg chg="mod">
          <ac:chgData name="Roberto Avanzi" userId="726b60b5-caf2-4c88-a19e-629b1111c398" providerId="ADAL" clId="{9B23A614-4FE9-55AA-A7A1-75D2FCC7B6FE}" dt="2026-06-08T06:33:20.473" v="708"/>
          <ac:spMkLst>
            <pc:docMk/>
            <pc:sldMk cId="0" sldId="317"/>
            <ac:spMk id="419" creationId="{00000000-0000-0000-0000-000000000000}"/>
          </ac:spMkLst>
        </pc:spChg>
        <pc:graphicFrameChg chg="mod modGraphic">
          <ac:chgData name="Roberto Avanzi" userId="726b60b5-caf2-4c88-a19e-629b1111c398" providerId="ADAL" clId="{9B23A614-4FE9-55AA-A7A1-75D2FCC7B6FE}" dt="2026-06-08T06:34:34.799" v="731" actId="313"/>
          <ac:graphicFrameMkLst>
            <pc:docMk/>
            <pc:sldMk cId="0" sldId="317"/>
            <ac:graphicFrameMk id="417" creationId="{00000000-0000-0000-0000-000000000000}"/>
          </ac:graphicFrameMkLst>
        </pc:graphicFrameChg>
      </pc:sldChg>
      <pc:sldChg chg="modSp mod">
        <pc:chgData name="Roberto Avanzi" userId="726b60b5-caf2-4c88-a19e-629b1111c398" providerId="ADAL" clId="{9B23A614-4FE9-55AA-A7A1-75D2FCC7B6FE}" dt="2026-06-08T06:34:35.860" v="733" actId="313"/>
        <pc:sldMkLst>
          <pc:docMk/>
          <pc:sldMk cId="0" sldId="318"/>
        </pc:sldMkLst>
        <pc:spChg chg="mod">
          <ac:chgData name="Roberto Avanzi" userId="726b60b5-caf2-4c88-a19e-629b1111c398" providerId="ADAL" clId="{9B23A614-4FE9-55AA-A7A1-75D2FCC7B6FE}" dt="2026-06-08T06:34:35.860" v="733" actId="313"/>
          <ac:spMkLst>
            <pc:docMk/>
            <pc:sldMk cId="0" sldId="318"/>
            <ac:spMk id="424" creationId="{00000000-0000-0000-0000-000000000000}"/>
          </ac:spMkLst>
        </pc:spChg>
        <pc:spChg chg="mod">
          <ac:chgData name="Roberto Avanzi" userId="726b60b5-caf2-4c88-a19e-629b1111c398" providerId="ADAL" clId="{9B23A614-4FE9-55AA-A7A1-75D2FCC7B6FE}" dt="2026-06-08T06:33:29.898" v="709"/>
          <ac:spMkLst>
            <pc:docMk/>
            <pc:sldMk cId="0" sldId="318"/>
            <ac:spMk id="425" creationId="{00000000-0000-0000-0000-000000000000}"/>
          </ac:spMkLst>
        </pc:spChg>
      </pc:sldChg>
      <pc:sldChg chg="modSp mod">
        <pc:chgData name="Roberto Avanzi" userId="726b60b5-caf2-4c88-a19e-629b1111c398" providerId="ADAL" clId="{9B23A614-4FE9-55AA-A7A1-75D2FCC7B6FE}" dt="2026-06-08T06:34:37.257" v="736" actId="313"/>
        <pc:sldMkLst>
          <pc:docMk/>
          <pc:sldMk cId="0" sldId="319"/>
        </pc:sldMkLst>
        <pc:spChg chg="mod">
          <ac:chgData name="Roberto Avanzi" userId="726b60b5-caf2-4c88-a19e-629b1111c398" providerId="ADAL" clId="{9B23A614-4FE9-55AA-A7A1-75D2FCC7B6FE}" dt="2026-06-08T06:34:37.257" v="736" actId="313"/>
          <ac:spMkLst>
            <pc:docMk/>
            <pc:sldMk cId="0" sldId="319"/>
            <ac:spMk id="430" creationId="{00000000-0000-0000-0000-000000000000}"/>
          </ac:spMkLst>
        </pc:spChg>
      </pc:sldChg>
      <pc:sldChg chg="modSp mod">
        <pc:chgData name="Roberto Avanzi" userId="726b60b5-caf2-4c88-a19e-629b1111c398" providerId="ADAL" clId="{9B23A614-4FE9-55AA-A7A1-75D2FCC7B6FE}" dt="2026-06-08T06:34:12.636" v="721" actId="313"/>
        <pc:sldMkLst>
          <pc:docMk/>
          <pc:sldMk cId="0" sldId="332"/>
        </pc:sldMkLst>
        <pc:graphicFrameChg chg="mod modGraphic">
          <ac:chgData name="Roberto Avanzi" userId="726b60b5-caf2-4c88-a19e-629b1111c398" providerId="ADAL" clId="{9B23A614-4FE9-55AA-A7A1-75D2FCC7B6FE}" dt="2026-06-08T06:34:12.636" v="721" actId="313"/>
          <ac:graphicFrameMkLst>
            <pc:docMk/>
            <pc:sldMk cId="0" sldId="332"/>
            <ac:graphicFrameMk id="506" creationId="{00000000-0000-0000-0000-000000000000}"/>
          </ac:graphicFrameMkLst>
        </pc:graphicFrameChg>
      </pc:sldChg>
      <pc:sldChg chg="modSp">
        <pc:chgData name="Roberto Avanzi" userId="726b60b5-caf2-4c88-a19e-629b1111c398" providerId="ADAL" clId="{9B23A614-4FE9-55AA-A7A1-75D2FCC7B6FE}" dt="2026-06-08T06:37:04.658" v="868"/>
        <pc:sldMkLst>
          <pc:docMk/>
          <pc:sldMk cId="0" sldId="355"/>
        </pc:sldMkLst>
        <pc:spChg chg="mod">
          <ac:chgData name="Roberto Avanzi" userId="726b60b5-caf2-4c88-a19e-629b1111c398" providerId="ADAL" clId="{9B23A614-4FE9-55AA-A7A1-75D2FCC7B6FE}" dt="2026-06-08T06:37:04.658" v="868"/>
          <ac:spMkLst>
            <pc:docMk/>
            <pc:sldMk cId="0" sldId="355"/>
            <ac:spMk id="642" creationId="{00000000-0000-0000-0000-000000000000}"/>
          </ac:spMkLst>
        </pc:spChg>
      </pc:sldChg>
      <pc:sldChg chg="del">
        <pc:chgData name="Roberto Avanzi" userId="726b60b5-caf2-4c88-a19e-629b1111c398" providerId="ADAL" clId="{9B23A614-4FE9-55AA-A7A1-75D2FCC7B6FE}" dt="2026-06-08T06:49:41.191" v="1554" actId="2696"/>
        <pc:sldMkLst>
          <pc:docMk/>
          <pc:sldMk cId="0" sldId="371"/>
        </pc:sldMkLst>
      </pc:sldChg>
      <pc:sldChg chg="modSp">
        <pc:chgData name="Roberto Avanzi" userId="726b60b5-caf2-4c88-a19e-629b1111c398" providerId="ADAL" clId="{9B23A614-4FE9-55AA-A7A1-75D2FCC7B6FE}" dt="2026-06-08T06:27:09.904" v="6" actId="20577"/>
        <pc:sldMkLst>
          <pc:docMk/>
          <pc:sldMk cId="0" sldId="373"/>
        </pc:sldMkLst>
        <pc:spChg chg="mod">
          <ac:chgData name="Roberto Avanzi" userId="726b60b5-caf2-4c88-a19e-629b1111c398" providerId="ADAL" clId="{9B23A614-4FE9-55AA-A7A1-75D2FCC7B6FE}" dt="2026-06-08T06:27:09.904" v="6" actId="20577"/>
          <ac:spMkLst>
            <pc:docMk/>
            <pc:sldMk cId="0" sldId="373"/>
            <ac:spMk id="63" creationId="{00000000-0000-0000-0000-000000000000}"/>
          </ac:spMkLst>
        </pc:spChg>
      </pc:sldChg>
      <pc:sldChg chg="modSp">
        <pc:chgData name="Roberto Avanzi" userId="726b60b5-caf2-4c88-a19e-629b1111c398" providerId="ADAL" clId="{9B23A614-4FE9-55AA-A7A1-75D2FCC7B6FE}" dt="2026-06-08T06:33:29.898" v="709"/>
        <pc:sldMkLst>
          <pc:docMk/>
          <pc:sldMk cId="2772694996" sldId="376"/>
        </pc:sldMkLst>
        <pc:graphicFrameChg chg="mod">
          <ac:chgData name="Roberto Avanzi" userId="726b60b5-caf2-4c88-a19e-629b1111c398" providerId="ADAL" clId="{9B23A614-4FE9-55AA-A7A1-75D2FCC7B6FE}" dt="2026-06-08T06:33:29.898" v="709"/>
          <ac:graphicFrameMkLst>
            <pc:docMk/>
            <pc:sldMk cId="2772694996" sldId="376"/>
            <ac:graphicFrameMk id="188" creationId="{F60B0316-4531-70ED-BD33-B685ED46023E}"/>
          </ac:graphicFrameMkLst>
        </pc:graphicFrameChg>
      </pc:sldChg>
      <pc:sldChg chg="modSp mod">
        <pc:chgData name="Roberto Avanzi" userId="726b60b5-caf2-4c88-a19e-629b1111c398" providerId="ADAL" clId="{9B23A614-4FE9-55AA-A7A1-75D2FCC7B6FE}" dt="2026-06-08T06:43:03.505" v="1425" actId="114"/>
        <pc:sldMkLst>
          <pc:docMk/>
          <pc:sldMk cId="753462865" sldId="421"/>
        </pc:sldMkLst>
        <pc:spChg chg="mod">
          <ac:chgData name="Roberto Avanzi" userId="726b60b5-caf2-4c88-a19e-629b1111c398" providerId="ADAL" clId="{9B23A614-4FE9-55AA-A7A1-75D2FCC7B6FE}" dt="2026-06-08T06:43:03.505" v="1425" actId="114"/>
          <ac:spMkLst>
            <pc:docMk/>
            <pc:sldMk cId="753462865" sldId="421"/>
            <ac:spMk id="3" creationId="{4275F071-FD27-259F-4CC8-68AF1BFAB3ED}"/>
          </ac:spMkLst>
        </pc:spChg>
      </pc:sldChg>
      <pc:sldChg chg="modSp mod">
        <pc:chgData name="Roberto Avanzi" userId="726b60b5-caf2-4c88-a19e-629b1111c398" providerId="ADAL" clId="{9B23A614-4FE9-55AA-A7A1-75D2FCC7B6FE}" dt="2026-06-08T06:34:39.332" v="740" actId="313"/>
        <pc:sldMkLst>
          <pc:docMk/>
          <pc:sldMk cId="2410810175" sldId="424"/>
        </pc:sldMkLst>
        <pc:spChg chg="mod">
          <ac:chgData name="Roberto Avanzi" userId="726b60b5-caf2-4c88-a19e-629b1111c398" providerId="ADAL" clId="{9B23A614-4FE9-55AA-A7A1-75D2FCC7B6FE}" dt="2026-06-08T06:34:39.332" v="740" actId="313"/>
          <ac:spMkLst>
            <pc:docMk/>
            <pc:sldMk cId="2410810175" sldId="424"/>
            <ac:spMk id="430" creationId="{B5EE93EF-7E70-8E5A-3314-5475B8611D61}"/>
          </ac:spMkLst>
        </pc:spChg>
      </pc:sldChg>
      <pc:sldChg chg="modSp mod">
        <pc:chgData name="Roberto Avanzi" userId="726b60b5-caf2-4c88-a19e-629b1111c398" providerId="ADAL" clId="{9B23A614-4FE9-55AA-A7A1-75D2FCC7B6FE}" dt="2026-06-08T06:34:39.965" v="741" actId="313"/>
        <pc:sldMkLst>
          <pc:docMk/>
          <pc:sldMk cId="956452172" sldId="425"/>
        </pc:sldMkLst>
        <pc:spChg chg="mod">
          <ac:chgData name="Roberto Avanzi" userId="726b60b5-caf2-4c88-a19e-629b1111c398" providerId="ADAL" clId="{9B23A614-4FE9-55AA-A7A1-75D2FCC7B6FE}" dt="2026-06-08T06:34:39.965" v="741" actId="313"/>
          <ac:spMkLst>
            <pc:docMk/>
            <pc:sldMk cId="956452172" sldId="425"/>
            <ac:spMk id="430" creationId="{E3F50226-D14E-9566-ABAC-0DA797D5E5DF}"/>
          </ac:spMkLst>
        </pc:spChg>
      </pc:sldChg>
      <pc:sldChg chg="modSp mod modShow">
        <pc:chgData name="Roberto Avanzi" userId="726b60b5-caf2-4c88-a19e-629b1111c398" providerId="ADAL" clId="{9B23A614-4FE9-55AA-A7A1-75D2FCC7B6FE}" dt="2026-06-08T07:06:57.970" v="2124" actId="20577"/>
        <pc:sldMkLst>
          <pc:docMk/>
          <pc:sldMk cId="2551390367" sldId="426"/>
        </pc:sldMkLst>
        <pc:spChg chg="mod">
          <ac:chgData name="Roberto Avanzi" userId="726b60b5-caf2-4c88-a19e-629b1111c398" providerId="ADAL" clId="{9B23A614-4FE9-55AA-A7A1-75D2FCC7B6FE}" dt="2026-06-08T07:06:57.970" v="2124" actId="20577"/>
          <ac:spMkLst>
            <pc:docMk/>
            <pc:sldMk cId="2551390367" sldId="426"/>
            <ac:spMk id="3" creationId="{C32E9BD3-20DE-07B1-8BE2-F95F62238C94}"/>
          </ac:spMkLst>
        </pc:spChg>
      </pc:sldChg>
      <pc:sldChg chg="modSp mod">
        <pc:chgData name="Roberto Avanzi" userId="726b60b5-caf2-4c88-a19e-629b1111c398" providerId="ADAL" clId="{9B23A614-4FE9-55AA-A7A1-75D2FCC7B6FE}" dt="2026-06-08T06:45:29.774" v="1486" actId="20577"/>
        <pc:sldMkLst>
          <pc:docMk/>
          <pc:sldMk cId="324260738" sldId="427"/>
        </pc:sldMkLst>
        <pc:spChg chg="mod">
          <ac:chgData name="Roberto Avanzi" userId="726b60b5-caf2-4c88-a19e-629b1111c398" providerId="ADAL" clId="{9B23A614-4FE9-55AA-A7A1-75D2FCC7B6FE}" dt="2026-06-08T06:45:29.774" v="1486" actId="20577"/>
          <ac:spMkLst>
            <pc:docMk/>
            <pc:sldMk cId="324260738" sldId="427"/>
            <ac:spMk id="3" creationId="{7782A0C4-8798-2309-2140-1DCCFBA8A53C}"/>
          </ac:spMkLst>
        </pc:spChg>
      </pc:sldChg>
      <pc:sldChg chg="modSp new mod">
        <pc:chgData name="Roberto Avanzi" userId="726b60b5-caf2-4c88-a19e-629b1111c398" providerId="ADAL" clId="{9B23A614-4FE9-55AA-A7A1-75D2FCC7B6FE}" dt="2026-06-08T06:31:27.946" v="665" actId="20577"/>
        <pc:sldMkLst>
          <pc:docMk/>
          <pc:sldMk cId="3071656391" sldId="428"/>
        </pc:sldMkLst>
        <pc:spChg chg="mod">
          <ac:chgData name="Roberto Avanzi" userId="726b60b5-caf2-4c88-a19e-629b1111c398" providerId="ADAL" clId="{9B23A614-4FE9-55AA-A7A1-75D2FCC7B6FE}" dt="2026-06-08T06:28:17.311" v="60" actId="20577"/>
          <ac:spMkLst>
            <pc:docMk/>
            <pc:sldMk cId="3071656391" sldId="428"/>
            <ac:spMk id="2" creationId="{15E1B05E-0804-C43C-7E81-E98BA57CFAD5}"/>
          </ac:spMkLst>
        </pc:spChg>
        <pc:spChg chg="mod">
          <ac:chgData name="Roberto Avanzi" userId="726b60b5-caf2-4c88-a19e-629b1111c398" providerId="ADAL" clId="{9B23A614-4FE9-55AA-A7A1-75D2FCC7B6FE}" dt="2026-06-08T06:31:27.946" v="665" actId="20577"/>
          <ac:spMkLst>
            <pc:docMk/>
            <pc:sldMk cId="3071656391" sldId="428"/>
            <ac:spMk id="3" creationId="{1B6F5957-9D8B-DA57-6482-748C4D91F3BB}"/>
          </ac:spMkLst>
        </pc:spChg>
      </pc:sldChg>
      <pc:sldChg chg="add">
        <pc:chgData name="Roberto Avanzi" userId="726b60b5-caf2-4c88-a19e-629b1111c398" providerId="ADAL" clId="{9B23A614-4FE9-55AA-A7A1-75D2FCC7B6FE}" dt="2026-06-08T06:43:48.024" v="1426"/>
        <pc:sldMkLst>
          <pc:docMk/>
          <pc:sldMk cId="75289936" sldId="429"/>
        </pc:sldMkLst>
      </pc:sldChg>
      <pc:sldChg chg="modSp new mod">
        <pc:chgData name="Roberto Avanzi" userId="726b60b5-caf2-4c88-a19e-629b1111c398" providerId="ADAL" clId="{9B23A614-4FE9-55AA-A7A1-75D2FCC7B6FE}" dt="2026-06-08T06:59:49.843" v="1907" actId="113"/>
        <pc:sldMkLst>
          <pc:docMk/>
          <pc:sldMk cId="477096560" sldId="430"/>
        </pc:sldMkLst>
        <pc:spChg chg="mod">
          <ac:chgData name="Roberto Avanzi" userId="726b60b5-caf2-4c88-a19e-629b1111c398" providerId="ADAL" clId="{9B23A614-4FE9-55AA-A7A1-75D2FCC7B6FE}" dt="2026-06-08T06:56:48.727" v="1783" actId="20577"/>
          <ac:spMkLst>
            <pc:docMk/>
            <pc:sldMk cId="477096560" sldId="430"/>
            <ac:spMk id="2" creationId="{7D0C3E2A-54D4-18C9-9F4D-B95419FB8D4E}"/>
          </ac:spMkLst>
        </pc:spChg>
        <pc:spChg chg="mod">
          <ac:chgData name="Roberto Avanzi" userId="726b60b5-caf2-4c88-a19e-629b1111c398" providerId="ADAL" clId="{9B23A614-4FE9-55AA-A7A1-75D2FCC7B6FE}" dt="2026-06-08T06:59:49.843" v="1907" actId="113"/>
          <ac:spMkLst>
            <pc:docMk/>
            <pc:sldMk cId="477096560" sldId="430"/>
            <ac:spMk id="3" creationId="{9858E8F3-5EA3-3629-E2BC-F969B1CDD7DF}"/>
          </ac:spMkLst>
        </pc:spChg>
      </pc:sldChg>
      <pc:sldChg chg="new del">
        <pc:chgData name="Roberto Avanzi" userId="726b60b5-caf2-4c88-a19e-629b1111c398" providerId="ADAL" clId="{9B23A614-4FE9-55AA-A7A1-75D2FCC7B6FE}" dt="2026-06-08T06:48:41.100" v="1490" actId="680"/>
        <pc:sldMkLst>
          <pc:docMk/>
          <pc:sldMk cId="1573461853" sldId="430"/>
        </pc:sldMkLst>
      </pc:sldChg>
      <pc:sldChg chg="modSp new mod">
        <pc:chgData name="Roberto Avanzi" userId="726b60b5-caf2-4c88-a19e-629b1111c398" providerId="ADAL" clId="{9B23A614-4FE9-55AA-A7A1-75D2FCC7B6FE}" dt="2026-06-08T07:01:15.001" v="1931" actId="20577"/>
        <pc:sldMkLst>
          <pc:docMk/>
          <pc:sldMk cId="3102756772" sldId="431"/>
        </pc:sldMkLst>
        <pc:spChg chg="mod">
          <ac:chgData name="Roberto Avanzi" userId="726b60b5-caf2-4c88-a19e-629b1111c398" providerId="ADAL" clId="{9B23A614-4FE9-55AA-A7A1-75D2FCC7B6FE}" dt="2026-06-08T07:00:40.195" v="1925" actId="20577"/>
          <ac:spMkLst>
            <pc:docMk/>
            <pc:sldMk cId="3102756772" sldId="431"/>
            <ac:spMk id="2" creationId="{00F145B2-EBFD-A3CE-5A31-7F58EEFB4FD5}"/>
          </ac:spMkLst>
        </pc:spChg>
        <pc:spChg chg="mod">
          <ac:chgData name="Roberto Avanzi" userId="726b60b5-caf2-4c88-a19e-629b1111c398" providerId="ADAL" clId="{9B23A614-4FE9-55AA-A7A1-75D2FCC7B6FE}" dt="2026-06-08T07:01:15.001" v="1931" actId="20577"/>
          <ac:spMkLst>
            <pc:docMk/>
            <pc:sldMk cId="3102756772" sldId="431"/>
            <ac:spMk id="3" creationId="{64D25345-D72A-3B54-7D01-659A97D6B381}"/>
          </ac:spMkLst>
        </pc:spChg>
      </pc:sldChg>
      <pc:sldChg chg="modSp new mod">
        <pc:chgData name="Roberto Avanzi" userId="726b60b5-caf2-4c88-a19e-629b1111c398" providerId="ADAL" clId="{9B23A614-4FE9-55AA-A7A1-75D2FCC7B6FE}" dt="2026-06-08T07:04:21.318" v="2071" actId="1076"/>
        <pc:sldMkLst>
          <pc:docMk/>
          <pc:sldMk cId="574171506" sldId="432"/>
        </pc:sldMkLst>
        <pc:spChg chg="mod">
          <ac:chgData name="Roberto Avanzi" userId="726b60b5-caf2-4c88-a19e-629b1111c398" providerId="ADAL" clId="{9B23A614-4FE9-55AA-A7A1-75D2FCC7B6FE}" dt="2026-06-08T07:01:23.114" v="1951" actId="20577"/>
          <ac:spMkLst>
            <pc:docMk/>
            <pc:sldMk cId="574171506" sldId="432"/>
            <ac:spMk id="2" creationId="{F05A32D5-954A-07FA-BB4F-2A730C90804C}"/>
          </ac:spMkLst>
        </pc:spChg>
        <pc:spChg chg="mod">
          <ac:chgData name="Roberto Avanzi" userId="726b60b5-caf2-4c88-a19e-629b1111c398" providerId="ADAL" clId="{9B23A614-4FE9-55AA-A7A1-75D2FCC7B6FE}" dt="2026-06-08T07:04:21.318" v="2071" actId="1076"/>
          <ac:spMkLst>
            <pc:docMk/>
            <pc:sldMk cId="574171506" sldId="432"/>
            <ac:spMk id="3" creationId="{55FDCD4F-83EE-0002-55D0-D92C5C491873}"/>
          </ac:spMkLst>
        </pc:spChg>
      </pc:sldChg>
      <pc:sldChg chg="modSp new mod">
        <pc:chgData name="Roberto Avanzi" userId="726b60b5-caf2-4c88-a19e-629b1111c398" providerId="ADAL" clId="{9B23A614-4FE9-55AA-A7A1-75D2FCC7B6FE}" dt="2026-06-08T07:04:57.478" v="2089" actId="20577"/>
        <pc:sldMkLst>
          <pc:docMk/>
          <pc:sldMk cId="475468268" sldId="433"/>
        </pc:sldMkLst>
        <pc:spChg chg="mod">
          <ac:chgData name="Roberto Avanzi" userId="726b60b5-caf2-4c88-a19e-629b1111c398" providerId="ADAL" clId="{9B23A614-4FE9-55AA-A7A1-75D2FCC7B6FE}" dt="2026-06-08T07:04:30.580" v="2084" actId="20577"/>
          <ac:spMkLst>
            <pc:docMk/>
            <pc:sldMk cId="475468268" sldId="433"/>
            <ac:spMk id="2" creationId="{3B6049A1-45E9-21D9-EB50-55CF1B0802EF}"/>
          </ac:spMkLst>
        </pc:spChg>
        <pc:spChg chg="mod">
          <ac:chgData name="Roberto Avanzi" userId="726b60b5-caf2-4c88-a19e-629b1111c398" providerId="ADAL" clId="{9B23A614-4FE9-55AA-A7A1-75D2FCC7B6FE}" dt="2026-06-08T07:04:57.478" v="2089" actId="20577"/>
          <ac:spMkLst>
            <pc:docMk/>
            <pc:sldMk cId="475468268" sldId="433"/>
            <ac:spMk id="3" creationId="{315B6AE2-F5A6-32DD-8F45-8A4DE8B820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rgbClr val="0E2C3A"/>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rgbClr val="0E2C3A"/>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rgbClr val="0E2C3A"/>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rgbClr val="0E2C3A"/>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rgbClr val="0E2C3A"/>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rgbClr val="0E2C3A"/>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rgbClr val="0E2C3A"/>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rgbClr val="0E2C3A"/>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rgbClr val="0E2C3A"/>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 name="Google Shape;3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2537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g3b5d7ac891b_8_7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 name="Google Shape;50;g3b5d7ac891b_8_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b61a6a9d7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b61a6a9d75_0_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Protected by the HW =  in internal memory, not accessible to SW.</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 name="Google Shape;6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afb9c012ab_8_5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More exotic applications such as Page-fault-driven page-based memory encryption in SW (</a:t>
            </a:r>
            <a:r>
              <a:rPr lang="en-US" dirty="0" err="1"/>
              <a:t>SoftME</a:t>
            </a:r>
            <a:r>
              <a:rPr lang="en-US" dirty="0"/>
              <a:t>, </a:t>
            </a:r>
            <a:r>
              <a:rPr lang="en-US" dirty="0" err="1"/>
              <a:t>MemShield</a:t>
            </a:r>
            <a:r>
              <a:rPr lang="en-US" dirty="0"/>
              <a:t>, …) can also be accelerated by this proposal.</a:t>
            </a:r>
            <a:endParaRPr dirty="0"/>
          </a:p>
          <a:p>
            <a:pPr marL="0" lvl="0" indent="0" algn="l" rtl="0">
              <a:spcBef>
                <a:spcPts val="0"/>
              </a:spcBef>
              <a:spcAft>
                <a:spcPts val="0"/>
              </a:spcAft>
              <a:buNone/>
            </a:pPr>
            <a:endParaRPr dirty="0"/>
          </a:p>
          <a:p>
            <a:pPr marL="0" lvl="0" indent="0" algn="l" rtl="0">
              <a:lnSpc>
                <a:spcPct val="115000"/>
              </a:lnSpc>
              <a:spcBef>
                <a:spcPts val="0"/>
              </a:spcBef>
              <a:spcAft>
                <a:spcPts val="600"/>
              </a:spcAft>
              <a:buClr>
                <a:srgbClr val="000000"/>
              </a:buClr>
              <a:buSzPts val="1018"/>
              <a:buFont typeface="Arial"/>
              <a:buNone/>
            </a:pPr>
            <a:r>
              <a:rPr lang="en-US" sz="1935" dirty="0">
                <a:solidFill>
                  <a:schemeClr val="accent2"/>
                </a:solidFill>
              </a:rPr>
              <a:t>(Nice to have: small and portable code base (reduce SW vulns), unified interface to key management.)</a:t>
            </a:r>
            <a:endParaRPr dirty="0"/>
          </a:p>
        </p:txBody>
      </p:sp>
      <p:sp>
        <p:nvSpPr>
          <p:cNvPr id="72" name="Google Shape;72;g3afb9c012ab_8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b5d7ac891b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b5d7ac891b_0_1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 such as AES-GCM-SIV (and future accordions), encryption and authentication keys, </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67494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afb9c012ab_8_1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g3afb9c012ab_8_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b5d7ac891b_8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b5d7ac891b_8_7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Protected by the HW =  in internal memory, not accessible to SW.</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a0e8dd7751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a0e8dd7751_0_1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lnSpc>
                <a:spcPct val="108000"/>
              </a:lnSpc>
              <a:spcBef>
                <a:spcPts val="0"/>
              </a:spcBef>
              <a:spcAft>
                <a:spcPts val="0"/>
              </a:spcAft>
              <a:buNone/>
            </a:pPr>
            <a:br>
              <a:rPr lang="en-US" sz="800" dirty="0">
                <a:solidFill>
                  <a:schemeClr val="accent2"/>
                </a:solidFill>
              </a:rPr>
            </a:br>
            <a:r>
              <a:rPr lang="en-US" sz="1500" dirty="0">
                <a:solidFill>
                  <a:schemeClr val="accent2"/>
                </a:solidFill>
              </a:rPr>
              <a:t>Dropbox: Once something is in, it is unretrievable by those that put it in, and only available to authorities. The ACE unit is the authority here.</a:t>
            </a:r>
            <a:endParaRPr sz="1500" dirty="0">
              <a:solidFill>
                <a:schemeClr val="accent2"/>
              </a:solidFill>
            </a:endParaRPr>
          </a:p>
          <a:p>
            <a:pPr marL="0" lvl="0" indent="0" algn="l" rtl="0">
              <a:lnSpc>
                <a:spcPct val="115000"/>
              </a:lnSpc>
              <a:spcBef>
                <a:spcPts val="400"/>
              </a:spcBef>
              <a:spcAft>
                <a:spcPts val="0"/>
              </a:spcAft>
              <a:buNone/>
            </a:pPr>
            <a:r>
              <a:rPr lang="en-US" sz="1700" dirty="0">
                <a:solidFill>
                  <a:schemeClr val="accent2"/>
                </a:solidFill>
              </a:rPr>
              <a:t>Optional mutual isolation of keys between environments</a:t>
            </a:r>
            <a:endParaRPr sz="1700" dirty="0">
              <a:solidFill>
                <a:schemeClr val="accent2"/>
              </a:solidFill>
            </a:endParaRPr>
          </a:p>
          <a:p>
            <a:pPr marL="0" lvl="0" indent="0" algn="l" rtl="0">
              <a:lnSpc>
                <a:spcPct val="115000"/>
              </a:lnSpc>
              <a:spcBef>
                <a:spcPts val="0"/>
              </a:spcBef>
              <a:spcAft>
                <a:spcPts val="0"/>
              </a:spcAft>
              <a:buNone/>
            </a:pPr>
            <a:r>
              <a:rPr lang="en-US" sz="1700" dirty="0">
                <a:solidFill>
                  <a:schemeClr val="accent2"/>
                </a:solidFill>
              </a:rPr>
              <a:t>⇒ CSK configurable (by Monitor/Machine).</a:t>
            </a:r>
            <a:endParaRPr sz="1700" dirty="0">
              <a:solidFill>
                <a:schemeClr val="accent2"/>
              </a:solidFill>
            </a:endParaRPr>
          </a:p>
          <a:p>
            <a:pPr marL="0" lvl="0" indent="0" algn="l" rtl="0">
              <a:lnSpc>
                <a:spcPct val="115000"/>
              </a:lnSpc>
              <a:spcBef>
                <a:spcPts val="0"/>
              </a:spcBef>
              <a:spcAft>
                <a:spcPts val="0"/>
              </a:spcAft>
              <a:buNone/>
            </a:pPr>
            <a:r>
              <a:rPr lang="en-US" sz="1700" dirty="0">
                <a:solidFill>
                  <a:schemeClr val="accent2"/>
                </a:solidFill>
              </a:rPr>
              <a:t>This is also necessary to support VM migration to other devices.</a:t>
            </a:r>
            <a:endParaRPr sz="1700" dirty="0">
              <a:solidFill>
                <a:schemeClr val="accent2"/>
              </a:solidFill>
            </a:endParaRPr>
          </a:p>
          <a:p>
            <a:pPr marL="0" lvl="0" indent="0" algn="l" rtl="0">
              <a:lnSpc>
                <a:spcPct val="115000"/>
              </a:lnSpc>
              <a:spcBef>
                <a:spcPts val="0"/>
              </a:spcBef>
              <a:spcAft>
                <a:spcPts val="0"/>
              </a:spcAft>
              <a:buNone/>
            </a:pPr>
            <a:endParaRPr sz="1700" dirty="0">
              <a:solidFill>
                <a:schemeClr val="accent2"/>
              </a:solidFill>
            </a:endParaRPr>
          </a:p>
          <a:p>
            <a:pPr marL="0" lvl="0" indent="0" algn="l" rtl="0">
              <a:lnSpc>
                <a:spcPct val="108000"/>
              </a:lnSpc>
              <a:spcBef>
                <a:spcPts val="0"/>
              </a:spcBef>
              <a:spcAft>
                <a:spcPts val="0"/>
              </a:spcAft>
              <a:buNone/>
            </a:pPr>
            <a:endParaRPr sz="1700" dirty="0">
              <a:solidFill>
                <a:schemeClr val="accent2"/>
              </a:solidFill>
            </a:endParaRPr>
          </a:p>
          <a:p>
            <a:pPr marL="0" lvl="0" indent="0" algn="l" rtl="0">
              <a:lnSpc>
                <a:spcPct val="108000"/>
              </a:lnSpc>
              <a:spcBef>
                <a:spcPts val="400"/>
              </a:spcBef>
              <a:spcAft>
                <a:spcPts val="0"/>
              </a:spcAft>
              <a:buNone/>
            </a:pPr>
            <a:endParaRPr sz="1700" dirty="0">
              <a:solidFill>
                <a:schemeClr val="accent2"/>
              </a:solidFill>
            </a:endParaRPr>
          </a:p>
          <a:p>
            <a:pPr marL="0" lvl="0" indent="0" algn="l" rtl="0">
              <a:spcBef>
                <a:spcPts val="40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F7A6A3F6-554A-2598-EAE9-DF18B5A3F7B3}"/>
            </a:ext>
          </a:extLst>
        </p:cNvPr>
        <p:cNvGrpSpPr/>
        <p:nvPr/>
      </p:nvGrpSpPr>
      <p:grpSpPr>
        <a:xfrm>
          <a:off x="0" y="0"/>
          <a:ext cx="0" cy="0"/>
          <a:chOff x="0" y="0"/>
          <a:chExt cx="0" cy="0"/>
        </a:xfrm>
      </p:grpSpPr>
      <p:sp>
        <p:nvSpPr>
          <p:cNvPr id="120" name="Google Shape;120;g3b66e35318b_1_6:notes">
            <a:extLst>
              <a:ext uri="{FF2B5EF4-FFF2-40B4-BE49-F238E27FC236}">
                <a16:creationId xmlns:a16="http://schemas.microsoft.com/office/drawing/2014/main" id="{C33D337A-A8DF-3237-66C1-BFA446C97F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b66e35318b_1_6:notes">
            <a:extLst>
              <a:ext uri="{FF2B5EF4-FFF2-40B4-BE49-F238E27FC236}">
                <a16:creationId xmlns:a16="http://schemas.microsoft.com/office/drawing/2014/main" id="{8574AC67-4BAA-BE88-5F42-D59C13C3D754}"/>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38415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18FB3-677C-8D2D-634F-5E3E3FF6CD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CA1A4-70D7-A37F-090D-EFF3FB29AE8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D547C03-8DEF-4202-D9E4-EAC80DE4224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999219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a06317898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a06317898d_0_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 </a:t>
            </a:r>
            <a:r>
              <a:rPr lang="en-US" i="1" dirty="0"/>
              <a:t>Alternatives can be discussed</a:t>
            </a:r>
            <a:r>
              <a:rPr lang="en-US" dirty="0"/>
              <a:t>: By using one bit in </a:t>
            </a:r>
            <a:r>
              <a:rPr lang="en-US" dirty="0" err="1"/>
              <a:t>ace.exec</a:t>
            </a:r>
            <a:r>
              <a:rPr lang="en-US" dirty="0"/>
              <a:t> to </a:t>
            </a:r>
            <a:r>
              <a:rPr lang="en-US" dirty="0" err="1"/>
              <a:t>genote</a:t>
            </a:r>
            <a:r>
              <a:rPr lang="en-US" dirty="0"/>
              <a:t> whether we are using GPRs or vector registers, we can instead use pairs of 64-bit GPRs or quartets of 32-bit GPRs. Since no other change would be needed in the entire architecture, we suspend further discussion on this until later :-)  For 256-bit wide ciphers, we may need to group more GPRs, whereas the vector unit allows more easy “resizing”.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All formats are architected.</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b5d7ac891b_8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b5d7ac891b_8_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b454c1ac4d_0_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b454c1ac4d_0_1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914400" lvl="1" indent="-330200" algn="l" rtl="0">
              <a:lnSpc>
                <a:spcPct val="115000"/>
              </a:lnSpc>
              <a:spcBef>
                <a:spcPts val="0"/>
              </a:spcBef>
              <a:spcAft>
                <a:spcPts val="0"/>
              </a:spcAft>
              <a:buClr>
                <a:schemeClr val="accent2"/>
              </a:buClr>
              <a:buSzPts val="1600"/>
              <a:buChar char="•"/>
            </a:pPr>
            <a:r>
              <a:rPr lang="en-US" sz="1600" dirty="0">
                <a:solidFill>
                  <a:schemeClr val="accent2"/>
                </a:solidFill>
              </a:rPr>
              <a:t>reverse sandboxed environments = enclaves, realms, TZ, Secure Worlds/Secure Supervisor Domains</a:t>
            </a:r>
            <a:endParaRPr dirty="0">
              <a:solidFill>
                <a:schemeClr val="dk1"/>
              </a:solidFill>
            </a:endParaRPr>
          </a:p>
          <a:p>
            <a:pPr marL="0" lvl="0" indent="0" algn="l" rtl="0">
              <a:spcBef>
                <a:spcPts val="60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b5d7ac891b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b5d7ac891b_2_5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b5d7ac891b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b5d7ac891b_0_2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lnSpc>
                <a:spcPct val="115000"/>
              </a:lnSpc>
              <a:spcBef>
                <a:spcPts val="900"/>
              </a:spcBef>
              <a:spcAft>
                <a:spcPts val="0"/>
              </a:spcAft>
              <a:buNone/>
            </a:pPr>
            <a:r>
              <a:rPr lang="en-US" sz="1400" dirty="0">
                <a:solidFill>
                  <a:schemeClr val="accent2"/>
                </a:solidFill>
              </a:rPr>
              <a:t>I was at ARM, where I learned to hate non-orthogonal things and gradual erosion of the encoding space.</a:t>
            </a:r>
            <a:endParaRPr sz="14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b5d7ac891b_8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b5d7ac891b_8_8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a06317898d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a06317898d_0_1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661071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b5d7ac891b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b5d7ac891b_0_2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25175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err="1"/>
              <a:t>Aechitectural</a:t>
            </a:r>
            <a:r>
              <a:rPr lang="en-US" dirty="0"/>
              <a:t> state = all registers, including the CC memory.</a:t>
            </a:r>
          </a:p>
        </p:txBody>
      </p:sp>
    </p:spTree>
    <p:extLst>
      <p:ext uri="{BB962C8B-B14F-4D97-AF65-F5344CB8AC3E}">
        <p14:creationId xmlns:p14="http://schemas.microsoft.com/office/powerpoint/2010/main" val="4301996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a0878b024a_0_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dirty="0"/>
              <a:t>Since we are using AES, i.e. 128-bit blocks, we need to operate over a vector of 4 32-bit elements: in some </a:t>
            </a:r>
            <a:r>
              <a:rPr lang="en-US" dirty="0" err="1"/>
              <a:t>archs</a:t>
            </a:r>
            <a:r>
              <a:rPr lang="en-US" dirty="0"/>
              <a:t> like Risc-V this requires an extra operation such as</a:t>
            </a:r>
            <a:endParaRPr dirty="0"/>
          </a:p>
          <a:p>
            <a:pPr marL="457200" lvl="0" indent="-304800" algn="l" rtl="0">
              <a:lnSpc>
                <a:spcPct val="115000"/>
              </a:lnSpc>
              <a:spcBef>
                <a:spcPts val="0"/>
              </a:spcBef>
              <a:spcAft>
                <a:spcPts val="0"/>
              </a:spcAft>
              <a:buSzPts val="1200"/>
              <a:buChar char="-"/>
            </a:pPr>
            <a:r>
              <a:rPr lang="en-US" dirty="0" err="1"/>
              <a:t>vsetvli</a:t>
            </a:r>
            <a:r>
              <a:rPr lang="en-US" dirty="0"/>
              <a:t> zero, 4, e32, m1, ta, ma</a:t>
            </a:r>
            <a:endParaRPr dirty="0"/>
          </a:p>
          <a:p>
            <a:pPr marL="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r>
              <a:rPr lang="en-US" dirty="0"/>
              <a:t>We shall add also code snippets for the transition </a:t>
            </a:r>
            <a:endParaRPr dirty="0"/>
          </a:p>
          <a:p>
            <a:pPr marL="0" lvl="0" indent="0" algn="l" rtl="0">
              <a:lnSpc>
                <a:spcPct val="115000"/>
              </a:lnSpc>
              <a:spcBef>
                <a:spcPts val="0"/>
              </a:spcBef>
              <a:spcAft>
                <a:spcPts val="0"/>
              </a:spcAft>
              <a:buNone/>
            </a:pPr>
            <a:r>
              <a:rPr lang="en-US" dirty="0"/>
              <a:t>User's "world" -&gt; MM -&gt; applet's world -&gt; applet -&gt; MM -&gt; User's "world" - &gt; user process</a:t>
            </a:r>
            <a:endParaRPr dirty="0"/>
          </a:p>
          <a:p>
            <a:pPr marL="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r>
              <a:rPr lang="en-US" dirty="0">
                <a:solidFill>
                  <a:srgbClr val="444746"/>
                </a:solidFill>
                <a:latin typeface="Roboto"/>
                <a:ea typeface="Roboto"/>
                <a:cs typeface="Roboto"/>
                <a:sym typeface="Roboto"/>
              </a:rPr>
              <a:t>Ruud: Why is import/export working directly on memory, whereas exec operates on vector registers? Seems inconsistent.</a:t>
            </a:r>
            <a:br>
              <a:rPr lang="en-US" dirty="0">
                <a:solidFill>
                  <a:srgbClr val="444746"/>
                </a:solidFill>
                <a:latin typeface="Roboto"/>
                <a:ea typeface="Roboto"/>
                <a:cs typeface="Roboto"/>
                <a:sym typeface="Roboto"/>
              </a:rPr>
            </a:br>
            <a:r>
              <a:rPr lang="en-US" dirty="0">
                <a:solidFill>
                  <a:srgbClr val="444746"/>
                </a:solidFill>
                <a:latin typeface="Roboto"/>
                <a:ea typeface="Roboto"/>
                <a:cs typeface="Roboto"/>
                <a:sym typeface="Roboto"/>
              </a:rPr>
              <a:t>This can be solved in various ways: having a version that uses GPRs or a subset of RVV.</a:t>
            </a:r>
            <a:endParaRPr dirty="0">
              <a:solidFill>
                <a:srgbClr val="444746"/>
              </a:solidFill>
              <a:latin typeface="Roboto"/>
              <a:ea typeface="Roboto"/>
              <a:cs typeface="Roboto"/>
              <a:sym typeface="Roboto"/>
            </a:endParaRPr>
          </a:p>
          <a:p>
            <a:pPr marL="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r>
              <a:rPr lang="en-US" dirty="0"/>
              <a:t>Regarding </a:t>
            </a:r>
            <a:r>
              <a:rPr lang="en-US" dirty="0" err="1"/>
              <a:t>ace.setst</a:t>
            </a:r>
            <a:r>
              <a:rPr lang="en-US" dirty="0"/>
              <a:t>, this can also be implemented either as a CSR write or an an instruction that ALSO performs a CSR write, like the Vector setup instructions (so we also have a precedent for such an approach).</a:t>
            </a:r>
            <a:endParaRPr dirty="0"/>
          </a:p>
          <a:p>
            <a:pPr marL="0" lvl="0" indent="0" algn="l" rtl="0">
              <a:lnSpc>
                <a:spcPct val="115000"/>
              </a:lnSpc>
              <a:spcBef>
                <a:spcPts val="0"/>
              </a:spcBef>
              <a:spcAft>
                <a:spcPts val="0"/>
              </a:spcAft>
              <a:buNone/>
            </a:pPr>
            <a:endParaRPr dirty="0"/>
          </a:p>
        </p:txBody>
      </p:sp>
      <p:sp>
        <p:nvSpPr>
          <p:cNvPr id="145" name="Google Shape;145;g3a0878b024a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afb9c012ab_8_2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g3afb9c012ab_8_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afb9c012ab_8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afb9c012ab_8_3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first three reasons should also persuade the 3 letter entity.</a:t>
            </a: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49934914-62EF-6822-ADA5-0D07769A1BFA}"/>
            </a:ext>
          </a:extLst>
        </p:cNvPr>
        <p:cNvGrpSpPr/>
        <p:nvPr/>
      </p:nvGrpSpPr>
      <p:grpSpPr>
        <a:xfrm>
          <a:off x="0" y="0"/>
          <a:ext cx="0" cy="0"/>
          <a:chOff x="0" y="0"/>
          <a:chExt cx="0" cy="0"/>
        </a:xfrm>
      </p:grpSpPr>
      <p:sp>
        <p:nvSpPr>
          <p:cNvPr id="162" name="Google Shape;162;g3afb9c012ab_8_22:notes">
            <a:extLst>
              <a:ext uri="{FF2B5EF4-FFF2-40B4-BE49-F238E27FC236}">
                <a16:creationId xmlns:a16="http://schemas.microsoft.com/office/drawing/2014/main" id="{378CEDC6-0DA1-5243-55F5-F6B6B720F081}"/>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g3afb9c012ab_8_22:notes">
            <a:extLst>
              <a:ext uri="{FF2B5EF4-FFF2-40B4-BE49-F238E27FC236}">
                <a16:creationId xmlns:a16="http://schemas.microsoft.com/office/drawing/2014/main" id="{FDC25378-B77E-DCE0-FCCB-8D93A7E809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86727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Algorithms specified : data structures, state machine, error handling.</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ARM version would have a subset of features: some resumable instructions would be </a:t>
            </a:r>
            <a:r>
              <a:rPr lang="en-US" dirty="0" err="1"/>
              <a:t>restartable</a:t>
            </a:r>
            <a:r>
              <a:rPr lang="en-US" dirty="0"/>
              <a:t> only. Simpler Worlds model.</a:t>
            </a:r>
          </a:p>
        </p:txBody>
      </p:sp>
    </p:spTree>
    <p:extLst>
      <p:ext uri="{BB962C8B-B14F-4D97-AF65-F5344CB8AC3E}">
        <p14:creationId xmlns:p14="http://schemas.microsoft.com/office/powerpoint/2010/main" val="6179467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9ecd396932_0_3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g39ecd396932_0_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a:extLst>
            <a:ext uri="{FF2B5EF4-FFF2-40B4-BE49-F238E27FC236}">
              <a16:creationId xmlns:a16="http://schemas.microsoft.com/office/drawing/2014/main" id="{D21513E0-286E-2F9F-F264-B130874F3F5F}"/>
            </a:ext>
          </a:extLst>
        </p:cNvPr>
        <p:cNvGrpSpPr/>
        <p:nvPr/>
      </p:nvGrpSpPr>
      <p:grpSpPr>
        <a:xfrm>
          <a:off x="0" y="0"/>
          <a:ext cx="0" cy="0"/>
          <a:chOff x="0" y="0"/>
          <a:chExt cx="0" cy="0"/>
        </a:xfrm>
      </p:grpSpPr>
      <p:sp>
        <p:nvSpPr>
          <p:cNvPr id="712" name="Google Shape;712;g3b4d0429aa3_1_131:notes">
            <a:extLst>
              <a:ext uri="{FF2B5EF4-FFF2-40B4-BE49-F238E27FC236}">
                <a16:creationId xmlns:a16="http://schemas.microsoft.com/office/drawing/2014/main" id="{BC631DE2-785C-16D4-7FD3-549B19194AF0}"/>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3" name="Google Shape;713;g3b4d0429aa3_1_131:notes">
            <a:extLst>
              <a:ext uri="{FF2B5EF4-FFF2-40B4-BE49-F238E27FC236}">
                <a16:creationId xmlns:a16="http://schemas.microsoft.com/office/drawing/2014/main" id="{67A23836-1A83-1E2B-B023-FDCA9E77F1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1054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_Dark Blue" type="tx">
  <p:cSld name="TITLE_AND_BODY">
    <p:bg>
      <p:bgPr>
        <a:solidFill>
          <a:schemeClr val="accent2"/>
        </a:solidFill>
        <a:effectLst/>
      </p:bgPr>
    </p:bg>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515937" y="1586752"/>
            <a:ext cx="5185616" cy="2202611"/>
          </a:xfrm>
          <a:prstGeom prst="rect">
            <a:avLst/>
          </a:prstGeom>
          <a:noFill/>
          <a:ln>
            <a:noFill/>
          </a:ln>
        </p:spPr>
        <p:txBody>
          <a:bodyPr spcFirstLastPara="1" wrap="square" lIns="0" tIns="0" rIns="0" bIns="0" anchor="b" anchorCtr="0">
            <a:normAutofit/>
          </a:bodyPr>
          <a:lstStyle>
            <a:lvl1pPr lvl="0" algn="l">
              <a:lnSpc>
                <a:spcPct val="80000"/>
              </a:lnSpc>
              <a:spcBef>
                <a:spcPts val="0"/>
              </a:spcBef>
              <a:spcAft>
                <a:spcPts val="0"/>
              </a:spcAft>
              <a:buClr>
                <a:srgbClr val="FFFFFF"/>
              </a:buClr>
              <a:buSzPts val="4800"/>
              <a:buFont typeface="Arial"/>
              <a:buNone/>
              <a:defRPr sz="4800">
                <a:solidFill>
                  <a:srgbClr val="FFFFFF"/>
                </a:solidFill>
                <a:latin typeface="Arial"/>
                <a:ea typeface="Arial"/>
                <a:cs typeface="Arial"/>
                <a:sym typeface="Arial"/>
              </a:defRPr>
            </a:lvl1pPr>
            <a:lvl2pPr lvl="1" algn="l">
              <a:lnSpc>
                <a:spcPct val="84000"/>
              </a:lnSpc>
              <a:spcBef>
                <a:spcPts val="0"/>
              </a:spcBef>
              <a:spcAft>
                <a:spcPts val="0"/>
              </a:spcAft>
              <a:buClr>
                <a:schemeClr val="accent2"/>
              </a:buClr>
              <a:buSzPts val="1800"/>
              <a:buNone/>
              <a:defRPr/>
            </a:lvl2pPr>
            <a:lvl3pPr lvl="2" algn="l">
              <a:lnSpc>
                <a:spcPct val="84000"/>
              </a:lnSpc>
              <a:spcBef>
                <a:spcPts val="0"/>
              </a:spcBef>
              <a:spcAft>
                <a:spcPts val="0"/>
              </a:spcAft>
              <a:buClr>
                <a:schemeClr val="accent2"/>
              </a:buClr>
              <a:buSzPts val="1800"/>
              <a:buNone/>
              <a:defRPr/>
            </a:lvl3pPr>
            <a:lvl4pPr lvl="3" algn="l">
              <a:lnSpc>
                <a:spcPct val="84000"/>
              </a:lnSpc>
              <a:spcBef>
                <a:spcPts val="0"/>
              </a:spcBef>
              <a:spcAft>
                <a:spcPts val="0"/>
              </a:spcAft>
              <a:buClr>
                <a:schemeClr val="accent2"/>
              </a:buClr>
              <a:buSzPts val="1800"/>
              <a:buNone/>
              <a:defRPr/>
            </a:lvl4pPr>
            <a:lvl5pPr lvl="4" algn="l">
              <a:lnSpc>
                <a:spcPct val="84000"/>
              </a:lnSpc>
              <a:spcBef>
                <a:spcPts val="0"/>
              </a:spcBef>
              <a:spcAft>
                <a:spcPts val="0"/>
              </a:spcAft>
              <a:buClr>
                <a:schemeClr val="accent2"/>
              </a:buClr>
              <a:buSzPts val="1800"/>
              <a:buNone/>
              <a:defRPr/>
            </a:lvl5pPr>
            <a:lvl6pPr lvl="5" algn="l">
              <a:lnSpc>
                <a:spcPct val="84000"/>
              </a:lnSpc>
              <a:spcBef>
                <a:spcPts val="0"/>
              </a:spcBef>
              <a:spcAft>
                <a:spcPts val="0"/>
              </a:spcAft>
              <a:buClr>
                <a:schemeClr val="accent2"/>
              </a:buClr>
              <a:buSzPts val="1800"/>
              <a:buNone/>
              <a:defRPr/>
            </a:lvl6pPr>
            <a:lvl7pPr lvl="6" algn="l">
              <a:lnSpc>
                <a:spcPct val="84000"/>
              </a:lnSpc>
              <a:spcBef>
                <a:spcPts val="0"/>
              </a:spcBef>
              <a:spcAft>
                <a:spcPts val="0"/>
              </a:spcAft>
              <a:buClr>
                <a:schemeClr val="accent2"/>
              </a:buClr>
              <a:buSzPts val="1800"/>
              <a:buNone/>
              <a:defRPr/>
            </a:lvl7pPr>
            <a:lvl8pPr lvl="7" algn="l">
              <a:lnSpc>
                <a:spcPct val="84000"/>
              </a:lnSpc>
              <a:spcBef>
                <a:spcPts val="0"/>
              </a:spcBef>
              <a:spcAft>
                <a:spcPts val="0"/>
              </a:spcAft>
              <a:buClr>
                <a:schemeClr val="accent2"/>
              </a:buClr>
              <a:buSzPts val="1800"/>
              <a:buNone/>
              <a:defRPr/>
            </a:lvl8pPr>
            <a:lvl9pPr lvl="8" algn="l">
              <a:lnSpc>
                <a:spcPct val="84000"/>
              </a:lnSpc>
              <a:spcBef>
                <a:spcPts val="0"/>
              </a:spcBef>
              <a:spcAft>
                <a:spcPts val="0"/>
              </a:spcAft>
              <a:buClr>
                <a:schemeClr val="accent2"/>
              </a:buClr>
              <a:buSzPts val="1800"/>
              <a:buNone/>
              <a:defRPr/>
            </a:lvl9pPr>
          </a:lstStyle>
          <a:p>
            <a:endParaRPr/>
          </a:p>
        </p:txBody>
      </p:sp>
      <p:sp>
        <p:nvSpPr>
          <p:cNvPr id="13" name="Google Shape;13;p2"/>
          <p:cNvSpPr txBox="1">
            <a:spLocks noGrp="1"/>
          </p:cNvSpPr>
          <p:nvPr>
            <p:ph type="body" idx="1"/>
          </p:nvPr>
        </p:nvSpPr>
        <p:spPr>
          <a:xfrm>
            <a:off x="515939" y="4539038"/>
            <a:ext cx="5185615" cy="263150"/>
          </a:xfrm>
          <a:prstGeom prst="rect">
            <a:avLst/>
          </a:prstGeom>
          <a:noFill/>
          <a:ln>
            <a:noFill/>
          </a:ln>
        </p:spPr>
        <p:txBody>
          <a:bodyPr spcFirstLastPara="1" wrap="square" lIns="0" tIns="0" rIns="0" bIns="0" anchor="t" anchorCtr="0">
            <a:normAutofit/>
          </a:bodyPr>
          <a:lstStyle>
            <a:lvl1pPr marL="457200" lvl="0" indent="-228600" algn="l">
              <a:lnSpc>
                <a:spcPct val="95000"/>
              </a:lnSpc>
              <a:spcBef>
                <a:spcPts val="900"/>
              </a:spcBef>
              <a:spcAft>
                <a:spcPts val="0"/>
              </a:spcAft>
              <a:buClr>
                <a:srgbClr val="FFFFFF"/>
              </a:buClr>
              <a:buSzPts val="1800"/>
              <a:buFont typeface="Arial"/>
              <a:buNone/>
              <a:defRPr sz="1800">
                <a:solidFill>
                  <a:srgbClr val="FFFFFF"/>
                </a:solidFill>
              </a:defRPr>
            </a:lvl1pPr>
            <a:lvl2pPr marL="914400" lvl="1" indent="-342900" algn="l">
              <a:lnSpc>
                <a:spcPct val="95000"/>
              </a:lnSpc>
              <a:spcBef>
                <a:spcPts val="900"/>
              </a:spcBef>
              <a:spcAft>
                <a:spcPts val="0"/>
              </a:spcAft>
              <a:buClr>
                <a:srgbClr val="FFFFFF"/>
              </a:buClr>
              <a:buSzPts val="1800"/>
              <a:buFont typeface="Arial"/>
              <a:buChar char="•"/>
              <a:defRPr sz="1800">
                <a:solidFill>
                  <a:srgbClr val="FFFFFF"/>
                </a:solidFill>
              </a:defRPr>
            </a:lvl2pPr>
            <a:lvl3pPr marL="1371600" lvl="2" indent="-342900" algn="l">
              <a:lnSpc>
                <a:spcPct val="95000"/>
              </a:lnSpc>
              <a:spcBef>
                <a:spcPts val="900"/>
              </a:spcBef>
              <a:spcAft>
                <a:spcPts val="0"/>
              </a:spcAft>
              <a:buClr>
                <a:srgbClr val="FFFFFF"/>
              </a:buClr>
              <a:buSzPts val="1800"/>
              <a:buFont typeface="Arial"/>
              <a:buChar char="•"/>
              <a:defRPr sz="1800">
                <a:solidFill>
                  <a:srgbClr val="FFFFFF"/>
                </a:solidFill>
              </a:defRPr>
            </a:lvl3pPr>
            <a:lvl4pPr marL="1828800" lvl="3" indent="-342900" algn="l">
              <a:lnSpc>
                <a:spcPct val="95000"/>
              </a:lnSpc>
              <a:spcBef>
                <a:spcPts val="900"/>
              </a:spcBef>
              <a:spcAft>
                <a:spcPts val="0"/>
              </a:spcAft>
              <a:buClr>
                <a:srgbClr val="FFFFFF"/>
              </a:buClr>
              <a:buSzPts val="1800"/>
              <a:buFont typeface="Arial"/>
              <a:buChar char="•"/>
              <a:defRPr sz="1800">
                <a:solidFill>
                  <a:srgbClr val="FFFFFF"/>
                </a:solidFill>
              </a:defRPr>
            </a:lvl4pPr>
            <a:lvl5pPr marL="2286000" lvl="4" indent="-342900" algn="l">
              <a:lnSpc>
                <a:spcPct val="95000"/>
              </a:lnSpc>
              <a:spcBef>
                <a:spcPts val="900"/>
              </a:spcBef>
              <a:spcAft>
                <a:spcPts val="0"/>
              </a:spcAft>
              <a:buClr>
                <a:srgbClr val="FFFFFF"/>
              </a:buClr>
              <a:buSzPts val="1800"/>
              <a:buFont typeface="Arial"/>
              <a:buChar char="•"/>
              <a:defRPr sz="1800">
                <a:solidFill>
                  <a:srgbClr val="FFFFFF"/>
                </a:solidFill>
              </a:defRPr>
            </a:lvl5pPr>
            <a:lvl6pPr marL="2743200" lvl="5" indent="-342900" algn="l">
              <a:lnSpc>
                <a:spcPct val="95000"/>
              </a:lnSpc>
              <a:spcBef>
                <a:spcPts val="900"/>
              </a:spcBef>
              <a:spcAft>
                <a:spcPts val="0"/>
              </a:spcAft>
              <a:buClr>
                <a:schemeClr val="accent2"/>
              </a:buClr>
              <a:buSzPts val="1800"/>
              <a:buChar char="•"/>
              <a:defRPr/>
            </a:lvl6pPr>
            <a:lvl7pPr marL="3200400" lvl="6" indent="-342900" algn="l">
              <a:lnSpc>
                <a:spcPct val="95000"/>
              </a:lnSpc>
              <a:spcBef>
                <a:spcPts val="900"/>
              </a:spcBef>
              <a:spcAft>
                <a:spcPts val="0"/>
              </a:spcAft>
              <a:buClr>
                <a:schemeClr val="accent2"/>
              </a:buClr>
              <a:buSzPts val="1800"/>
              <a:buChar char="•"/>
              <a:defRPr/>
            </a:lvl7pPr>
            <a:lvl8pPr marL="3657600" lvl="7" indent="-342900" algn="l">
              <a:lnSpc>
                <a:spcPct val="95000"/>
              </a:lnSpc>
              <a:spcBef>
                <a:spcPts val="900"/>
              </a:spcBef>
              <a:spcAft>
                <a:spcPts val="0"/>
              </a:spcAft>
              <a:buClr>
                <a:schemeClr val="accent2"/>
              </a:buClr>
              <a:buSzPts val="1800"/>
              <a:buChar char="•"/>
              <a:defRPr/>
            </a:lvl8pPr>
            <a:lvl9pPr marL="4114800" lvl="8" indent="-342900" algn="l">
              <a:lnSpc>
                <a:spcPct val="95000"/>
              </a:lnSpc>
              <a:spcBef>
                <a:spcPts val="900"/>
              </a:spcBef>
              <a:spcAft>
                <a:spcPts val="0"/>
              </a:spcAft>
              <a:buClr>
                <a:schemeClr val="accent2"/>
              </a:buClr>
              <a:buSzPts val="1800"/>
              <a:buChar char="•"/>
              <a:defRPr/>
            </a:lvl9pPr>
          </a:lstStyle>
          <a:p>
            <a:endParaRPr/>
          </a:p>
        </p:txBody>
      </p:sp>
      <p:sp>
        <p:nvSpPr>
          <p:cNvPr id="14" name="Google Shape;14;p2"/>
          <p:cNvSpPr txBox="1">
            <a:spLocks noGrp="1"/>
          </p:cNvSpPr>
          <p:nvPr>
            <p:ph type="body" idx="2"/>
          </p:nvPr>
        </p:nvSpPr>
        <p:spPr>
          <a:xfrm>
            <a:off x="515937" y="4080516"/>
            <a:ext cx="5186784" cy="450486"/>
          </a:xfrm>
          <a:prstGeom prst="rect">
            <a:avLst/>
          </a:prstGeom>
          <a:noFill/>
          <a:ln>
            <a:noFill/>
          </a:ln>
        </p:spPr>
        <p:txBody>
          <a:bodyPr spcFirstLastPara="1" wrap="square" lIns="0" tIns="0" rIns="0" bIns="0" anchor="t" anchorCtr="0">
            <a:normAutofit/>
          </a:bodyPr>
          <a:lstStyle>
            <a:lvl1pPr marL="457200" lvl="0" indent="-406400" algn="l">
              <a:lnSpc>
                <a:spcPct val="96000"/>
              </a:lnSpc>
              <a:spcBef>
                <a:spcPts val="600"/>
              </a:spcBef>
              <a:spcAft>
                <a:spcPts val="0"/>
              </a:spcAft>
              <a:buClr>
                <a:srgbClr val="FFFFFF"/>
              </a:buClr>
              <a:buSzPts val="2800"/>
              <a:buFont typeface="Helvetica Neue"/>
              <a:buChar char="​"/>
              <a:defRPr sz="2800">
                <a:solidFill>
                  <a:srgbClr val="FFFFFF"/>
                </a:solidFill>
                <a:latin typeface="Play"/>
                <a:ea typeface="Play"/>
                <a:cs typeface="Play"/>
                <a:sym typeface="Play"/>
              </a:defRPr>
            </a:lvl1pPr>
            <a:lvl2pPr marL="914400" lvl="1" indent="-342900" algn="l">
              <a:lnSpc>
                <a:spcPct val="95000"/>
              </a:lnSpc>
              <a:spcBef>
                <a:spcPts val="900"/>
              </a:spcBef>
              <a:spcAft>
                <a:spcPts val="0"/>
              </a:spcAft>
              <a:buClr>
                <a:schemeClr val="accent2"/>
              </a:buClr>
              <a:buSzPts val="1800"/>
              <a:buChar char="•"/>
              <a:defRPr/>
            </a:lvl2pPr>
            <a:lvl3pPr marL="1371600" lvl="2" indent="-342900" algn="l">
              <a:lnSpc>
                <a:spcPct val="95000"/>
              </a:lnSpc>
              <a:spcBef>
                <a:spcPts val="900"/>
              </a:spcBef>
              <a:spcAft>
                <a:spcPts val="0"/>
              </a:spcAft>
              <a:buClr>
                <a:schemeClr val="accent2"/>
              </a:buClr>
              <a:buSzPts val="1800"/>
              <a:buChar char="•"/>
              <a:defRPr/>
            </a:lvl3pPr>
            <a:lvl4pPr marL="1828800" lvl="3" indent="-342900" algn="l">
              <a:lnSpc>
                <a:spcPct val="95000"/>
              </a:lnSpc>
              <a:spcBef>
                <a:spcPts val="900"/>
              </a:spcBef>
              <a:spcAft>
                <a:spcPts val="0"/>
              </a:spcAft>
              <a:buClr>
                <a:schemeClr val="accent2"/>
              </a:buClr>
              <a:buSzPts val="1800"/>
              <a:buChar char="•"/>
              <a:defRPr/>
            </a:lvl4pPr>
            <a:lvl5pPr marL="2286000" lvl="4" indent="-342900" algn="l">
              <a:lnSpc>
                <a:spcPct val="95000"/>
              </a:lnSpc>
              <a:spcBef>
                <a:spcPts val="900"/>
              </a:spcBef>
              <a:spcAft>
                <a:spcPts val="0"/>
              </a:spcAft>
              <a:buClr>
                <a:schemeClr val="accent2"/>
              </a:buClr>
              <a:buSzPts val="1800"/>
              <a:buChar char="•"/>
              <a:defRPr/>
            </a:lvl5pPr>
            <a:lvl6pPr marL="2743200" lvl="5" indent="-342900" algn="l">
              <a:lnSpc>
                <a:spcPct val="95000"/>
              </a:lnSpc>
              <a:spcBef>
                <a:spcPts val="900"/>
              </a:spcBef>
              <a:spcAft>
                <a:spcPts val="0"/>
              </a:spcAft>
              <a:buClr>
                <a:schemeClr val="accent2"/>
              </a:buClr>
              <a:buSzPts val="1800"/>
              <a:buChar char="•"/>
              <a:defRPr/>
            </a:lvl6pPr>
            <a:lvl7pPr marL="3200400" lvl="6" indent="-342900" algn="l">
              <a:lnSpc>
                <a:spcPct val="95000"/>
              </a:lnSpc>
              <a:spcBef>
                <a:spcPts val="900"/>
              </a:spcBef>
              <a:spcAft>
                <a:spcPts val="0"/>
              </a:spcAft>
              <a:buClr>
                <a:schemeClr val="accent2"/>
              </a:buClr>
              <a:buSzPts val="1800"/>
              <a:buChar char="•"/>
              <a:defRPr/>
            </a:lvl7pPr>
            <a:lvl8pPr marL="3657600" lvl="7" indent="-342900" algn="l">
              <a:lnSpc>
                <a:spcPct val="95000"/>
              </a:lnSpc>
              <a:spcBef>
                <a:spcPts val="900"/>
              </a:spcBef>
              <a:spcAft>
                <a:spcPts val="0"/>
              </a:spcAft>
              <a:buClr>
                <a:schemeClr val="accent2"/>
              </a:buClr>
              <a:buSzPts val="1800"/>
              <a:buChar char="•"/>
              <a:defRPr/>
            </a:lvl8pPr>
            <a:lvl9pPr marL="4114800" lvl="8" indent="-342900" algn="l">
              <a:lnSpc>
                <a:spcPct val="95000"/>
              </a:lnSpc>
              <a:spcBef>
                <a:spcPts val="900"/>
              </a:spcBef>
              <a:spcAft>
                <a:spcPts val="0"/>
              </a:spcAft>
              <a:buClr>
                <a:schemeClr val="accent2"/>
              </a:buClr>
              <a:buSzPts val="1800"/>
              <a:buChar char="•"/>
              <a:defRPr/>
            </a:lvl9pPr>
          </a:lstStyle>
          <a:p>
            <a:endParaRPr/>
          </a:p>
        </p:txBody>
      </p:sp>
      <p:sp>
        <p:nvSpPr>
          <p:cNvPr id="15" name="Google Shape;15;p2"/>
          <p:cNvSpPr txBox="1"/>
          <p:nvPr/>
        </p:nvSpPr>
        <p:spPr>
          <a:xfrm>
            <a:off x="515937" y="6386480"/>
            <a:ext cx="4765551" cy="127001"/>
          </a:xfrm>
          <a:prstGeom prst="rect">
            <a:avLst/>
          </a:prstGeom>
          <a:noFill/>
          <a:ln>
            <a:noFill/>
          </a:ln>
        </p:spPr>
        <p:txBody>
          <a:bodyPr spcFirstLastPara="1" wrap="square" lIns="0" tIns="0" rIns="0" bIns="0" anchor="b" anchorCtr="0">
            <a:spAutoFit/>
          </a:bodyPr>
          <a:lstStyle/>
          <a:p>
            <a:pPr marL="0" marR="0" lvl="0" indent="0" algn="l" rtl="0">
              <a:lnSpc>
                <a:spcPct val="95000"/>
              </a:lnSpc>
              <a:spcBef>
                <a:spcPts val="0"/>
              </a:spcBef>
              <a:spcAft>
                <a:spcPts val="0"/>
              </a:spcAft>
              <a:buClr>
                <a:srgbClr val="B8BFD2"/>
              </a:buClr>
              <a:buSzPts val="800"/>
              <a:buFont typeface="Arial"/>
              <a:buNone/>
            </a:pPr>
            <a:r>
              <a:rPr lang="en-US" sz="800" b="0" i="0" u="none" strike="noStrike" cap="none">
                <a:solidFill>
                  <a:srgbClr val="B8BFD2"/>
                </a:solidFill>
                <a:latin typeface="Arial"/>
                <a:ea typeface="Arial"/>
                <a:cs typeface="Arial"/>
                <a:sym typeface="Arial"/>
              </a:rPr>
              <a:t>Non-Confidential </a:t>
            </a:r>
            <a:endParaRPr/>
          </a:p>
        </p:txBody>
      </p:sp>
      <p:sp>
        <p:nvSpPr>
          <p:cNvPr id="16" name="Google Shape;16;p2"/>
          <p:cNvSpPr txBox="1"/>
          <p:nvPr/>
        </p:nvSpPr>
        <p:spPr>
          <a:xfrm>
            <a:off x="515937" y="6083220"/>
            <a:ext cx="5247711" cy="247651"/>
          </a:xfrm>
          <a:prstGeom prst="rect">
            <a:avLst/>
          </a:prstGeom>
          <a:noFill/>
          <a:ln>
            <a:noFill/>
          </a:ln>
        </p:spPr>
        <p:txBody>
          <a:bodyPr spcFirstLastPara="1" wrap="square" lIns="0" tIns="0" rIns="0" bIns="0" anchor="b" anchorCtr="0">
            <a:spAutoFit/>
          </a:bodyPr>
          <a:lstStyle/>
          <a:p>
            <a:pPr marL="0" marR="0" lvl="0" indent="0" algn="l" rtl="0">
              <a:lnSpc>
                <a:spcPct val="95000"/>
              </a:lnSpc>
              <a:spcBef>
                <a:spcPts val="0"/>
              </a:spcBef>
              <a:spcAft>
                <a:spcPts val="0"/>
              </a:spcAft>
              <a:buClr>
                <a:srgbClr val="B8BFD2"/>
              </a:buClr>
              <a:buSzPts val="800"/>
              <a:buFont typeface="Arial"/>
              <a:buNone/>
            </a:pPr>
            <a:r>
              <a:rPr lang="en-US" sz="800" b="0" i="0" u="none" strike="noStrike" cap="none">
                <a:solidFill>
                  <a:srgbClr val="B8BFD2"/>
                </a:solidFill>
                <a:latin typeface="Arial"/>
                <a:ea typeface="Arial"/>
                <a:cs typeface="Arial"/>
                <a:sym typeface="Arial"/>
              </a:rPr>
              <a:t>Snapdragon and Qualcomm branded products are products of Qualcomm Technologies, Inc. and/or its subsidiaries. Qualcomm patented technologies are licensed by Qualcomm Incorporated.</a:t>
            </a:r>
            <a:endParaRPr/>
          </a:p>
        </p:txBody>
      </p:sp>
      <p:sp>
        <p:nvSpPr>
          <p:cNvPr id="17" name="Google Shape;17;p2"/>
          <p:cNvSpPr txBox="1">
            <a:spLocks noGrp="1"/>
          </p:cNvSpPr>
          <p:nvPr>
            <p:ph type="body" idx="3"/>
          </p:nvPr>
        </p:nvSpPr>
        <p:spPr>
          <a:xfrm>
            <a:off x="515938" y="5763331"/>
            <a:ext cx="5185616" cy="263150"/>
          </a:xfrm>
          <a:prstGeom prst="rect">
            <a:avLst/>
          </a:prstGeom>
          <a:noFill/>
          <a:ln>
            <a:noFill/>
          </a:ln>
        </p:spPr>
        <p:txBody>
          <a:bodyPr spcFirstLastPara="1" wrap="square" lIns="0" tIns="0" rIns="0" bIns="0" anchor="t" anchorCtr="0">
            <a:normAutofit/>
          </a:bodyPr>
          <a:lstStyle>
            <a:lvl1pPr marL="457200" lvl="0" indent="-228600" algn="l">
              <a:lnSpc>
                <a:spcPct val="95000"/>
              </a:lnSpc>
              <a:spcBef>
                <a:spcPts val="900"/>
              </a:spcBef>
              <a:spcAft>
                <a:spcPts val="0"/>
              </a:spcAft>
              <a:buClr>
                <a:srgbClr val="FFFFFF"/>
              </a:buClr>
              <a:buSzPts val="1600"/>
              <a:buFont typeface="Arial"/>
              <a:buNone/>
              <a:defRPr sz="1600">
                <a:solidFill>
                  <a:srgbClr val="FFFFFF"/>
                </a:solidFill>
              </a:defRPr>
            </a:lvl1pPr>
            <a:lvl2pPr marL="914400" lvl="1" indent="-342900" algn="l">
              <a:lnSpc>
                <a:spcPct val="95000"/>
              </a:lnSpc>
              <a:spcBef>
                <a:spcPts val="900"/>
              </a:spcBef>
              <a:spcAft>
                <a:spcPts val="0"/>
              </a:spcAft>
              <a:buClr>
                <a:schemeClr val="accent2"/>
              </a:buClr>
              <a:buSzPts val="1800"/>
              <a:buChar char="•"/>
              <a:defRPr/>
            </a:lvl2pPr>
            <a:lvl3pPr marL="1371600" lvl="2" indent="-342900" algn="l">
              <a:lnSpc>
                <a:spcPct val="95000"/>
              </a:lnSpc>
              <a:spcBef>
                <a:spcPts val="900"/>
              </a:spcBef>
              <a:spcAft>
                <a:spcPts val="0"/>
              </a:spcAft>
              <a:buClr>
                <a:schemeClr val="accent2"/>
              </a:buClr>
              <a:buSzPts val="1800"/>
              <a:buChar char="•"/>
              <a:defRPr/>
            </a:lvl3pPr>
            <a:lvl4pPr marL="1828800" lvl="3" indent="-342900" algn="l">
              <a:lnSpc>
                <a:spcPct val="95000"/>
              </a:lnSpc>
              <a:spcBef>
                <a:spcPts val="900"/>
              </a:spcBef>
              <a:spcAft>
                <a:spcPts val="0"/>
              </a:spcAft>
              <a:buClr>
                <a:schemeClr val="accent2"/>
              </a:buClr>
              <a:buSzPts val="1800"/>
              <a:buChar char="•"/>
              <a:defRPr/>
            </a:lvl4pPr>
            <a:lvl5pPr marL="2286000" lvl="4" indent="-342900" algn="l">
              <a:lnSpc>
                <a:spcPct val="95000"/>
              </a:lnSpc>
              <a:spcBef>
                <a:spcPts val="900"/>
              </a:spcBef>
              <a:spcAft>
                <a:spcPts val="0"/>
              </a:spcAft>
              <a:buClr>
                <a:schemeClr val="accent2"/>
              </a:buClr>
              <a:buSzPts val="1800"/>
              <a:buChar char="•"/>
              <a:defRPr/>
            </a:lvl5pPr>
            <a:lvl6pPr marL="2743200" lvl="5" indent="-342900" algn="l">
              <a:lnSpc>
                <a:spcPct val="95000"/>
              </a:lnSpc>
              <a:spcBef>
                <a:spcPts val="900"/>
              </a:spcBef>
              <a:spcAft>
                <a:spcPts val="0"/>
              </a:spcAft>
              <a:buClr>
                <a:schemeClr val="accent2"/>
              </a:buClr>
              <a:buSzPts val="1800"/>
              <a:buChar char="•"/>
              <a:defRPr/>
            </a:lvl6pPr>
            <a:lvl7pPr marL="3200400" lvl="6" indent="-342900" algn="l">
              <a:lnSpc>
                <a:spcPct val="95000"/>
              </a:lnSpc>
              <a:spcBef>
                <a:spcPts val="900"/>
              </a:spcBef>
              <a:spcAft>
                <a:spcPts val="0"/>
              </a:spcAft>
              <a:buClr>
                <a:schemeClr val="accent2"/>
              </a:buClr>
              <a:buSzPts val="1800"/>
              <a:buChar char="•"/>
              <a:defRPr/>
            </a:lvl7pPr>
            <a:lvl8pPr marL="3657600" lvl="7" indent="-342900" algn="l">
              <a:lnSpc>
                <a:spcPct val="95000"/>
              </a:lnSpc>
              <a:spcBef>
                <a:spcPts val="900"/>
              </a:spcBef>
              <a:spcAft>
                <a:spcPts val="0"/>
              </a:spcAft>
              <a:buClr>
                <a:schemeClr val="accent2"/>
              </a:buClr>
              <a:buSzPts val="1800"/>
              <a:buChar char="•"/>
              <a:defRPr/>
            </a:lvl8pPr>
            <a:lvl9pPr marL="4114800" lvl="8" indent="-342900" algn="l">
              <a:lnSpc>
                <a:spcPct val="95000"/>
              </a:lnSpc>
              <a:spcBef>
                <a:spcPts val="900"/>
              </a:spcBef>
              <a:spcAft>
                <a:spcPts val="0"/>
              </a:spcAft>
              <a:buClr>
                <a:schemeClr val="accent2"/>
              </a:buClr>
              <a:buSzPts val="1800"/>
              <a:buChar char="•"/>
              <a:defRPr/>
            </a:lvl9pPr>
          </a:lstStyle>
          <a:p>
            <a:endParaRPr/>
          </a:p>
        </p:txBody>
      </p:sp>
      <p:sp>
        <p:nvSpPr>
          <p:cNvPr id="18" name="Google Shape;18;p2"/>
          <p:cNvSpPr txBox="1">
            <a:spLocks noGrp="1"/>
          </p:cNvSpPr>
          <p:nvPr>
            <p:ph type="sldNum" idx="12"/>
          </p:nvPr>
        </p:nvSpPr>
        <p:spPr>
          <a:xfrm>
            <a:off x="5892800" y="6172200"/>
            <a:ext cx="2844800" cy="3683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FFFFFF"/>
              </a:buClr>
              <a:buSzPts val="1200"/>
              <a:buFont typeface="Arial"/>
              <a:buNone/>
              <a:defRPr sz="1200">
                <a:solidFill>
                  <a:srgbClr val="FFFFFF"/>
                </a:solidFill>
              </a:defRPr>
            </a:lvl1pPr>
            <a:lvl2pPr marL="0" marR="0" lvl="1" indent="0" algn="r">
              <a:lnSpc>
                <a:spcPct val="100000"/>
              </a:lnSpc>
              <a:spcBef>
                <a:spcPts val="0"/>
              </a:spcBef>
              <a:spcAft>
                <a:spcPts val="0"/>
              </a:spcAft>
              <a:buClr>
                <a:srgbClr val="FFFFFF"/>
              </a:buClr>
              <a:buSzPts val="1200"/>
              <a:buFont typeface="Arial"/>
              <a:buNone/>
              <a:defRPr sz="1200">
                <a:solidFill>
                  <a:srgbClr val="FFFFFF"/>
                </a:solidFill>
              </a:defRPr>
            </a:lvl2pPr>
            <a:lvl3pPr marL="0" marR="0" lvl="2" indent="0" algn="r">
              <a:lnSpc>
                <a:spcPct val="100000"/>
              </a:lnSpc>
              <a:spcBef>
                <a:spcPts val="0"/>
              </a:spcBef>
              <a:spcAft>
                <a:spcPts val="0"/>
              </a:spcAft>
              <a:buClr>
                <a:srgbClr val="FFFFFF"/>
              </a:buClr>
              <a:buSzPts val="1200"/>
              <a:buFont typeface="Arial"/>
              <a:buNone/>
              <a:defRPr sz="1200">
                <a:solidFill>
                  <a:srgbClr val="FFFFFF"/>
                </a:solidFill>
              </a:defRPr>
            </a:lvl3pPr>
            <a:lvl4pPr marL="0" marR="0" lvl="3" indent="0" algn="r">
              <a:lnSpc>
                <a:spcPct val="100000"/>
              </a:lnSpc>
              <a:spcBef>
                <a:spcPts val="0"/>
              </a:spcBef>
              <a:spcAft>
                <a:spcPts val="0"/>
              </a:spcAft>
              <a:buClr>
                <a:srgbClr val="FFFFFF"/>
              </a:buClr>
              <a:buSzPts val="1200"/>
              <a:buFont typeface="Arial"/>
              <a:buNone/>
              <a:defRPr sz="1200">
                <a:solidFill>
                  <a:srgbClr val="FFFFFF"/>
                </a:solidFill>
              </a:defRPr>
            </a:lvl4pPr>
            <a:lvl5pPr marL="0" marR="0" lvl="4" indent="0" algn="r">
              <a:lnSpc>
                <a:spcPct val="100000"/>
              </a:lnSpc>
              <a:spcBef>
                <a:spcPts val="0"/>
              </a:spcBef>
              <a:spcAft>
                <a:spcPts val="0"/>
              </a:spcAft>
              <a:buClr>
                <a:srgbClr val="FFFFFF"/>
              </a:buClr>
              <a:buSzPts val="1200"/>
              <a:buFont typeface="Arial"/>
              <a:buNone/>
              <a:defRPr sz="1200">
                <a:solidFill>
                  <a:srgbClr val="FFFFFF"/>
                </a:solidFill>
              </a:defRPr>
            </a:lvl5pPr>
            <a:lvl6pPr marL="0" marR="0" lvl="5" indent="0" algn="r">
              <a:lnSpc>
                <a:spcPct val="100000"/>
              </a:lnSpc>
              <a:spcBef>
                <a:spcPts val="0"/>
              </a:spcBef>
              <a:spcAft>
                <a:spcPts val="0"/>
              </a:spcAft>
              <a:buClr>
                <a:srgbClr val="FFFFFF"/>
              </a:buClr>
              <a:buSzPts val="1200"/>
              <a:buFont typeface="Arial"/>
              <a:buNone/>
              <a:defRPr sz="1200">
                <a:solidFill>
                  <a:srgbClr val="FFFFFF"/>
                </a:solidFill>
              </a:defRPr>
            </a:lvl6pPr>
            <a:lvl7pPr marL="0" marR="0" lvl="6" indent="0" algn="r">
              <a:lnSpc>
                <a:spcPct val="100000"/>
              </a:lnSpc>
              <a:spcBef>
                <a:spcPts val="0"/>
              </a:spcBef>
              <a:spcAft>
                <a:spcPts val="0"/>
              </a:spcAft>
              <a:buClr>
                <a:srgbClr val="FFFFFF"/>
              </a:buClr>
              <a:buSzPts val="1200"/>
              <a:buFont typeface="Arial"/>
              <a:buNone/>
              <a:defRPr sz="1200">
                <a:solidFill>
                  <a:srgbClr val="FFFFFF"/>
                </a:solidFill>
              </a:defRPr>
            </a:lvl7pPr>
            <a:lvl8pPr marL="0" marR="0" lvl="7" indent="0" algn="r">
              <a:lnSpc>
                <a:spcPct val="100000"/>
              </a:lnSpc>
              <a:spcBef>
                <a:spcPts val="0"/>
              </a:spcBef>
              <a:spcAft>
                <a:spcPts val="0"/>
              </a:spcAft>
              <a:buClr>
                <a:srgbClr val="FFFFFF"/>
              </a:buClr>
              <a:buSzPts val="1200"/>
              <a:buFont typeface="Arial"/>
              <a:buNone/>
              <a:defRPr sz="1200">
                <a:solidFill>
                  <a:srgbClr val="FFFFFF"/>
                </a:solidFill>
              </a:defRPr>
            </a:lvl8pPr>
            <a:lvl9pPr marL="0" marR="0" lvl="8" indent="0" algn="r">
              <a:lnSpc>
                <a:spcPct val="100000"/>
              </a:lnSpc>
              <a:spcBef>
                <a:spcPts val="0"/>
              </a:spcBef>
              <a:spcAft>
                <a:spcPts val="0"/>
              </a:spcAft>
              <a:buClr>
                <a:srgbClr val="FFFFFF"/>
              </a:buClr>
              <a:buSzPts val="1200"/>
              <a:buFont typeface="Arial"/>
              <a:buNone/>
              <a:defRPr sz="1200">
                <a:solidFill>
                  <a:srgbClr val="FFFFFF"/>
                </a:solidFill>
              </a:defRPr>
            </a:lvl9pPr>
          </a:lstStyle>
          <a:p>
            <a:pPr marL="0" lvl="0" indent="0" algn="r" rtl="0">
              <a:spcBef>
                <a:spcPts val="0"/>
              </a:spcBef>
              <a:spcAft>
                <a:spcPts val="0"/>
              </a:spcAft>
              <a:buNone/>
            </a:pPr>
            <a:fld id="{00000000-1234-1234-1234-123412341234}" type="slidenum">
              <a:rPr lang="en-US"/>
              <a:t>‹#›</a:t>
            </a:fld>
            <a:endParaRPr sz="800">
              <a:solidFill>
                <a:schemeClr val="accent2"/>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p:cSld name="Title and Content">
    <p:bg>
      <p:bgPr>
        <a:solidFill>
          <a:srgbClr val="FFFFFF"/>
        </a:solidFill>
        <a:effectLst/>
      </p:bgPr>
    </p:bg>
    <p:spTree>
      <p:nvGrpSpPr>
        <p:cNvPr id="1" name="Shape 19"/>
        <p:cNvGrpSpPr/>
        <p:nvPr/>
      </p:nvGrpSpPr>
      <p:grpSpPr>
        <a:xfrm>
          <a:off x="0" y="0"/>
          <a:ext cx="0" cy="0"/>
          <a:chOff x="0" y="0"/>
          <a:chExt cx="0" cy="0"/>
        </a:xfrm>
      </p:grpSpPr>
      <p:sp>
        <p:nvSpPr>
          <p:cNvPr id="20" name="Google Shape;20;p3"/>
          <p:cNvSpPr txBox="1"/>
          <p:nvPr/>
        </p:nvSpPr>
        <p:spPr>
          <a:xfrm>
            <a:off x="6773074" y="6386480"/>
            <a:ext cx="4765551" cy="127001"/>
          </a:xfrm>
          <a:prstGeom prst="rect">
            <a:avLst/>
          </a:prstGeom>
          <a:noFill/>
          <a:ln>
            <a:noFill/>
          </a:ln>
        </p:spPr>
        <p:txBody>
          <a:bodyPr spcFirstLastPara="1" wrap="square" lIns="0" tIns="0" rIns="0" bIns="0" anchor="b" anchorCtr="0">
            <a:spAutoFit/>
          </a:bodyPr>
          <a:lstStyle/>
          <a:p>
            <a:pPr marL="0" marR="0" lvl="0" indent="0" algn="r" rtl="0">
              <a:lnSpc>
                <a:spcPct val="95000"/>
              </a:lnSpc>
              <a:spcBef>
                <a:spcPts val="0"/>
              </a:spcBef>
              <a:spcAft>
                <a:spcPts val="0"/>
              </a:spcAft>
              <a:buClr>
                <a:schemeClr val="accent2"/>
              </a:buClr>
              <a:buSzPts val="800"/>
              <a:buFont typeface="Arial"/>
              <a:buNone/>
            </a:pPr>
            <a:r>
              <a:rPr lang="en-US" sz="800" b="0" i="0" u="none" strike="noStrike" cap="none">
                <a:solidFill>
                  <a:schemeClr val="accent2"/>
                </a:solidFill>
                <a:latin typeface="Arial"/>
                <a:ea typeface="Arial"/>
                <a:cs typeface="Arial"/>
                <a:sym typeface="Arial"/>
              </a:rPr>
              <a:t>Non-Confidential</a:t>
            </a:r>
            <a:endParaRPr/>
          </a:p>
        </p:txBody>
      </p:sp>
      <p:sp>
        <p:nvSpPr>
          <p:cNvPr id="21" name="Google Shape;21;p3"/>
          <p:cNvSpPr txBox="1">
            <a:spLocks noGrp="1"/>
          </p:cNvSpPr>
          <p:nvPr>
            <p:ph type="title"/>
          </p:nvPr>
        </p:nvSpPr>
        <p:spPr>
          <a:xfrm>
            <a:off x="515937" y="628015"/>
            <a:ext cx="11160128" cy="647702"/>
          </a:xfrm>
          <a:prstGeom prst="rect">
            <a:avLst/>
          </a:prstGeom>
          <a:noFill/>
          <a:ln>
            <a:noFill/>
          </a:ln>
        </p:spPr>
        <p:txBody>
          <a:bodyPr spcFirstLastPara="1" wrap="square" lIns="0" tIns="0" rIns="0" bIns="0" anchor="t" anchorCtr="0">
            <a:normAutofit/>
          </a:bodyPr>
          <a:lstStyle>
            <a:lvl1pPr lvl="0" algn="l">
              <a:lnSpc>
                <a:spcPct val="84000"/>
              </a:lnSpc>
              <a:spcBef>
                <a:spcPts val="0"/>
              </a:spcBef>
              <a:spcAft>
                <a:spcPts val="0"/>
              </a:spcAft>
              <a:buClr>
                <a:schemeClr val="accent2"/>
              </a:buClr>
              <a:buSzPts val="1800"/>
              <a:buFont typeface="Arial"/>
              <a:buNone/>
              <a:defRPr>
                <a:latin typeface="Arial"/>
                <a:ea typeface="Arial"/>
                <a:cs typeface="Arial"/>
                <a:sym typeface="Arial"/>
              </a:defRPr>
            </a:lvl1pPr>
            <a:lvl2pPr lvl="1" algn="l">
              <a:lnSpc>
                <a:spcPct val="84000"/>
              </a:lnSpc>
              <a:spcBef>
                <a:spcPts val="0"/>
              </a:spcBef>
              <a:spcAft>
                <a:spcPts val="0"/>
              </a:spcAft>
              <a:buClr>
                <a:schemeClr val="accent2"/>
              </a:buClr>
              <a:buSzPts val="1800"/>
              <a:buNone/>
              <a:defRPr/>
            </a:lvl2pPr>
            <a:lvl3pPr lvl="2" algn="l">
              <a:lnSpc>
                <a:spcPct val="84000"/>
              </a:lnSpc>
              <a:spcBef>
                <a:spcPts val="0"/>
              </a:spcBef>
              <a:spcAft>
                <a:spcPts val="0"/>
              </a:spcAft>
              <a:buClr>
                <a:schemeClr val="accent2"/>
              </a:buClr>
              <a:buSzPts val="1800"/>
              <a:buNone/>
              <a:defRPr/>
            </a:lvl3pPr>
            <a:lvl4pPr lvl="3" algn="l">
              <a:lnSpc>
                <a:spcPct val="84000"/>
              </a:lnSpc>
              <a:spcBef>
                <a:spcPts val="0"/>
              </a:spcBef>
              <a:spcAft>
                <a:spcPts val="0"/>
              </a:spcAft>
              <a:buClr>
                <a:schemeClr val="accent2"/>
              </a:buClr>
              <a:buSzPts val="1800"/>
              <a:buNone/>
              <a:defRPr/>
            </a:lvl4pPr>
            <a:lvl5pPr lvl="4" algn="l">
              <a:lnSpc>
                <a:spcPct val="84000"/>
              </a:lnSpc>
              <a:spcBef>
                <a:spcPts val="0"/>
              </a:spcBef>
              <a:spcAft>
                <a:spcPts val="0"/>
              </a:spcAft>
              <a:buClr>
                <a:schemeClr val="accent2"/>
              </a:buClr>
              <a:buSzPts val="1800"/>
              <a:buNone/>
              <a:defRPr/>
            </a:lvl5pPr>
            <a:lvl6pPr lvl="5" algn="l">
              <a:lnSpc>
                <a:spcPct val="84000"/>
              </a:lnSpc>
              <a:spcBef>
                <a:spcPts val="0"/>
              </a:spcBef>
              <a:spcAft>
                <a:spcPts val="0"/>
              </a:spcAft>
              <a:buClr>
                <a:schemeClr val="accent2"/>
              </a:buClr>
              <a:buSzPts val="1800"/>
              <a:buNone/>
              <a:defRPr/>
            </a:lvl6pPr>
            <a:lvl7pPr lvl="6" algn="l">
              <a:lnSpc>
                <a:spcPct val="84000"/>
              </a:lnSpc>
              <a:spcBef>
                <a:spcPts val="0"/>
              </a:spcBef>
              <a:spcAft>
                <a:spcPts val="0"/>
              </a:spcAft>
              <a:buClr>
                <a:schemeClr val="accent2"/>
              </a:buClr>
              <a:buSzPts val="1800"/>
              <a:buNone/>
              <a:defRPr/>
            </a:lvl7pPr>
            <a:lvl8pPr lvl="7" algn="l">
              <a:lnSpc>
                <a:spcPct val="84000"/>
              </a:lnSpc>
              <a:spcBef>
                <a:spcPts val="0"/>
              </a:spcBef>
              <a:spcAft>
                <a:spcPts val="0"/>
              </a:spcAft>
              <a:buClr>
                <a:schemeClr val="accent2"/>
              </a:buClr>
              <a:buSzPts val="1800"/>
              <a:buNone/>
              <a:defRPr/>
            </a:lvl8pPr>
            <a:lvl9pPr lvl="8" algn="l">
              <a:lnSpc>
                <a:spcPct val="84000"/>
              </a:lnSpc>
              <a:spcBef>
                <a:spcPts val="0"/>
              </a:spcBef>
              <a:spcAft>
                <a:spcPts val="0"/>
              </a:spcAft>
              <a:buClr>
                <a:schemeClr val="accent2"/>
              </a:buClr>
              <a:buSzPts val="1800"/>
              <a:buNone/>
              <a:defRPr/>
            </a:lvl9pPr>
          </a:lstStyle>
          <a:p>
            <a:endParaRPr/>
          </a:p>
        </p:txBody>
      </p:sp>
      <p:sp>
        <p:nvSpPr>
          <p:cNvPr id="22" name="Google Shape;22;p3"/>
          <p:cNvSpPr txBox="1">
            <a:spLocks noGrp="1"/>
          </p:cNvSpPr>
          <p:nvPr>
            <p:ph type="body" idx="1"/>
          </p:nvPr>
        </p:nvSpPr>
        <p:spPr>
          <a:xfrm>
            <a:off x="515937" y="1493519"/>
            <a:ext cx="11160128" cy="4672332"/>
          </a:xfrm>
          <a:prstGeom prst="rect">
            <a:avLst/>
          </a:prstGeom>
          <a:noFill/>
          <a:ln>
            <a:noFill/>
          </a:ln>
        </p:spPr>
        <p:txBody>
          <a:bodyPr spcFirstLastPara="1" wrap="square" lIns="0" tIns="0" rIns="0" bIns="0" anchor="t" anchorCtr="0">
            <a:normAutofit/>
          </a:bodyPr>
          <a:lstStyle>
            <a:lvl1pPr marL="457200" lvl="0" indent="-342900" algn="l">
              <a:lnSpc>
                <a:spcPct val="95000"/>
              </a:lnSpc>
              <a:spcBef>
                <a:spcPts val="900"/>
              </a:spcBef>
              <a:spcAft>
                <a:spcPts val="0"/>
              </a:spcAft>
              <a:buClr>
                <a:schemeClr val="accent2"/>
              </a:buClr>
              <a:buSzPts val="1800"/>
              <a:buChar char="•"/>
              <a:defRPr/>
            </a:lvl1pPr>
            <a:lvl2pPr marL="914400" lvl="1" indent="-342900" algn="l">
              <a:lnSpc>
                <a:spcPct val="95000"/>
              </a:lnSpc>
              <a:spcBef>
                <a:spcPts val="900"/>
              </a:spcBef>
              <a:spcAft>
                <a:spcPts val="0"/>
              </a:spcAft>
              <a:buClr>
                <a:schemeClr val="accent2"/>
              </a:buClr>
              <a:buSzPts val="1800"/>
              <a:buChar char="•"/>
              <a:defRPr/>
            </a:lvl2pPr>
            <a:lvl3pPr marL="1371600" lvl="2" indent="-342900" algn="l">
              <a:lnSpc>
                <a:spcPct val="95000"/>
              </a:lnSpc>
              <a:spcBef>
                <a:spcPts val="900"/>
              </a:spcBef>
              <a:spcAft>
                <a:spcPts val="0"/>
              </a:spcAft>
              <a:buClr>
                <a:schemeClr val="accent2"/>
              </a:buClr>
              <a:buSzPts val="1800"/>
              <a:buChar char="•"/>
              <a:defRPr/>
            </a:lvl3pPr>
            <a:lvl4pPr marL="1828800" lvl="3" indent="-342900" algn="l">
              <a:lnSpc>
                <a:spcPct val="95000"/>
              </a:lnSpc>
              <a:spcBef>
                <a:spcPts val="900"/>
              </a:spcBef>
              <a:spcAft>
                <a:spcPts val="0"/>
              </a:spcAft>
              <a:buClr>
                <a:schemeClr val="accent2"/>
              </a:buClr>
              <a:buSzPts val="1800"/>
              <a:buChar char="•"/>
              <a:defRPr/>
            </a:lvl4pPr>
            <a:lvl5pPr marL="2286000" lvl="4" indent="-342900" algn="l">
              <a:lnSpc>
                <a:spcPct val="95000"/>
              </a:lnSpc>
              <a:spcBef>
                <a:spcPts val="900"/>
              </a:spcBef>
              <a:spcAft>
                <a:spcPts val="0"/>
              </a:spcAft>
              <a:buClr>
                <a:schemeClr val="accent2"/>
              </a:buClr>
              <a:buSzPts val="1800"/>
              <a:buChar char="•"/>
              <a:defRPr/>
            </a:lvl5pPr>
            <a:lvl6pPr marL="2743200" lvl="5" indent="-342900" algn="l">
              <a:lnSpc>
                <a:spcPct val="95000"/>
              </a:lnSpc>
              <a:spcBef>
                <a:spcPts val="900"/>
              </a:spcBef>
              <a:spcAft>
                <a:spcPts val="0"/>
              </a:spcAft>
              <a:buClr>
                <a:schemeClr val="accent2"/>
              </a:buClr>
              <a:buSzPts val="1800"/>
              <a:buChar char="•"/>
              <a:defRPr/>
            </a:lvl6pPr>
            <a:lvl7pPr marL="3200400" lvl="6" indent="-342900" algn="l">
              <a:lnSpc>
                <a:spcPct val="95000"/>
              </a:lnSpc>
              <a:spcBef>
                <a:spcPts val="900"/>
              </a:spcBef>
              <a:spcAft>
                <a:spcPts val="0"/>
              </a:spcAft>
              <a:buClr>
                <a:schemeClr val="accent2"/>
              </a:buClr>
              <a:buSzPts val="1800"/>
              <a:buChar char="•"/>
              <a:defRPr/>
            </a:lvl7pPr>
            <a:lvl8pPr marL="3657600" lvl="7" indent="-342900" algn="l">
              <a:lnSpc>
                <a:spcPct val="95000"/>
              </a:lnSpc>
              <a:spcBef>
                <a:spcPts val="900"/>
              </a:spcBef>
              <a:spcAft>
                <a:spcPts val="0"/>
              </a:spcAft>
              <a:buClr>
                <a:schemeClr val="accent2"/>
              </a:buClr>
              <a:buSzPts val="1800"/>
              <a:buChar char="•"/>
              <a:defRPr/>
            </a:lvl8pPr>
            <a:lvl9pPr marL="4114800" lvl="8" indent="-342900" algn="l">
              <a:lnSpc>
                <a:spcPct val="95000"/>
              </a:lnSpc>
              <a:spcBef>
                <a:spcPts val="900"/>
              </a:spcBef>
              <a:spcAft>
                <a:spcPts val="0"/>
              </a:spcAft>
              <a:buClr>
                <a:schemeClr val="accent2"/>
              </a:buClr>
              <a:buSzPts val="1800"/>
              <a:buChar char="•"/>
              <a:defRPr/>
            </a:lvl9pPr>
          </a:lstStyle>
          <a:p>
            <a:endParaRPr/>
          </a:p>
        </p:txBody>
      </p:sp>
      <p:sp>
        <p:nvSpPr>
          <p:cNvPr id="23" name="Google Shape;23;p3"/>
          <p:cNvSpPr txBox="1">
            <a:spLocks noGrp="1"/>
          </p:cNvSpPr>
          <p:nvPr>
            <p:ph type="sldNum" idx="12"/>
          </p:nvPr>
        </p:nvSpPr>
        <p:spPr>
          <a:xfrm>
            <a:off x="0" y="0"/>
            <a:ext cx="348367" cy="370840"/>
          </a:xfrm>
          <a:prstGeom prst="rect">
            <a:avLst/>
          </a:prstGeom>
          <a:noFill/>
          <a:ln>
            <a:noFill/>
          </a:ln>
        </p:spPr>
        <p:txBody>
          <a:bodyPr spcFirstLastPara="1" wrap="square" lIns="45700" tIns="45700" rIns="45700" bIns="45700" anchor="t" anchorCtr="0">
            <a:spAutoFit/>
          </a:bodyPr>
          <a:lstStyle>
            <a:lvl1pPr marL="0" marR="0" lvl="0" indent="0" algn="l">
              <a:lnSpc>
                <a:spcPct val="100000"/>
              </a:lnSpc>
              <a:spcBef>
                <a:spcPts val="0"/>
              </a:spcBef>
              <a:spcAft>
                <a:spcPts val="0"/>
              </a:spcAft>
              <a:buClr>
                <a:srgbClr val="FFFFFF"/>
              </a:buClr>
              <a:buSzPts val="1800"/>
              <a:buFont typeface="Arial"/>
              <a:buNone/>
              <a:defRPr sz="1800">
                <a:solidFill>
                  <a:srgbClr val="FFFFFF"/>
                </a:solidFill>
              </a:defRPr>
            </a:lvl1pPr>
            <a:lvl2pPr marL="0" marR="0" lvl="1" indent="0" algn="l">
              <a:lnSpc>
                <a:spcPct val="100000"/>
              </a:lnSpc>
              <a:spcBef>
                <a:spcPts val="0"/>
              </a:spcBef>
              <a:spcAft>
                <a:spcPts val="0"/>
              </a:spcAft>
              <a:buClr>
                <a:srgbClr val="FFFFFF"/>
              </a:buClr>
              <a:buSzPts val="1800"/>
              <a:buFont typeface="Arial"/>
              <a:buNone/>
              <a:defRPr sz="1800">
                <a:solidFill>
                  <a:srgbClr val="FFFFFF"/>
                </a:solidFill>
              </a:defRPr>
            </a:lvl2pPr>
            <a:lvl3pPr marL="0" marR="0" lvl="2" indent="0" algn="l">
              <a:lnSpc>
                <a:spcPct val="100000"/>
              </a:lnSpc>
              <a:spcBef>
                <a:spcPts val="0"/>
              </a:spcBef>
              <a:spcAft>
                <a:spcPts val="0"/>
              </a:spcAft>
              <a:buClr>
                <a:srgbClr val="FFFFFF"/>
              </a:buClr>
              <a:buSzPts val="1800"/>
              <a:buFont typeface="Arial"/>
              <a:buNone/>
              <a:defRPr sz="1800">
                <a:solidFill>
                  <a:srgbClr val="FFFFFF"/>
                </a:solidFill>
              </a:defRPr>
            </a:lvl3pPr>
            <a:lvl4pPr marL="0" marR="0" lvl="3" indent="0" algn="l">
              <a:lnSpc>
                <a:spcPct val="100000"/>
              </a:lnSpc>
              <a:spcBef>
                <a:spcPts val="0"/>
              </a:spcBef>
              <a:spcAft>
                <a:spcPts val="0"/>
              </a:spcAft>
              <a:buClr>
                <a:srgbClr val="FFFFFF"/>
              </a:buClr>
              <a:buSzPts val="1800"/>
              <a:buFont typeface="Arial"/>
              <a:buNone/>
              <a:defRPr sz="1800">
                <a:solidFill>
                  <a:srgbClr val="FFFFFF"/>
                </a:solidFill>
              </a:defRPr>
            </a:lvl4pPr>
            <a:lvl5pPr marL="0" marR="0" lvl="4" indent="0" algn="l">
              <a:lnSpc>
                <a:spcPct val="100000"/>
              </a:lnSpc>
              <a:spcBef>
                <a:spcPts val="0"/>
              </a:spcBef>
              <a:spcAft>
                <a:spcPts val="0"/>
              </a:spcAft>
              <a:buClr>
                <a:srgbClr val="FFFFFF"/>
              </a:buClr>
              <a:buSzPts val="1800"/>
              <a:buFont typeface="Arial"/>
              <a:buNone/>
              <a:defRPr sz="1800">
                <a:solidFill>
                  <a:srgbClr val="FFFFFF"/>
                </a:solidFill>
              </a:defRPr>
            </a:lvl5pPr>
            <a:lvl6pPr marL="0" marR="0" lvl="5" indent="0" algn="l">
              <a:lnSpc>
                <a:spcPct val="100000"/>
              </a:lnSpc>
              <a:spcBef>
                <a:spcPts val="0"/>
              </a:spcBef>
              <a:spcAft>
                <a:spcPts val="0"/>
              </a:spcAft>
              <a:buClr>
                <a:srgbClr val="FFFFFF"/>
              </a:buClr>
              <a:buSzPts val="1800"/>
              <a:buFont typeface="Arial"/>
              <a:buNone/>
              <a:defRPr sz="1800">
                <a:solidFill>
                  <a:srgbClr val="FFFFFF"/>
                </a:solidFill>
              </a:defRPr>
            </a:lvl6pPr>
            <a:lvl7pPr marL="0" marR="0" lvl="6" indent="0" algn="l">
              <a:lnSpc>
                <a:spcPct val="100000"/>
              </a:lnSpc>
              <a:spcBef>
                <a:spcPts val="0"/>
              </a:spcBef>
              <a:spcAft>
                <a:spcPts val="0"/>
              </a:spcAft>
              <a:buClr>
                <a:srgbClr val="FFFFFF"/>
              </a:buClr>
              <a:buSzPts val="1800"/>
              <a:buFont typeface="Arial"/>
              <a:buNone/>
              <a:defRPr sz="1800">
                <a:solidFill>
                  <a:srgbClr val="FFFFFF"/>
                </a:solidFill>
              </a:defRPr>
            </a:lvl7pPr>
            <a:lvl8pPr marL="0" marR="0" lvl="7" indent="0" algn="l">
              <a:lnSpc>
                <a:spcPct val="100000"/>
              </a:lnSpc>
              <a:spcBef>
                <a:spcPts val="0"/>
              </a:spcBef>
              <a:spcAft>
                <a:spcPts val="0"/>
              </a:spcAft>
              <a:buClr>
                <a:srgbClr val="FFFFFF"/>
              </a:buClr>
              <a:buSzPts val="1800"/>
              <a:buFont typeface="Arial"/>
              <a:buNone/>
              <a:defRPr sz="1800">
                <a:solidFill>
                  <a:srgbClr val="FFFFFF"/>
                </a:solidFill>
              </a:defRPr>
            </a:lvl8pPr>
            <a:lvl9pPr marL="0" marR="0" lvl="8" indent="0" algn="l">
              <a:lnSpc>
                <a:spcPct val="100000"/>
              </a:lnSpc>
              <a:spcBef>
                <a:spcPts val="0"/>
              </a:spcBef>
              <a:spcAft>
                <a:spcPts val="0"/>
              </a:spcAft>
              <a:buClr>
                <a:srgbClr val="FFFFFF"/>
              </a:buClr>
              <a:buSzPts val="1800"/>
              <a:buFont typeface="Arial"/>
              <a:buNone/>
              <a:defRPr sz="1800">
                <a:solidFill>
                  <a:srgbClr val="FFFFFF"/>
                </a:solidFill>
              </a:defRPr>
            </a:lvl9pPr>
          </a:lstStyle>
          <a:p>
            <a:pPr marL="0" lvl="0" indent="0" algn="l" rtl="0">
              <a:spcBef>
                <a:spcPts val="0"/>
              </a:spcBef>
              <a:spcAft>
                <a:spcPts val="0"/>
              </a:spcAft>
              <a:buNone/>
            </a:pPr>
            <a:fld id="{00000000-1234-1234-1234-123412341234}" type="slidenum">
              <a:rPr lang="en-US"/>
              <a:t>‹#›</a:t>
            </a:fld>
            <a:endParaRPr sz="800">
              <a:solidFill>
                <a:schemeClr val="accent2"/>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Divider_Dark Blue">
  <p:cSld name="Divider_Dark Blue">
    <p:bg>
      <p:bgPr>
        <a:solidFill>
          <a:schemeClr val="accent2"/>
        </a:solidFill>
        <a:effectLst/>
      </p:bgPr>
    </p:bg>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515937" y="2673350"/>
            <a:ext cx="7056439" cy="1795556"/>
          </a:xfrm>
          <a:prstGeom prst="rect">
            <a:avLst/>
          </a:prstGeom>
          <a:noFill/>
          <a:ln>
            <a:noFill/>
          </a:ln>
        </p:spPr>
        <p:txBody>
          <a:bodyPr spcFirstLastPara="1" wrap="square" lIns="0" tIns="0" rIns="0" bIns="0" anchor="ctr" anchorCtr="0">
            <a:normAutofit/>
          </a:bodyPr>
          <a:lstStyle>
            <a:lvl1pPr lvl="0" algn="l">
              <a:lnSpc>
                <a:spcPct val="80000"/>
              </a:lnSpc>
              <a:spcBef>
                <a:spcPts val="0"/>
              </a:spcBef>
              <a:spcAft>
                <a:spcPts val="0"/>
              </a:spcAft>
              <a:buClr>
                <a:srgbClr val="FFFFFF"/>
              </a:buClr>
              <a:buSzPts val="4800"/>
              <a:buFont typeface="Arial"/>
              <a:buNone/>
              <a:defRPr sz="4800">
                <a:solidFill>
                  <a:srgbClr val="FFFFFF"/>
                </a:solidFill>
                <a:latin typeface="Arial"/>
                <a:ea typeface="Arial"/>
                <a:cs typeface="Arial"/>
                <a:sym typeface="Arial"/>
              </a:defRPr>
            </a:lvl1pPr>
            <a:lvl2pPr lvl="1" algn="l">
              <a:lnSpc>
                <a:spcPct val="84000"/>
              </a:lnSpc>
              <a:spcBef>
                <a:spcPts val="0"/>
              </a:spcBef>
              <a:spcAft>
                <a:spcPts val="0"/>
              </a:spcAft>
              <a:buClr>
                <a:schemeClr val="accent2"/>
              </a:buClr>
              <a:buSzPts val="1800"/>
              <a:buNone/>
              <a:defRPr/>
            </a:lvl2pPr>
            <a:lvl3pPr lvl="2" algn="l">
              <a:lnSpc>
                <a:spcPct val="84000"/>
              </a:lnSpc>
              <a:spcBef>
                <a:spcPts val="0"/>
              </a:spcBef>
              <a:spcAft>
                <a:spcPts val="0"/>
              </a:spcAft>
              <a:buClr>
                <a:schemeClr val="accent2"/>
              </a:buClr>
              <a:buSzPts val="1800"/>
              <a:buNone/>
              <a:defRPr/>
            </a:lvl3pPr>
            <a:lvl4pPr lvl="3" algn="l">
              <a:lnSpc>
                <a:spcPct val="84000"/>
              </a:lnSpc>
              <a:spcBef>
                <a:spcPts val="0"/>
              </a:spcBef>
              <a:spcAft>
                <a:spcPts val="0"/>
              </a:spcAft>
              <a:buClr>
                <a:schemeClr val="accent2"/>
              </a:buClr>
              <a:buSzPts val="1800"/>
              <a:buNone/>
              <a:defRPr/>
            </a:lvl4pPr>
            <a:lvl5pPr lvl="4" algn="l">
              <a:lnSpc>
                <a:spcPct val="84000"/>
              </a:lnSpc>
              <a:spcBef>
                <a:spcPts val="0"/>
              </a:spcBef>
              <a:spcAft>
                <a:spcPts val="0"/>
              </a:spcAft>
              <a:buClr>
                <a:schemeClr val="accent2"/>
              </a:buClr>
              <a:buSzPts val="1800"/>
              <a:buNone/>
              <a:defRPr/>
            </a:lvl5pPr>
            <a:lvl6pPr lvl="5" algn="l">
              <a:lnSpc>
                <a:spcPct val="84000"/>
              </a:lnSpc>
              <a:spcBef>
                <a:spcPts val="0"/>
              </a:spcBef>
              <a:spcAft>
                <a:spcPts val="0"/>
              </a:spcAft>
              <a:buClr>
                <a:schemeClr val="accent2"/>
              </a:buClr>
              <a:buSzPts val="1800"/>
              <a:buNone/>
              <a:defRPr/>
            </a:lvl6pPr>
            <a:lvl7pPr lvl="6" algn="l">
              <a:lnSpc>
                <a:spcPct val="84000"/>
              </a:lnSpc>
              <a:spcBef>
                <a:spcPts val="0"/>
              </a:spcBef>
              <a:spcAft>
                <a:spcPts val="0"/>
              </a:spcAft>
              <a:buClr>
                <a:schemeClr val="accent2"/>
              </a:buClr>
              <a:buSzPts val="1800"/>
              <a:buNone/>
              <a:defRPr/>
            </a:lvl7pPr>
            <a:lvl8pPr lvl="7" algn="l">
              <a:lnSpc>
                <a:spcPct val="84000"/>
              </a:lnSpc>
              <a:spcBef>
                <a:spcPts val="0"/>
              </a:spcBef>
              <a:spcAft>
                <a:spcPts val="0"/>
              </a:spcAft>
              <a:buClr>
                <a:schemeClr val="accent2"/>
              </a:buClr>
              <a:buSzPts val="1800"/>
              <a:buNone/>
              <a:defRPr/>
            </a:lvl8pPr>
            <a:lvl9pPr lvl="8" algn="l">
              <a:lnSpc>
                <a:spcPct val="84000"/>
              </a:lnSpc>
              <a:spcBef>
                <a:spcPts val="0"/>
              </a:spcBef>
              <a:spcAft>
                <a:spcPts val="0"/>
              </a:spcAft>
              <a:buClr>
                <a:schemeClr val="accent2"/>
              </a:buClr>
              <a:buSzPts val="1800"/>
              <a:buNone/>
              <a:defRPr/>
            </a:lvl9pPr>
          </a:lstStyle>
          <a:p>
            <a:endParaRPr/>
          </a:p>
        </p:txBody>
      </p:sp>
      <p:sp>
        <p:nvSpPr>
          <p:cNvPr id="26" name="Google Shape;26;p4"/>
          <p:cNvSpPr txBox="1">
            <a:spLocks noGrp="1"/>
          </p:cNvSpPr>
          <p:nvPr>
            <p:ph type="sldNum" idx="12"/>
          </p:nvPr>
        </p:nvSpPr>
        <p:spPr>
          <a:xfrm>
            <a:off x="5892800" y="6172200"/>
            <a:ext cx="2844800" cy="3683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FFFFFF"/>
              </a:buClr>
              <a:buSzPts val="1200"/>
              <a:buFont typeface="Arial"/>
              <a:buNone/>
              <a:defRPr sz="1200">
                <a:solidFill>
                  <a:srgbClr val="FFFFFF"/>
                </a:solidFill>
              </a:defRPr>
            </a:lvl1pPr>
            <a:lvl2pPr marL="0" marR="0" lvl="1" indent="0" algn="r">
              <a:lnSpc>
                <a:spcPct val="100000"/>
              </a:lnSpc>
              <a:spcBef>
                <a:spcPts val="0"/>
              </a:spcBef>
              <a:spcAft>
                <a:spcPts val="0"/>
              </a:spcAft>
              <a:buClr>
                <a:srgbClr val="FFFFFF"/>
              </a:buClr>
              <a:buSzPts val="1200"/>
              <a:buFont typeface="Arial"/>
              <a:buNone/>
              <a:defRPr sz="1200">
                <a:solidFill>
                  <a:srgbClr val="FFFFFF"/>
                </a:solidFill>
              </a:defRPr>
            </a:lvl2pPr>
            <a:lvl3pPr marL="0" marR="0" lvl="2" indent="0" algn="r">
              <a:lnSpc>
                <a:spcPct val="100000"/>
              </a:lnSpc>
              <a:spcBef>
                <a:spcPts val="0"/>
              </a:spcBef>
              <a:spcAft>
                <a:spcPts val="0"/>
              </a:spcAft>
              <a:buClr>
                <a:srgbClr val="FFFFFF"/>
              </a:buClr>
              <a:buSzPts val="1200"/>
              <a:buFont typeface="Arial"/>
              <a:buNone/>
              <a:defRPr sz="1200">
                <a:solidFill>
                  <a:srgbClr val="FFFFFF"/>
                </a:solidFill>
              </a:defRPr>
            </a:lvl3pPr>
            <a:lvl4pPr marL="0" marR="0" lvl="3" indent="0" algn="r">
              <a:lnSpc>
                <a:spcPct val="100000"/>
              </a:lnSpc>
              <a:spcBef>
                <a:spcPts val="0"/>
              </a:spcBef>
              <a:spcAft>
                <a:spcPts val="0"/>
              </a:spcAft>
              <a:buClr>
                <a:srgbClr val="FFFFFF"/>
              </a:buClr>
              <a:buSzPts val="1200"/>
              <a:buFont typeface="Arial"/>
              <a:buNone/>
              <a:defRPr sz="1200">
                <a:solidFill>
                  <a:srgbClr val="FFFFFF"/>
                </a:solidFill>
              </a:defRPr>
            </a:lvl4pPr>
            <a:lvl5pPr marL="0" marR="0" lvl="4" indent="0" algn="r">
              <a:lnSpc>
                <a:spcPct val="100000"/>
              </a:lnSpc>
              <a:spcBef>
                <a:spcPts val="0"/>
              </a:spcBef>
              <a:spcAft>
                <a:spcPts val="0"/>
              </a:spcAft>
              <a:buClr>
                <a:srgbClr val="FFFFFF"/>
              </a:buClr>
              <a:buSzPts val="1200"/>
              <a:buFont typeface="Arial"/>
              <a:buNone/>
              <a:defRPr sz="1200">
                <a:solidFill>
                  <a:srgbClr val="FFFFFF"/>
                </a:solidFill>
              </a:defRPr>
            </a:lvl5pPr>
            <a:lvl6pPr marL="0" marR="0" lvl="5" indent="0" algn="r">
              <a:lnSpc>
                <a:spcPct val="100000"/>
              </a:lnSpc>
              <a:spcBef>
                <a:spcPts val="0"/>
              </a:spcBef>
              <a:spcAft>
                <a:spcPts val="0"/>
              </a:spcAft>
              <a:buClr>
                <a:srgbClr val="FFFFFF"/>
              </a:buClr>
              <a:buSzPts val="1200"/>
              <a:buFont typeface="Arial"/>
              <a:buNone/>
              <a:defRPr sz="1200">
                <a:solidFill>
                  <a:srgbClr val="FFFFFF"/>
                </a:solidFill>
              </a:defRPr>
            </a:lvl6pPr>
            <a:lvl7pPr marL="0" marR="0" lvl="6" indent="0" algn="r">
              <a:lnSpc>
                <a:spcPct val="100000"/>
              </a:lnSpc>
              <a:spcBef>
                <a:spcPts val="0"/>
              </a:spcBef>
              <a:spcAft>
                <a:spcPts val="0"/>
              </a:spcAft>
              <a:buClr>
                <a:srgbClr val="FFFFFF"/>
              </a:buClr>
              <a:buSzPts val="1200"/>
              <a:buFont typeface="Arial"/>
              <a:buNone/>
              <a:defRPr sz="1200">
                <a:solidFill>
                  <a:srgbClr val="FFFFFF"/>
                </a:solidFill>
              </a:defRPr>
            </a:lvl7pPr>
            <a:lvl8pPr marL="0" marR="0" lvl="7" indent="0" algn="r">
              <a:lnSpc>
                <a:spcPct val="100000"/>
              </a:lnSpc>
              <a:spcBef>
                <a:spcPts val="0"/>
              </a:spcBef>
              <a:spcAft>
                <a:spcPts val="0"/>
              </a:spcAft>
              <a:buClr>
                <a:srgbClr val="FFFFFF"/>
              </a:buClr>
              <a:buSzPts val="1200"/>
              <a:buFont typeface="Arial"/>
              <a:buNone/>
              <a:defRPr sz="1200">
                <a:solidFill>
                  <a:srgbClr val="FFFFFF"/>
                </a:solidFill>
              </a:defRPr>
            </a:lvl8pPr>
            <a:lvl9pPr marL="0" marR="0" lvl="8" indent="0" algn="r">
              <a:lnSpc>
                <a:spcPct val="100000"/>
              </a:lnSpc>
              <a:spcBef>
                <a:spcPts val="0"/>
              </a:spcBef>
              <a:spcAft>
                <a:spcPts val="0"/>
              </a:spcAft>
              <a:buClr>
                <a:srgbClr val="FFFFFF"/>
              </a:buClr>
              <a:buSzPts val="1200"/>
              <a:buFont typeface="Arial"/>
              <a:buNone/>
              <a:defRPr sz="1200">
                <a:solidFill>
                  <a:srgbClr val="FFFFFF"/>
                </a:solidFill>
              </a:defRPr>
            </a:lvl9pPr>
          </a:lstStyle>
          <a:p>
            <a:pPr marL="0" lvl="0" indent="0" algn="r" rtl="0">
              <a:spcBef>
                <a:spcPts val="0"/>
              </a:spcBef>
              <a:spcAft>
                <a:spcPts val="0"/>
              </a:spcAft>
              <a:buNone/>
            </a:pPr>
            <a:fld id="{00000000-1234-1234-1234-123412341234}" type="slidenum">
              <a:rPr lang="en-US"/>
              <a:t>‹#›</a:t>
            </a:fld>
            <a:endParaRPr sz="800">
              <a:solidFill>
                <a:schemeClr val="accent2"/>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hank you_Dark Blue">
  <p:cSld name="Thank you_Dark Blue">
    <p:bg>
      <p:bgPr>
        <a:solidFill>
          <a:schemeClr val="accent2"/>
        </a:solidFill>
        <a:effectLst/>
      </p:bgPr>
    </p:bg>
    <p:spTree>
      <p:nvGrpSpPr>
        <p:cNvPr id="1" name="Shape 27"/>
        <p:cNvGrpSpPr/>
        <p:nvPr/>
      </p:nvGrpSpPr>
      <p:grpSpPr>
        <a:xfrm>
          <a:off x="0" y="0"/>
          <a:ext cx="0" cy="0"/>
          <a:chOff x="0" y="0"/>
          <a:chExt cx="0" cy="0"/>
        </a:xfrm>
      </p:grpSpPr>
      <p:sp>
        <p:nvSpPr>
          <p:cNvPr id="28" name="Google Shape;28;p5"/>
          <p:cNvSpPr txBox="1">
            <a:spLocks noGrp="1"/>
          </p:cNvSpPr>
          <p:nvPr>
            <p:ph type="sldNum" idx="12"/>
          </p:nvPr>
        </p:nvSpPr>
        <p:spPr>
          <a:xfrm>
            <a:off x="11676063" y="6397973"/>
            <a:ext cx="127001" cy="127001"/>
          </a:xfrm>
          <a:prstGeom prst="rect">
            <a:avLst/>
          </a:prstGeom>
          <a:noFill/>
          <a:ln>
            <a:noFill/>
          </a:ln>
        </p:spPr>
        <p:txBody>
          <a:bodyPr spcFirstLastPara="1" wrap="square" lIns="0" tIns="0" rIns="0" bIns="0" anchor="b" anchorCtr="0">
            <a:spAutoFit/>
          </a:bodyPr>
          <a:lstStyle>
            <a:lvl1pPr marL="0" lvl="0" indent="0" algn="l">
              <a:lnSpc>
                <a:spcPct val="125000"/>
              </a:lnSpc>
              <a:spcBef>
                <a:spcPts val="0"/>
              </a:spcBef>
              <a:spcAft>
                <a:spcPts val="0"/>
              </a:spcAft>
              <a:buClr>
                <a:schemeClr val="accent2"/>
              </a:buClr>
              <a:buSzPts val="800"/>
              <a:buFont typeface="Arial"/>
              <a:buNone/>
              <a:defRPr sz="800">
                <a:solidFill>
                  <a:schemeClr val="accent2"/>
                </a:solidFill>
              </a:defRPr>
            </a:lvl1pPr>
            <a:lvl2pPr marL="0" lvl="1" indent="0" algn="l">
              <a:lnSpc>
                <a:spcPct val="125000"/>
              </a:lnSpc>
              <a:spcBef>
                <a:spcPts val="0"/>
              </a:spcBef>
              <a:spcAft>
                <a:spcPts val="0"/>
              </a:spcAft>
              <a:buClr>
                <a:schemeClr val="accent2"/>
              </a:buClr>
              <a:buSzPts val="800"/>
              <a:buFont typeface="Arial"/>
              <a:buNone/>
              <a:defRPr sz="800">
                <a:solidFill>
                  <a:schemeClr val="accent2"/>
                </a:solidFill>
              </a:defRPr>
            </a:lvl2pPr>
            <a:lvl3pPr marL="0" lvl="2" indent="0" algn="l">
              <a:lnSpc>
                <a:spcPct val="125000"/>
              </a:lnSpc>
              <a:spcBef>
                <a:spcPts val="0"/>
              </a:spcBef>
              <a:spcAft>
                <a:spcPts val="0"/>
              </a:spcAft>
              <a:buClr>
                <a:schemeClr val="accent2"/>
              </a:buClr>
              <a:buSzPts val="800"/>
              <a:buFont typeface="Arial"/>
              <a:buNone/>
              <a:defRPr sz="800">
                <a:solidFill>
                  <a:schemeClr val="accent2"/>
                </a:solidFill>
              </a:defRPr>
            </a:lvl3pPr>
            <a:lvl4pPr marL="0" lvl="3" indent="0" algn="l">
              <a:lnSpc>
                <a:spcPct val="125000"/>
              </a:lnSpc>
              <a:spcBef>
                <a:spcPts val="0"/>
              </a:spcBef>
              <a:spcAft>
                <a:spcPts val="0"/>
              </a:spcAft>
              <a:buClr>
                <a:schemeClr val="accent2"/>
              </a:buClr>
              <a:buSzPts val="800"/>
              <a:buFont typeface="Arial"/>
              <a:buNone/>
              <a:defRPr sz="800">
                <a:solidFill>
                  <a:schemeClr val="accent2"/>
                </a:solidFill>
              </a:defRPr>
            </a:lvl4pPr>
            <a:lvl5pPr marL="0" lvl="4" indent="0" algn="l">
              <a:lnSpc>
                <a:spcPct val="125000"/>
              </a:lnSpc>
              <a:spcBef>
                <a:spcPts val="0"/>
              </a:spcBef>
              <a:spcAft>
                <a:spcPts val="0"/>
              </a:spcAft>
              <a:buClr>
                <a:schemeClr val="accent2"/>
              </a:buClr>
              <a:buSzPts val="800"/>
              <a:buFont typeface="Arial"/>
              <a:buNone/>
              <a:defRPr sz="800">
                <a:solidFill>
                  <a:schemeClr val="accent2"/>
                </a:solidFill>
              </a:defRPr>
            </a:lvl5pPr>
            <a:lvl6pPr marL="0" lvl="5" indent="0" algn="l">
              <a:lnSpc>
                <a:spcPct val="125000"/>
              </a:lnSpc>
              <a:spcBef>
                <a:spcPts val="0"/>
              </a:spcBef>
              <a:spcAft>
                <a:spcPts val="0"/>
              </a:spcAft>
              <a:buClr>
                <a:schemeClr val="accent2"/>
              </a:buClr>
              <a:buSzPts val="800"/>
              <a:buFont typeface="Arial"/>
              <a:buNone/>
              <a:defRPr sz="800">
                <a:solidFill>
                  <a:schemeClr val="accent2"/>
                </a:solidFill>
              </a:defRPr>
            </a:lvl6pPr>
            <a:lvl7pPr marL="0" lvl="6" indent="0" algn="l">
              <a:lnSpc>
                <a:spcPct val="125000"/>
              </a:lnSpc>
              <a:spcBef>
                <a:spcPts val="0"/>
              </a:spcBef>
              <a:spcAft>
                <a:spcPts val="0"/>
              </a:spcAft>
              <a:buClr>
                <a:schemeClr val="accent2"/>
              </a:buClr>
              <a:buSzPts val="800"/>
              <a:buFont typeface="Arial"/>
              <a:buNone/>
              <a:defRPr sz="800">
                <a:solidFill>
                  <a:schemeClr val="accent2"/>
                </a:solidFill>
              </a:defRPr>
            </a:lvl7pPr>
            <a:lvl8pPr marL="0" lvl="7" indent="0" algn="l">
              <a:lnSpc>
                <a:spcPct val="125000"/>
              </a:lnSpc>
              <a:spcBef>
                <a:spcPts val="0"/>
              </a:spcBef>
              <a:spcAft>
                <a:spcPts val="0"/>
              </a:spcAft>
              <a:buClr>
                <a:schemeClr val="accent2"/>
              </a:buClr>
              <a:buSzPts val="800"/>
              <a:buFont typeface="Arial"/>
              <a:buNone/>
              <a:defRPr sz="800">
                <a:solidFill>
                  <a:schemeClr val="accent2"/>
                </a:solidFill>
              </a:defRPr>
            </a:lvl8pPr>
            <a:lvl9pPr marL="0" lvl="8" indent="0" algn="l">
              <a:lnSpc>
                <a:spcPct val="125000"/>
              </a:lnSpc>
              <a:spcBef>
                <a:spcPts val="0"/>
              </a:spcBef>
              <a:spcAft>
                <a:spcPts val="0"/>
              </a:spcAft>
              <a:buClr>
                <a:schemeClr val="accent2"/>
              </a:buClr>
              <a:buSzPts val="800"/>
              <a:buFont typeface="Arial"/>
              <a:buNone/>
              <a:defRPr sz="800">
                <a:solidFill>
                  <a:schemeClr val="accent2"/>
                </a:solidFill>
              </a:defRPr>
            </a:lvl9pPr>
          </a:lstStyle>
          <a:p>
            <a:pPr marL="0" lvl="0" indent="0" algn="l" rtl="0">
              <a:spcBef>
                <a:spcPts val="0"/>
              </a:spcBef>
              <a:spcAft>
                <a:spcPts val="0"/>
              </a:spcAft>
              <a:buNone/>
            </a:pPr>
            <a:fld id="{00000000-1234-1234-1234-123412341234}" type="slidenum">
              <a:rPr lang="en-US"/>
              <a:t>‹#›</a:t>
            </a:fld>
            <a:endParaRPr/>
          </a:p>
        </p:txBody>
      </p:sp>
      <p:sp>
        <p:nvSpPr>
          <p:cNvPr id="29" name="Google Shape;29;p5"/>
          <p:cNvSpPr txBox="1"/>
          <p:nvPr/>
        </p:nvSpPr>
        <p:spPr>
          <a:xfrm>
            <a:off x="6773074" y="6386480"/>
            <a:ext cx="4765550" cy="127001"/>
          </a:xfrm>
          <a:prstGeom prst="rect">
            <a:avLst/>
          </a:prstGeom>
          <a:noFill/>
          <a:ln>
            <a:noFill/>
          </a:ln>
        </p:spPr>
        <p:txBody>
          <a:bodyPr spcFirstLastPara="1" wrap="square" lIns="0" tIns="0" rIns="0" bIns="0" anchor="b" anchorCtr="0">
            <a:spAutoFit/>
          </a:bodyPr>
          <a:lstStyle/>
          <a:p>
            <a:pPr marL="0" marR="0" lvl="0" indent="0" algn="r" rtl="0">
              <a:lnSpc>
                <a:spcPct val="95000"/>
              </a:lnSpc>
              <a:spcBef>
                <a:spcPts val="0"/>
              </a:spcBef>
              <a:spcAft>
                <a:spcPts val="0"/>
              </a:spcAft>
              <a:buClr>
                <a:schemeClr val="accent2"/>
              </a:buClr>
              <a:buSzPts val="800"/>
              <a:buFont typeface="Arial"/>
              <a:buNone/>
            </a:pPr>
            <a:r>
              <a:rPr lang="en-US" sz="800" b="0" i="0" u="none" strike="noStrike" cap="none">
                <a:solidFill>
                  <a:schemeClr val="accent2"/>
                </a:solidFill>
                <a:latin typeface="Arial"/>
                <a:ea typeface="Arial"/>
                <a:cs typeface="Arial"/>
                <a:sym typeface="Arial"/>
              </a:rPr>
              <a:t>Non-Confidential</a:t>
            </a:r>
            <a:endParaRPr/>
          </a:p>
        </p:txBody>
      </p:sp>
      <p:sp>
        <p:nvSpPr>
          <p:cNvPr id="30" name="Google Shape;30;p5"/>
          <p:cNvSpPr txBox="1"/>
          <p:nvPr/>
        </p:nvSpPr>
        <p:spPr>
          <a:xfrm>
            <a:off x="343608" y="2435884"/>
            <a:ext cx="8725781" cy="1485901"/>
          </a:xfrm>
          <a:prstGeom prst="rect">
            <a:avLst/>
          </a:prstGeom>
          <a:noFill/>
          <a:ln>
            <a:noFill/>
          </a:ln>
        </p:spPr>
        <p:txBody>
          <a:bodyPr spcFirstLastPara="1" wrap="square" lIns="0" tIns="0" rIns="0" bIns="0" anchor="t" anchorCtr="0">
            <a:spAutoFit/>
          </a:bodyPr>
          <a:lstStyle/>
          <a:p>
            <a:pPr marL="0" marR="0" lvl="0" indent="0" algn="l" rtl="0">
              <a:lnSpc>
                <a:spcPct val="87000"/>
              </a:lnSpc>
              <a:spcBef>
                <a:spcPts val="0"/>
              </a:spcBef>
              <a:spcAft>
                <a:spcPts val="0"/>
              </a:spcAft>
              <a:buClr>
                <a:srgbClr val="FFFFFF"/>
              </a:buClr>
              <a:buSzPts val="9600"/>
              <a:buFont typeface="Arial"/>
              <a:buNone/>
            </a:pPr>
            <a:r>
              <a:rPr lang="en-US" sz="9600" b="0" i="0" u="none" strike="noStrike" cap="none">
                <a:solidFill>
                  <a:srgbClr val="FFFFFF"/>
                </a:solidFill>
                <a:latin typeface="Arial"/>
                <a:ea typeface="Arial"/>
                <a:cs typeface="Arial"/>
                <a:sym typeface="Arial"/>
              </a:rPr>
              <a:t>Thank  you</a:t>
            </a:r>
            <a:endParaRPr/>
          </a:p>
        </p:txBody>
      </p:sp>
      <p:sp>
        <p:nvSpPr>
          <p:cNvPr id="31" name="Google Shape;31;p5"/>
          <p:cNvSpPr txBox="1"/>
          <p:nvPr/>
        </p:nvSpPr>
        <p:spPr>
          <a:xfrm>
            <a:off x="480926" y="4751063"/>
            <a:ext cx="4172355" cy="101600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FFFF"/>
              </a:buClr>
              <a:buSzPts val="600"/>
              <a:buFont typeface="Arial"/>
              <a:buNone/>
            </a:pPr>
            <a:r>
              <a:rPr lang="en-US" sz="600" b="0" i="0" u="none" strike="noStrike" cap="none">
                <a:solidFill>
                  <a:srgbClr val="FFFFFF"/>
                </a:solidFill>
                <a:latin typeface="Arial"/>
                <a:ea typeface="Arial"/>
                <a:cs typeface="Arial"/>
                <a:sym typeface="Arial"/>
              </a:rPr>
              <a:t>References in this presentation to “Qualcomm” may mean Qualcomm Incorporated,</a:t>
            </a:r>
            <a:br>
              <a:rPr lang="en-US" sz="600" b="0" i="0" u="none" strike="noStrike" cap="none">
                <a:solidFill>
                  <a:srgbClr val="FFFFFF"/>
                </a:solidFill>
                <a:latin typeface="Arial"/>
                <a:ea typeface="Arial"/>
                <a:cs typeface="Arial"/>
                <a:sym typeface="Arial"/>
              </a:rPr>
            </a:br>
            <a:r>
              <a:rPr lang="en-US" sz="600" b="0" i="0" u="none" strike="noStrike" cap="none">
                <a:solidFill>
                  <a:srgbClr val="FFFFFF"/>
                </a:solidFill>
                <a:latin typeface="Arial"/>
                <a:ea typeface="Arial"/>
                <a:cs typeface="Arial"/>
                <a:sym typeface="Arial"/>
              </a:rPr>
              <a:t>Qualcomm Technologies, Inc., and/or other subsidiaries or business units within</a:t>
            </a:r>
            <a:br>
              <a:rPr lang="en-US" sz="600" b="0" i="0" u="none" strike="noStrike" cap="none">
                <a:solidFill>
                  <a:srgbClr val="FFFFFF"/>
                </a:solidFill>
                <a:latin typeface="Arial"/>
                <a:ea typeface="Arial"/>
                <a:cs typeface="Arial"/>
                <a:sym typeface="Arial"/>
              </a:rPr>
            </a:br>
            <a:r>
              <a:rPr lang="en-US" sz="600" b="0" i="0" u="none" strike="noStrike" cap="none">
                <a:solidFill>
                  <a:srgbClr val="FFFFFF"/>
                </a:solidFill>
                <a:latin typeface="Arial"/>
                <a:ea typeface="Arial"/>
                <a:cs typeface="Arial"/>
                <a:sym typeface="Arial"/>
              </a:rPr>
              <a:t>the Qualcomm corporate structure, as applicable. Qualcomm Incorporated includes our licensing business, QTL, and the vast majority of our patent portfolio. Qualcomm Technologies, Inc., a subsidiary of Qualcomm Incorporated, operates, along with its subsidiaries, substantially all of our engineering, research and development functions, and substantially all of our products and services businesses, including our QCT semiconductor business. </a:t>
            </a:r>
            <a:endParaRPr/>
          </a:p>
          <a:p>
            <a:pPr marL="0" marR="0" lvl="0" indent="0" algn="l" rtl="0">
              <a:lnSpc>
                <a:spcPct val="100000"/>
              </a:lnSpc>
              <a:spcBef>
                <a:spcPts val="400"/>
              </a:spcBef>
              <a:spcAft>
                <a:spcPts val="0"/>
              </a:spcAft>
              <a:buClr>
                <a:srgbClr val="FFFFFF"/>
              </a:buClr>
              <a:buSzPts val="600"/>
              <a:buFont typeface="Arial"/>
              <a:buNone/>
            </a:pPr>
            <a:r>
              <a:rPr lang="en-US" sz="600" b="0" i="0" u="none" strike="noStrike" cap="none">
                <a:solidFill>
                  <a:srgbClr val="FFFFFF"/>
                </a:solidFill>
                <a:latin typeface="Arial"/>
                <a:ea typeface="Arial"/>
                <a:cs typeface="Arial"/>
                <a:sym typeface="Arial"/>
              </a:rPr>
              <a:t>Snapdragon and Qualcomm branded products are products of Qualcomm Technologies, Inc. and/or its subsidiaries. Qualcomm patented technologies are licensed by Qualcomm Incorporated.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Holding slide_Dark Blue">
  <p:cSld name="Holding slide_Dark Blue">
    <p:spTree>
      <p:nvGrpSpPr>
        <p:cNvPr id="1" name="Shape 32"/>
        <p:cNvGrpSpPr/>
        <p:nvPr/>
      </p:nvGrpSpPr>
      <p:grpSpPr>
        <a:xfrm>
          <a:off x="0" y="0"/>
          <a:ext cx="0" cy="0"/>
          <a:chOff x="0" y="0"/>
          <a:chExt cx="0" cy="0"/>
        </a:xfrm>
      </p:grpSpPr>
      <p:sp>
        <p:nvSpPr>
          <p:cNvPr id="33" name="Google Shape;33;p6"/>
          <p:cNvSpPr txBox="1">
            <a:spLocks noGrp="1"/>
          </p:cNvSpPr>
          <p:nvPr>
            <p:ph type="sldNum" idx="12"/>
          </p:nvPr>
        </p:nvSpPr>
        <p:spPr>
          <a:xfrm>
            <a:off x="11676063" y="6397973"/>
            <a:ext cx="127001" cy="127001"/>
          </a:xfrm>
          <a:prstGeom prst="rect">
            <a:avLst/>
          </a:prstGeom>
          <a:noFill/>
          <a:ln>
            <a:noFill/>
          </a:ln>
        </p:spPr>
        <p:txBody>
          <a:bodyPr spcFirstLastPara="1" wrap="square" lIns="0" tIns="0" rIns="0" bIns="0" anchor="b" anchorCtr="0">
            <a:spAutoFit/>
          </a:bodyPr>
          <a:lstStyle>
            <a:lvl1pPr marL="0" lvl="0" indent="0" algn="l">
              <a:lnSpc>
                <a:spcPct val="125000"/>
              </a:lnSpc>
              <a:spcBef>
                <a:spcPts val="0"/>
              </a:spcBef>
              <a:spcAft>
                <a:spcPts val="0"/>
              </a:spcAft>
              <a:buClr>
                <a:schemeClr val="accent2"/>
              </a:buClr>
              <a:buSzPts val="800"/>
              <a:buFont typeface="Arial"/>
              <a:buNone/>
              <a:defRPr sz="800">
                <a:solidFill>
                  <a:schemeClr val="accent2"/>
                </a:solidFill>
              </a:defRPr>
            </a:lvl1pPr>
            <a:lvl2pPr marL="0" lvl="1" indent="0" algn="l">
              <a:lnSpc>
                <a:spcPct val="125000"/>
              </a:lnSpc>
              <a:spcBef>
                <a:spcPts val="0"/>
              </a:spcBef>
              <a:spcAft>
                <a:spcPts val="0"/>
              </a:spcAft>
              <a:buClr>
                <a:schemeClr val="accent2"/>
              </a:buClr>
              <a:buSzPts val="800"/>
              <a:buFont typeface="Arial"/>
              <a:buNone/>
              <a:defRPr sz="800">
                <a:solidFill>
                  <a:schemeClr val="accent2"/>
                </a:solidFill>
              </a:defRPr>
            </a:lvl2pPr>
            <a:lvl3pPr marL="0" lvl="2" indent="0" algn="l">
              <a:lnSpc>
                <a:spcPct val="125000"/>
              </a:lnSpc>
              <a:spcBef>
                <a:spcPts val="0"/>
              </a:spcBef>
              <a:spcAft>
                <a:spcPts val="0"/>
              </a:spcAft>
              <a:buClr>
                <a:schemeClr val="accent2"/>
              </a:buClr>
              <a:buSzPts val="800"/>
              <a:buFont typeface="Arial"/>
              <a:buNone/>
              <a:defRPr sz="800">
                <a:solidFill>
                  <a:schemeClr val="accent2"/>
                </a:solidFill>
              </a:defRPr>
            </a:lvl3pPr>
            <a:lvl4pPr marL="0" lvl="3" indent="0" algn="l">
              <a:lnSpc>
                <a:spcPct val="125000"/>
              </a:lnSpc>
              <a:spcBef>
                <a:spcPts val="0"/>
              </a:spcBef>
              <a:spcAft>
                <a:spcPts val="0"/>
              </a:spcAft>
              <a:buClr>
                <a:schemeClr val="accent2"/>
              </a:buClr>
              <a:buSzPts val="800"/>
              <a:buFont typeface="Arial"/>
              <a:buNone/>
              <a:defRPr sz="800">
                <a:solidFill>
                  <a:schemeClr val="accent2"/>
                </a:solidFill>
              </a:defRPr>
            </a:lvl4pPr>
            <a:lvl5pPr marL="0" lvl="4" indent="0" algn="l">
              <a:lnSpc>
                <a:spcPct val="125000"/>
              </a:lnSpc>
              <a:spcBef>
                <a:spcPts val="0"/>
              </a:spcBef>
              <a:spcAft>
                <a:spcPts val="0"/>
              </a:spcAft>
              <a:buClr>
                <a:schemeClr val="accent2"/>
              </a:buClr>
              <a:buSzPts val="800"/>
              <a:buFont typeface="Arial"/>
              <a:buNone/>
              <a:defRPr sz="800">
                <a:solidFill>
                  <a:schemeClr val="accent2"/>
                </a:solidFill>
              </a:defRPr>
            </a:lvl5pPr>
            <a:lvl6pPr marL="0" lvl="5" indent="0" algn="l">
              <a:lnSpc>
                <a:spcPct val="125000"/>
              </a:lnSpc>
              <a:spcBef>
                <a:spcPts val="0"/>
              </a:spcBef>
              <a:spcAft>
                <a:spcPts val="0"/>
              </a:spcAft>
              <a:buClr>
                <a:schemeClr val="accent2"/>
              </a:buClr>
              <a:buSzPts val="800"/>
              <a:buFont typeface="Arial"/>
              <a:buNone/>
              <a:defRPr sz="800">
                <a:solidFill>
                  <a:schemeClr val="accent2"/>
                </a:solidFill>
              </a:defRPr>
            </a:lvl6pPr>
            <a:lvl7pPr marL="0" lvl="6" indent="0" algn="l">
              <a:lnSpc>
                <a:spcPct val="125000"/>
              </a:lnSpc>
              <a:spcBef>
                <a:spcPts val="0"/>
              </a:spcBef>
              <a:spcAft>
                <a:spcPts val="0"/>
              </a:spcAft>
              <a:buClr>
                <a:schemeClr val="accent2"/>
              </a:buClr>
              <a:buSzPts val="800"/>
              <a:buFont typeface="Arial"/>
              <a:buNone/>
              <a:defRPr sz="800">
                <a:solidFill>
                  <a:schemeClr val="accent2"/>
                </a:solidFill>
              </a:defRPr>
            </a:lvl7pPr>
            <a:lvl8pPr marL="0" lvl="7" indent="0" algn="l">
              <a:lnSpc>
                <a:spcPct val="125000"/>
              </a:lnSpc>
              <a:spcBef>
                <a:spcPts val="0"/>
              </a:spcBef>
              <a:spcAft>
                <a:spcPts val="0"/>
              </a:spcAft>
              <a:buClr>
                <a:schemeClr val="accent2"/>
              </a:buClr>
              <a:buSzPts val="800"/>
              <a:buFont typeface="Arial"/>
              <a:buNone/>
              <a:defRPr sz="800">
                <a:solidFill>
                  <a:schemeClr val="accent2"/>
                </a:solidFill>
              </a:defRPr>
            </a:lvl8pPr>
            <a:lvl9pPr marL="0" lvl="8" indent="0" algn="l">
              <a:lnSpc>
                <a:spcPct val="125000"/>
              </a:lnSpc>
              <a:spcBef>
                <a:spcPts val="0"/>
              </a:spcBef>
              <a:spcAft>
                <a:spcPts val="0"/>
              </a:spcAft>
              <a:buClr>
                <a:schemeClr val="accent2"/>
              </a:buClr>
              <a:buSzPts val="800"/>
              <a:buFont typeface="Arial"/>
              <a:buNone/>
              <a:defRPr sz="800">
                <a:solidFill>
                  <a:schemeClr val="accent2"/>
                </a:solidFil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11676063" y="6397973"/>
            <a:ext cx="127001" cy="127001"/>
          </a:xfrm>
          <a:prstGeom prst="rect">
            <a:avLst/>
          </a:prstGeom>
          <a:noFill/>
          <a:ln>
            <a:noFill/>
          </a:ln>
        </p:spPr>
        <p:txBody>
          <a:bodyPr spcFirstLastPara="1" wrap="square" lIns="0" tIns="0" rIns="0" bIns="0" anchor="b" anchorCtr="0">
            <a:spAutoFit/>
          </a:bodyPr>
          <a:lstStyle>
            <a:lvl1pPr marL="0" marR="0" lvl="0" indent="0" algn="l" rtl="0">
              <a:lnSpc>
                <a:spcPct val="125000"/>
              </a:lnSpc>
              <a:spcBef>
                <a:spcPts val="0"/>
              </a:spcBef>
              <a:spcAft>
                <a:spcPts val="0"/>
              </a:spcAft>
              <a:buClr>
                <a:schemeClr val="accent2"/>
              </a:buClr>
              <a:buSzPts val="800"/>
              <a:buFont typeface="Arial"/>
              <a:buNone/>
              <a:defRPr sz="800" b="0" i="0" u="none" strike="noStrike" cap="none">
                <a:solidFill>
                  <a:schemeClr val="accent2"/>
                </a:solidFill>
                <a:latin typeface="Arial"/>
                <a:ea typeface="Arial"/>
                <a:cs typeface="Arial"/>
                <a:sym typeface="Arial"/>
              </a:defRPr>
            </a:lvl1pPr>
            <a:lvl2pPr marL="0" marR="0" lvl="1" indent="0" algn="l" rtl="0">
              <a:lnSpc>
                <a:spcPct val="125000"/>
              </a:lnSpc>
              <a:spcBef>
                <a:spcPts val="0"/>
              </a:spcBef>
              <a:spcAft>
                <a:spcPts val="0"/>
              </a:spcAft>
              <a:buClr>
                <a:schemeClr val="accent2"/>
              </a:buClr>
              <a:buSzPts val="800"/>
              <a:buFont typeface="Arial"/>
              <a:buNone/>
              <a:defRPr sz="800" b="0" i="0" u="none" strike="noStrike" cap="none">
                <a:solidFill>
                  <a:schemeClr val="accent2"/>
                </a:solidFill>
                <a:latin typeface="Arial"/>
                <a:ea typeface="Arial"/>
                <a:cs typeface="Arial"/>
                <a:sym typeface="Arial"/>
              </a:defRPr>
            </a:lvl2pPr>
            <a:lvl3pPr marL="0" marR="0" lvl="2" indent="0" algn="l" rtl="0">
              <a:lnSpc>
                <a:spcPct val="125000"/>
              </a:lnSpc>
              <a:spcBef>
                <a:spcPts val="0"/>
              </a:spcBef>
              <a:spcAft>
                <a:spcPts val="0"/>
              </a:spcAft>
              <a:buClr>
                <a:schemeClr val="accent2"/>
              </a:buClr>
              <a:buSzPts val="800"/>
              <a:buFont typeface="Arial"/>
              <a:buNone/>
              <a:defRPr sz="800" b="0" i="0" u="none" strike="noStrike" cap="none">
                <a:solidFill>
                  <a:schemeClr val="accent2"/>
                </a:solidFill>
                <a:latin typeface="Arial"/>
                <a:ea typeface="Arial"/>
                <a:cs typeface="Arial"/>
                <a:sym typeface="Arial"/>
              </a:defRPr>
            </a:lvl3pPr>
            <a:lvl4pPr marL="0" marR="0" lvl="3" indent="0" algn="l" rtl="0">
              <a:lnSpc>
                <a:spcPct val="125000"/>
              </a:lnSpc>
              <a:spcBef>
                <a:spcPts val="0"/>
              </a:spcBef>
              <a:spcAft>
                <a:spcPts val="0"/>
              </a:spcAft>
              <a:buClr>
                <a:schemeClr val="accent2"/>
              </a:buClr>
              <a:buSzPts val="800"/>
              <a:buFont typeface="Arial"/>
              <a:buNone/>
              <a:defRPr sz="800" b="0" i="0" u="none" strike="noStrike" cap="none">
                <a:solidFill>
                  <a:schemeClr val="accent2"/>
                </a:solidFill>
                <a:latin typeface="Arial"/>
                <a:ea typeface="Arial"/>
                <a:cs typeface="Arial"/>
                <a:sym typeface="Arial"/>
              </a:defRPr>
            </a:lvl4pPr>
            <a:lvl5pPr marL="0" marR="0" lvl="4" indent="0" algn="l" rtl="0">
              <a:lnSpc>
                <a:spcPct val="125000"/>
              </a:lnSpc>
              <a:spcBef>
                <a:spcPts val="0"/>
              </a:spcBef>
              <a:spcAft>
                <a:spcPts val="0"/>
              </a:spcAft>
              <a:buClr>
                <a:schemeClr val="accent2"/>
              </a:buClr>
              <a:buSzPts val="800"/>
              <a:buFont typeface="Arial"/>
              <a:buNone/>
              <a:defRPr sz="800" b="0" i="0" u="none" strike="noStrike" cap="none">
                <a:solidFill>
                  <a:schemeClr val="accent2"/>
                </a:solidFill>
                <a:latin typeface="Arial"/>
                <a:ea typeface="Arial"/>
                <a:cs typeface="Arial"/>
                <a:sym typeface="Arial"/>
              </a:defRPr>
            </a:lvl5pPr>
            <a:lvl6pPr marL="0" marR="0" lvl="5" indent="0" algn="l" rtl="0">
              <a:lnSpc>
                <a:spcPct val="125000"/>
              </a:lnSpc>
              <a:spcBef>
                <a:spcPts val="0"/>
              </a:spcBef>
              <a:spcAft>
                <a:spcPts val="0"/>
              </a:spcAft>
              <a:buClr>
                <a:schemeClr val="accent2"/>
              </a:buClr>
              <a:buSzPts val="800"/>
              <a:buFont typeface="Arial"/>
              <a:buNone/>
              <a:defRPr sz="800" b="0" i="0" u="none" strike="noStrike" cap="none">
                <a:solidFill>
                  <a:schemeClr val="accent2"/>
                </a:solidFill>
                <a:latin typeface="Arial"/>
                <a:ea typeface="Arial"/>
                <a:cs typeface="Arial"/>
                <a:sym typeface="Arial"/>
              </a:defRPr>
            </a:lvl6pPr>
            <a:lvl7pPr marL="0" marR="0" lvl="6" indent="0" algn="l" rtl="0">
              <a:lnSpc>
                <a:spcPct val="125000"/>
              </a:lnSpc>
              <a:spcBef>
                <a:spcPts val="0"/>
              </a:spcBef>
              <a:spcAft>
                <a:spcPts val="0"/>
              </a:spcAft>
              <a:buClr>
                <a:schemeClr val="accent2"/>
              </a:buClr>
              <a:buSzPts val="800"/>
              <a:buFont typeface="Arial"/>
              <a:buNone/>
              <a:defRPr sz="800" b="0" i="0" u="none" strike="noStrike" cap="none">
                <a:solidFill>
                  <a:schemeClr val="accent2"/>
                </a:solidFill>
                <a:latin typeface="Arial"/>
                <a:ea typeface="Arial"/>
                <a:cs typeface="Arial"/>
                <a:sym typeface="Arial"/>
              </a:defRPr>
            </a:lvl7pPr>
            <a:lvl8pPr marL="0" marR="0" lvl="7" indent="0" algn="l" rtl="0">
              <a:lnSpc>
                <a:spcPct val="125000"/>
              </a:lnSpc>
              <a:spcBef>
                <a:spcPts val="0"/>
              </a:spcBef>
              <a:spcAft>
                <a:spcPts val="0"/>
              </a:spcAft>
              <a:buClr>
                <a:schemeClr val="accent2"/>
              </a:buClr>
              <a:buSzPts val="800"/>
              <a:buFont typeface="Arial"/>
              <a:buNone/>
              <a:defRPr sz="800" b="0" i="0" u="none" strike="noStrike" cap="none">
                <a:solidFill>
                  <a:schemeClr val="accent2"/>
                </a:solidFill>
                <a:latin typeface="Arial"/>
                <a:ea typeface="Arial"/>
                <a:cs typeface="Arial"/>
                <a:sym typeface="Arial"/>
              </a:defRPr>
            </a:lvl8pPr>
            <a:lvl9pPr marL="0" marR="0" lvl="8" indent="0" algn="l" rtl="0">
              <a:lnSpc>
                <a:spcPct val="125000"/>
              </a:lnSpc>
              <a:spcBef>
                <a:spcPts val="0"/>
              </a:spcBef>
              <a:spcAft>
                <a:spcPts val="0"/>
              </a:spcAft>
              <a:buClr>
                <a:schemeClr val="accent2"/>
              </a:buClr>
              <a:buSzPts val="800"/>
              <a:buFont typeface="Arial"/>
              <a:buNone/>
              <a:defRPr sz="800" b="0" i="0" u="none" strike="noStrike" cap="none">
                <a:solidFill>
                  <a:schemeClr val="accent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400">
              <a:solidFill>
                <a:srgbClr val="000000"/>
              </a:solidFill>
            </a:endParaRPr>
          </a:p>
        </p:txBody>
      </p:sp>
      <p:sp>
        <p:nvSpPr>
          <p:cNvPr id="7" name="Google Shape;7;p1"/>
          <p:cNvSpPr txBox="1"/>
          <p:nvPr/>
        </p:nvSpPr>
        <p:spPr>
          <a:xfrm>
            <a:off x="6773074" y="6386480"/>
            <a:ext cx="4765550" cy="127001"/>
          </a:xfrm>
          <a:prstGeom prst="rect">
            <a:avLst/>
          </a:prstGeom>
          <a:noFill/>
          <a:ln>
            <a:noFill/>
          </a:ln>
        </p:spPr>
        <p:txBody>
          <a:bodyPr spcFirstLastPara="1" wrap="square" lIns="0" tIns="0" rIns="0" bIns="0" anchor="b" anchorCtr="0">
            <a:spAutoFit/>
          </a:bodyPr>
          <a:lstStyle/>
          <a:p>
            <a:pPr marL="0" marR="0" lvl="0" indent="0" algn="r" rtl="0">
              <a:lnSpc>
                <a:spcPct val="95000"/>
              </a:lnSpc>
              <a:spcBef>
                <a:spcPts val="0"/>
              </a:spcBef>
              <a:spcAft>
                <a:spcPts val="0"/>
              </a:spcAft>
              <a:buClr>
                <a:schemeClr val="accent2"/>
              </a:buClr>
              <a:buSzPts val="800"/>
              <a:buFont typeface="Arial"/>
              <a:buNone/>
            </a:pPr>
            <a:r>
              <a:rPr lang="en-US" sz="800" b="0" i="0" u="none" strike="noStrike" cap="none">
                <a:solidFill>
                  <a:schemeClr val="accent2"/>
                </a:solidFill>
                <a:latin typeface="Arial"/>
                <a:ea typeface="Arial"/>
                <a:cs typeface="Arial"/>
                <a:sym typeface="Arial"/>
              </a:rPr>
              <a:t>Non-Confidential</a:t>
            </a:r>
            <a:endParaRPr/>
          </a:p>
        </p:txBody>
      </p:sp>
      <p:sp>
        <p:nvSpPr>
          <p:cNvPr id="8" name="Google Shape;8;p1"/>
          <p:cNvSpPr/>
          <p:nvPr/>
        </p:nvSpPr>
        <p:spPr>
          <a:xfrm>
            <a:off x="0" y="0"/>
            <a:ext cx="12192000" cy="6858000"/>
          </a:xfrm>
          <a:prstGeom prst="rect">
            <a:avLst/>
          </a:prstGeom>
          <a:solidFill>
            <a:schemeClr val="accent2"/>
          </a:solidFill>
          <a:ln>
            <a:noFill/>
          </a:ln>
        </p:spPr>
        <p:txBody>
          <a:bodyPr spcFirstLastPara="1" wrap="square" lIns="45700" tIns="45700" rIns="45700" bIns="45700" anchor="ctr" anchorCtr="0">
            <a:noAutofit/>
          </a:bodyPr>
          <a:lstStyle/>
          <a:p>
            <a:pPr marL="0" marR="0" lvl="0" indent="0" algn="ctr" rtl="0">
              <a:lnSpc>
                <a:spcPct val="96000"/>
              </a:lnSpc>
              <a:spcBef>
                <a:spcPts val="0"/>
              </a:spcBef>
              <a:spcAft>
                <a:spcPts val="0"/>
              </a:spcAft>
              <a:buClr>
                <a:srgbClr val="000000"/>
              </a:buClr>
              <a:buSzPts val="1800"/>
              <a:buFont typeface="Helvetica Neue"/>
              <a:buNone/>
            </a:pPr>
            <a:endParaRPr sz="1800" b="0" i="0" u="none" strike="noStrike" cap="none">
              <a:solidFill>
                <a:srgbClr val="000000"/>
              </a:solidFill>
              <a:latin typeface="Helvetica Neue"/>
              <a:ea typeface="Helvetica Neue"/>
              <a:cs typeface="Helvetica Neue"/>
              <a:sym typeface="Helvetica Neue"/>
            </a:endParaRPr>
          </a:p>
        </p:txBody>
      </p:sp>
      <p:sp>
        <p:nvSpPr>
          <p:cNvPr id="9" name="Google Shape;9;p1"/>
          <p:cNvSpPr txBox="1">
            <a:spLocks noGrp="1"/>
          </p:cNvSpPr>
          <p:nvPr>
            <p:ph type="title"/>
          </p:nvPr>
        </p:nvSpPr>
        <p:spPr>
          <a:xfrm>
            <a:off x="609600" y="274637"/>
            <a:ext cx="10972800" cy="1325564"/>
          </a:xfrm>
          <a:prstGeom prst="rect">
            <a:avLst/>
          </a:prstGeom>
          <a:noFill/>
          <a:ln>
            <a:noFill/>
          </a:ln>
        </p:spPr>
        <p:txBody>
          <a:bodyPr spcFirstLastPara="1" wrap="square" lIns="0" tIns="0" rIns="0" bIns="0" anchor="t" anchorCtr="0">
            <a:noAutofit/>
          </a:bodyPr>
          <a:lstStyle>
            <a:lvl1pPr marR="0" lvl="0" algn="l" rtl="0">
              <a:lnSpc>
                <a:spcPct val="84000"/>
              </a:lnSpc>
              <a:spcBef>
                <a:spcPts val="0"/>
              </a:spcBef>
              <a:spcAft>
                <a:spcPts val="0"/>
              </a:spcAft>
              <a:buClr>
                <a:schemeClr val="accent2"/>
              </a:buClr>
              <a:buSzPts val="2800"/>
              <a:buFont typeface="Play"/>
              <a:buNone/>
              <a:defRPr sz="2800" b="0" i="0" u="none" strike="noStrike" cap="none">
                <a:solidFill>
                  <a:schemeClr val="accent2"/>
                </a:solidFill>
                <a:latin typeface="Play"/>
                <a:ea typeface="Play"/>
                <a:cs typeface="Play"/>
                <a:sym typeface="Play"/>
              </a:defRPr>
            </a:lvl1pPr>
            <a:lvl2pPr marR="0" lvl="1" algn="l" rtl="0">
              <a:lnSpc>
                <a:spcPct val="84000"/>
              </a:lnSpc>
              <a:spcBef>
                <a:spcPts val="0"/>
              </a:spcBef>
              <a:spcAft>
                <a:spcPts val="0"/>
              </a:spcAft>
              <a:buClr>
                <a:schemeClr val="accent2"/>
              </a:buClr>
              <a:buSzPts val="2800"/>
              <a:buFont typeface="Play"/>
              <a:buNone/>
              <a:defRPr sz="2800" b="0" i="0" u="none" strike="noStrike" cap="none">
                <a:solidFill>
                  <a:schemeClr val="accent2"/>
                </a:solidFill>
                <a:latin typeface="Play"/>
                <a:ea typeface="Play"/>
                <a:cs typeface="Play"/>
                <a:sym typeface="Play"/>
              </a:defRPr>
            </a:lvl2pPr>
            <a:lvl3pPr marR="0" lvl="2" algn="l" rtl="0">
              <a:lnSpc>
                <a:spcPct val="84000"/>
              </a:lnSpc>
              <a:spcBef>
                <a:spcPts val="0"/>
              </a:spcBef>
              <a:spcAft>
                <a:spcPts val="0"/>
              </a:spcAft>
              <a:buClr>
                <a:schemeClr val="accent2"/>
              </a:buClr>
              <a:buSzPts val="2800"/>
              <a:buFont typeface="Play"/>
              <a:buNone/>
              <a:defRPr sz="2800" b="0" i="0" u="none" strike="noStrike" cap="none">
                <a:solidFill>
                  <a:schemeClr val="accent2"/>
                </a:solidFill>
                <a:latin typeface="Play"/>
                <a:ea typeface="Play"/>
                <a:cs typeface="Play"/>
                <a:sym typeface="Play"/>
              </a:defRPr>
            </a:lvl3pPr>
            <a:lvl4pPr marR="0" lvl="3" algn="l" rtl="0">
              <a:lnSpc>
                <a:spcPct val="84000"/>
              </a:lnSpc>
              <a:spcBef>
                <a:spcPts val="0"/>
              </a:spcBef>
              <a:spcAft>
                <a:spcPts val="0"/>
              </a:spcAft>
              <a:buClr>
                <a:schemeClr val="accent2"/>
              </a:buClr>
              <a:buSzPts val="2800"/>
              <a:buFont typeface="Play"/>
              <a:buNone/>
              <a:defRPr sz="2800" b="0" i="0" u="none" strike="noStrike" cap="none">
                <a:solidFill>
                  <a:schemeClr val="accent2"/>
                </a:solidFill>
                <a:latin typeface="Play"/>
                <a:ea typeface="Play"/>
                <a:cs typeface="Play"/>
                <a:sym typeface="Play"/>
              </a:defRPr>
            </a:lvl4pPr>
            <a:lvl5pPr marR="0" lvl="4" algn="l" rtl="0">
              <a:lnSpc>
                <a:spcPct val="84000"/>
              </a:lnSpc>
              <a:spcBef>
                <a:spcPts val="0"/>
              </a:spcBef>
              <a:spcAft>
                <a:spcPts val="0"/>
              </a:spcAft>
              <a:buClr>
                <a:schemeClr val="accent2"/>
              </a:buClr>
              <a:buSzPts val="2800"/>
              <a:buFont typeface="Play"/>
              <a:buNone/>
              <a:defRPr sz="2800" b="0" i="0" u="none" strike="noStrike" cap="none">
                <a:solidFill>
                  <a:schemeClr val="accent2"/>
                </a:solidFill>
                <a:latin typeface="Play"/>
                <a:ea typeface="Play"/>
                <a:cs typeface="Play"/>
                <a:sym typeface="Play"/>
              </a:defRPr>
            </a:lvl5pPr>
            <a:lvl6pPr marR="0" lvl="5" algn="l" rtl="0">
              <a:lnSpc>
                <a:spcPct val="84000"/>
              </a:lnSpc>
              <a:spcBef>
                <a:spcPts val="0"/>
              </a:spcBef>
              <a:spcAft>
                <a:spcPts val="0"/>
              </a:spcAft>
              <a:buClr>
                <a:schemeClr val="accent2"/>
              </a:buClr>
              <a:buSzPts val="2800"/>
              <a:buFont typeface="Play"/>
              <a:buNone/>
              <a:defRPr sz="2800" b="0" i="0" u="none" strike="noStrike" cap="none">
                <a:solidFill>
                  <a:schemeClr val="accent2"/>
                </a:solidFill>
                <a:latin typeface="Play"/>
                <a:ea typeface="Play"/>
                <a:cs typeface="Play"/>
                <a:sym typeface="Play"/>
              </a:defRPr>
            </a:lvl6pPr>
            <a:lvl7pPr marR="0" lvl="6" algn="l" rtl="0">
              <a:lnSpc>
                <a:spcPct val="84000"/>
              </a:lnSpc>
              <a:spcBef>
                <a:spcPts val="0"/>
              </a:spcBef>
              <a:spcAft>
                <a:spcPts val="0"/>
              </a:spcAft>
              <a:buClr>
                <a:schemeClr val="accent2"/>
              </a:buClr>
              <a:buSzPts val="2800"/>
              <a:buFont typeface="Play"/>
              <a:buNone/>
              <a:defRPr sz="2800" b="0" i="0" u="none" strike="noStrike" cap="none">
                <a:solidFill>
                  <a:schemeClr val="accent2"/>
                </a:solidFill>
                <a:latin typeface="Play"/>
                <a:ea typeface="Play"/>
                <a:cs typeface="Play"/>
                <a:sym typeface="Play"/>
              </a:defRPr>
            </a:lvl7pPr>
            <a:lvl8pPr marR="0" lvl="7" algn="l" rtl="0">
              <a:lnSpc>
                <a:spcPct val="84000"/>
              </a:lnSpc>
              <a:spcBef>
                <a:spcPts val="0"/>
              </a:spcBef>
              <a:spcAft>
                <a:spcPts val="0"/>
              </a:spcAft>
              <a:buClr>
                <a:schemeClr val="accent2"/>
              </a:buClr>
              <a:buSzPts val="2800"/>
              <a:buFont typeface="Play"/>
              <a:buNone/>
              <a:defRPr sz="2800" b="0" i="0" u="none" strike="noStrike" cap="none">
                <a:solidFill>
                  <a:schemeClr val="accent2"/>
                </a:solidFill>
                <a:latin typeface="Play"/>
                <a:ea typeface="Play"/>
                <a:cs typeface="Play"/>
                <a:sym typeface="Play"/>
              </a:defRPr>
            </a:lvl8pPr>
            <a:lvl9pPr marR="0" lvl="8" algn="l" rtl="0">
              <a:lnSpc>
                <a:spcPct val="84000"/>
              </a:lnSpc>
              <a:spcBef>
                <a:spcPts val="0"/>
              </a:spcBef>
              <a:spcAft>
                <a:spcPts val="0"/>
              </a:spcAft>
              <a:buClr>
                <a:schemeClr val="accent2"/>
              </a:buClr>
              <a:buSzPts val="2800"/>
              <a:buFont typeface="Play"/>
              <a:buNone/>
              <a:defRPr sz="2800" b="0" i="0" u="none" strike="noStrike" cap="none">
                <a:solidFill>
                  <a:schemeClr val="accent2"/>
                </a:solidFill>
                <a:latin typeface="Play"/>
                <a:ea typeface="Play"/>
                <a:cs typeface="Play"/>
                <a:sym typeface="Play"/>
              </a:defRPr>
            </a:lvl9pPr>
          </a:lstStyle>
          <a:p>
            <a:endParaRPr/>
          </a:p>
        </p:txBody>
      </p:sp>
      <p:sp>
        <p:nvSpPr>
          <p:cNvPr id="10" name="Google Shape;10;p1"/>
          <p:cNvSpPr txBox="1">
            <a:spLocks noGrp="1"/>
          </p:cNvSpPr>
          <p:nvPr>
            <p:ph type="body" idx="1"/>
          </p:nvPr>
        </p:nvSpPr>
        <p:spPr>
          <a:xfrm>
            <a:off x="609600" y="1600200"/>
            <a:ext cx="10972800" cy="5257800"/>
          </a:xfrm>
          <a:prstGeom prst="rect">
            <a:avLst/>
          </a:prstGeom>
          <a:noFill/>
          <a:ln>
            <a:noFill/>
          </a:ln>
        </p:spPr>
        <p:txBody>
          <a:bodyPr spcFirstLastPara="1" wrap="square" lIns="0" tIns="0" rIns="0" bIns="0" anchor="t" anchorCtr="0">
            <a:noAutofit/>
          </a:bodyPr>
          <a:lstStyle>
            <a:lvl1pPr marL="457200" marR="0" lvl="0" indent="-368300" algn="l" rtl="0">
              <a:lnSpc>
                <a:spcPct val="95000"/>
              </a:lnSpc>
              <a:spcBef>
                <a:spcPts val="900"/>
              </a:spcBef>
              <a:spcAft>
                <a:spcPts val="0"/>
              </a:spcAft>
              <a:buClr>
                <a:schemeClr val="accent2"/>
              </a:buClr>
              <a:buSzPts val="2200"/>
              <a:buFont typeface="Arial"/>
              <a:buChar char="•"/>
              <a:defRPr sz="2200" b="0" i="0" u="none" strike="noStrike" cap="none">
                <a:solidFill>
                  <a:schemeClr val="accent2"/>
                </a:solidFill>
                <a:latin typeface="Arial"/>
                <a:ea typeface="Arial"/>
                <a:cs typeface="Arial"/>
                <a:sym typeface="Arial"/>
              </a:defRPr>
            </a:lvl1pPr>
            <a:lvl2pPr marL="914400" marR="0" lvl="1" indent="-368300" algn="l" rtl="0">
              <a:lnSpc>
                <a:spcPct val="95000"/>
              </a:lnSpc>
              <a:spcBef>
                <a:spcPts val="900"/>
              </a:spcBef>
              <a:spcAft>
                <a:spcPts val="0"/>
              </a:spcAft>
              <a:buClr>
                <a:schemeClr val="accent2"/>
              </a:buClr>
              <a:buSzPts val="2200"/>
              <a:buFont typeface="Arial"/>
              <a:buChar char="•"/>
              <a:defRPr sz="2200" b="0" i="0" u="none" strike="noStrike" cap="none">
                <a:solidFill>
                  <a:schemeClr val="accent2"/>
                </a:solidFill>
                <a:latin typeface="Arial"/>
                <a:ea typeface="Arial"/>
                <a:cs typeface="Arial"/>
                <a:sym typeface="Arial"/>
              </a:defRPr>
            </a:lvl2pPr>
            <a:lvl3pPr marL="1371600" marR="0" lvl="2" indent="-368300" algn="l" rtl="0">
              <a:lnSpc>
                <a:spcPct val="95000"/>
              </a:lnSpc>
              <a:spcBef>
                <a:spcPts val="900"/>
              </a:spcBef>
              <a:spcAft>
                <a:spcPts val="0"/>
              </a:spcAft>
              <a:buClr>
                <a:schemeClr val="accent2"/>
              </a:buClr>
              <a:buSzPts val="2200"/>
              <a:buFont typeface="Arial"/>
              <a:buChar char="•"/>
              <a:defRPr sz="2200" b="0" i="0" u="none" strike="noStrike" cap="none">
                <a:solidFill>
                  <a:schemeClr val="accent2"/>
                </a:solidFill>
                <a:latin typeface="Arial"/>
                <a:ea typeface="Arial"/>
                <a:cs typeface="Arial"/>
                <a:sym typeface="Arial"/>
              </a:defRPr>
            </a:lvl3pPr>
            <a:lvl4pPr marL="1828800" marR="0" lvl="3" indent="-368300" algn="l" rtl="0">
              <a:lnSpc>
                <a:spcPct val="95000"/>
              </a:lnSpc>
              <a:spcBef>
                <a:spcPts val="900"/>
              </a:spcBef>
              <a:spcAft>
                <a:spcPts val="0"/>
              </a:spcAft>
              <a:buClr>
                <a:schemeClr val="accent2"/>
              </a:buClr>
              <a:buSzPts val="2200"/>
              <a:buFont typeface="Arial"/>
              <a:buChar char="•"/>
              <a:defRPr sz="2200" b="0" i="0" u="none" strike="noStrike" cap="none">
                <a:solidFill>
                  <a:schemeClr val="accent2"/>
                </a:solidFill>
                <a:latin typeface="Arial"/>
                <a:ea typeface="Arial"/>
                <a:cs typeface="Arial"/>
                <a:sym typeface="Arial"/>
              </a:defRPr>
            </a:lvl4pPr>
            <a:lvl5pPr marL="2286000" marR="0" lvl="4" indent="-368300" algn="l" rtl="0">
              <a:lnSpc>
                <a:spcPct val="95000"/>
              </a:lnSpc>
              <a:spcBef>
                <a:spcPts val="900"/>
              </a:spcBef>
              <a:spcAft>
                <a:spcPts val="0"/>
              </a:spcAft>
              <a:buClr>
                <a:schemeClr val="accent2"/>
              </a:buClr>
              <a:buSzPts val="2200"/>
              <a:buFont typeface="Arial"/>
              <a:buChar char="•"/>
              <a:defRPr sz="2200" b="0" i="0" u="none" strike="noStrike" cap="none">
                <a:solidFill>
                  <a:schemeClr val="accent2"/>
                </a:solidFill>
                <a:latin typeface="Arial"/>
                <a:ea typeface="Arial"/>
                <a:cs typeface="Arial"/>
                <a:sym typeface="Arial"/>
              </a:defRPr>
            </a:lvl5pPr>
            <a:lvl6pPr marL="2743200" marR="0" lvl="5" indent="-368300" algn="l" rtl="0">
              <a:lnSpc>
                <a:spcPct val="95000"/>
              </a:lnSpc>
              <a:spcBef>
                <a:spcPts val="900"/>
              </a:spcBef>
              <a:spcAft>
                <a:spcPts val="0"/>
              </a:spcAft>
              <a:buClr>
                <a:schemeClr val="accent2"/>
              </a:buClr>
              <a:buSzPts val="2200"/>
              <a:buFont typeface="Arial"/>
              <a:buChar char="•"/>
              <a:defRPr sz="2200" b="0" i="0" u="none" strike="noStrike" cap="none">
                <a:solidFill>
                  <a:schemeClr val="accent2"/>
                </a:solidFill>
                <a:latin typeface="Arial"/>
                <a:ea typeface="Arial"/>
                <a:cs typeface="Arial"/>
                <a:sym typeface="Arial"/>
              </a:defRPr>
            </a:lvl6pPr>
            <a:lvl7pPr marL="3200400" marR="0" lvl="6" indent="-368300" algn="l" rtl="0">
              <a:lnSpc>
                <a:spcPct val="95000"/>
              </a:lnSpc>
              <a:spcBef>
                <a:spcPts val="900"/>
              </a:spcBef>
              <a:spcAft>
                <a:spcPts val="0"/>
              </a:spcAft>
              <a:buClr>
                <a:schemeClr val="accent2"/>
              </a:buClr>
              <a:buSzPts val="2200"/>
              <a:buFont typeface="Arial"/>
              <a:buChar char="•"/>
              <a:defRPr sz="2200" b="0" i="0" u="none" strike="noStrike" cap="none">
                <a:solidFill>
                  <a:schemeClr val="accent2"/>
                </a:solidFill>
                <a:latin typeface="Arial"/>
                <a:ea typeface="Arial"/>
                <a:cs typeface="Arial"/>
                <a:sym typeface="Arial"/>
              </a:defRPr>
            </a:lvl7pPr>
            <a:lvl8pPr marL="3657600" marR="0" lvl="7" indent="-368300" algn="l" rtl="0">
              <a:lnSpc>
                <a:spcPct val="95000"/>
              </a:lnSpc>
              <a:spcBef>
                <a:spcPts val="900"/>
              </a:spcBef>
              <a:spcAft>
                <a:spcPts val="0"/>
              </a:spcAft>
              <a:buClr>
                <a:schemeClr val="accent2"/>
              </a:buClr>
              <a:buSzPts val="2200"/>
              <a:buFont typeface="Arial"/>
              <a:buChar char="•"/>
              <a:defRPr sz="2200" b="0" i="0" u="none" strike="noStrike" cap="none">
                <a:solidFill>
                  <a:schemeClr val="accent2"/>
                </a:solidFill>
                <a:latin typeface="Arial"/>
                <a:ea typeface="Arial"/>
                <a:cs typeface="Arial"/>
                <a:sym typeface="Arial"/>
              </a:defRPr>
            </a:lvl8pPr>
            <a:lvl9pPr marL="4114800" marR="0" lvl="8" indent="-368300" algn="l" rtl="0">
              <a:lnSpc>
                <a:spcPct val="95000"/>
              </a:lnSpc>
              <a:spcBef>
                <a:spcPts val="900"/>
              </a:spcBef>
              <a:spcAft>
                <a:spcPts val="0"/>
              </a:spcAft>
              <a:buClr>
                <a:schemeClr val="accent2"/>
              </a:buClr>
              <a:buSzPts val="2200"/>
              <a:buFont typeface="Arial"/>
              <a:buChar char="•"/>
              <a:defRPr sz="2200" b="0" i="0" u="none" strike="noStrike" cap="none">
                <a:solidFill>
                  <a:schemeClr val="accent2"/>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9.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6.png"/><Relationship Id="rId5"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riscv/riscv-high-assurance-cryptography/releases"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sp>
        <p:nvSpPr>
          <p:cNvPr id="38" name="Google Shape;38;p7"/>
          <p:cNvSpPr txBox="1">
            <a:spLocks noGrp="1"/>
          </p:cNvSpPr>
          <p:nvPr>
            <p:ph type="title"/>
          </p:nvPr>
        </p:nvSpPr>
        <p:spPr>
          <a:xfrm>
            <a:off x="515925" y="1237675"/>
            <a:ext cx="10483500" cy="1885500"/>
          </a:xfrm>
          <a:prstGeom prst="rect">
            <a:avLst/>
          </a:prstGeom>
          <a:noFill/>
          <a:ln>
            <a:noFill/>
          </a:ln>
        </p:spPr>
        <p:txBody>
          <a:bodyPr spcFirstLastPara="1" wrap="square" lIns="0" tIns="0" rIns="0" bIns="0" anchor="b" anchorCtr="0">
            <a:normAutofit fontScale="90000"/>
          </a:bodyPr>
          <a:lstStyle/>
          <a:p>
            <a:pPr marL="0" lvl="0" indent="0" algn="l" rtl="0">
              <a:lnSpc>
                <a:spcPct val="80000"/>
              </a:lnSpc>
              <a:spcBef>
                <a:spcPts val="0"/>
              </a:spcBef>
              <a:spcAft>
                <a:spcPts val="0"/>
              </a:spcAft>
              <a:buClr>
                <a:srgbClr val="FFFFFF"/>
              </a:buClr>
              <a:buSzPct val="72857"/>
              <a:buFont typeface="Arial"/>
              <a:buNone/>
            </a:pPr>
            <a:r>
              <a:rPr lang="en-US" sz="5600" b="1"/>
              <a:t>ACE</a:t>
            </a:r>
            <a:r>
              <a:rPr lang="en-US" sz="5600"/>
              <a:t>:</a:t>
            </a:r>
            <a:endParaRPr sz="5600"/>
          </a:p>
          <a:p>
            <a:pPr marL="0" lvl="0" indent="0" algn="l" rtl="0">
              <a:lnSpc>
                <a:spcPct val="80000"/>
              </a:lnSpc>
              <a:spcBef>
                <a:spcPts val="0"/>
              </a:spcBef>
              <a:spcAft>
                <a:spcPts val="0"/>
              </a:spcAft>
              <a:buClr>
                <a:srgbClr val="FFFFFF"/>
              </a:buClr>
              <a:buSzPct val="170000"/>
              <a:buFont typeface="Arial"/>
              <a:buNone/>
            </a:pPr>
            <a:br>
              <a:rPr lang="en-US" sz="2400"/>
            </a:br>
            <a:r>
              <a:rPr lang="en-US" sz="4400" b="1"/>
              <a:t>  </a:t>
            </a:r>
            <a:r>
              <a:rPr lang="en-US" sz="4400"/>
              <a:t>the</a:t>
            </a:r>
            <a:r>
              <a:rPr lang="en-US" sz="4400" b="1"/>
              <a:t> Atomic Cryptography Extension</a:t>
            </a:r>
            <a:br>
              <a:rPr lang="en-US" sz="3230"/>
            </a:br>
            <a:endParaRPr/>
          </a:p>
        </p:txBody>
      </p:sp>
      <p:sp>
        <p:nvSpPr>
          <p:cNvPr id="39" name="Google Shape;39;p7"/>
          <p:cNvSpPr txBox="1">
            <a:spLocks noGrp="1"/>
          </p:cNvSpPr>
          <p:nvPr>
            <p:ph type="body" idx="1"/>
          </p:nvPr>
        </p:nvSpPr>
        <p:spPr>
          <a:xfrm>
            <a:off x="516054" y="4678417"/>
            <a:ext cx="5185500" cy="263100"/>
          </a:xfrm>
          <a:prstGeom prst="rect">
            <a:avLst/>
          </a:prstGeom>
          <a:noFill/>
          <a:ln>
            <a:noFill/>
          </a:ln>
        </p:spPr>
        <p:txBody>
          <a:bodyPr spcFirstLastPara="1" wrap="square" lIns="0" tIns="0" rIns="0" bIns="0" anchor="t" anchorCtr="0">
            <a:normAutofit/>
          </a:bodyPr>
          <a:lstStyle/>
          <a:p>
            <a:pPr marL="0" marR="0" lvl="0" indent="0" algn="l" rtl="0">
              <a:lnSpc>
                <a:spcPct val="95000"/>
              </a:lnSpc>
              <a:spcBef>
                <a:spcPts val="0"/>
              </a:spcBef>
              <a:spcAft>
                <a:spcPts val="0"/>
              </a:spcAft>
              <a:buClr>
                <a:srgbClr val="FFFFFF"/>
              </a:buClr>
              <a:buSzPts val="1745"/>
              <a:buFont typeface="Arial"/>
              <a:buNone/>
            </a:pPr>
            <a:r>
              <a:rPr lang="en-US" sz="1745" dirty="0"/>
              <a:t>Security Architect, CPU Team, Qualcomm</a:t>
            </a:r>
            <a:endParaRPr dirty="0"/>
          </a:p>
        </p:txBody>
      </p:sp>
      <p:sp>
        <p:nvSpPr>
          <p:cNvPr id="40" name="Google Shape;40;p7"/>
          <p:cNvSpPr txBox="1">
            <a:spLocks noGrp="1"/>
          </p:cNvSpPr>
          <p:nvPr>
            <p:ph type="body" idx="2"/>
          </p:nvPr>
        </p:nvSpPr>
        <p:spPr>
          <a:xfrm>
            <a:off x="515949" y="4053750"/>
            <a:ext cx="11024409" cy="613500"/>
          </a:xfrm>
          <a:prstGeom prst="rect">
            <a:avLst/>
          </a:prstGeom>
          <a:noFill/>
          <a:ln>
            <a:noFill/>
          </a:ln>
        </p:spPr>
        <p:txBody>
          <a:bodyPr spcFirstLastPara="1" wrap="square" lIns="0" tIns="0" rIns="0" bIns="0" anchor="t" anchorCtr="0">
            <a:normAutofit/>
          </a:bodyPr>
          <a:lstStyle/>
          <a:p>
            <a:pPr marL="0" marR="0" lvl="0" indent="0" algn="l" rtl="0">
              <a:lnSpc>
                <a:spcPct val="96000"/>
              </a:lnSpc>
              <a:spcBef>
                <a:spcPts val="0"/>
              </a:spcBef>
              <a:spcAft>
                <a:spcPts val="0"/>
              </a:spcAft>
              <a:buClr>
                <a:srgbClr val="FFFFFF"/>
              </a:buClr>
              <a:buSzPts val="2800"/>
              <a:buNone/>
            </a:pPr>
            <a:r>
              <a:rPr lang="en-US" dirty="0">
                <a:latin typeface="Arial"/>
                <a:ea typeface="Arial"/>
                <a:cs typeface="Arial"/>
                <a:sym typeface="Arial"/>
              </a:rPr>
              <a:t>Roberto Avanzi </a:t>
            </a:r>
            <a:r>
              <a:rPr lang="en-US" i="1" dirty="0">
                <a:latin typeface="Arial"/>
                <a:ea typeface="Arial"/>
                <a:cs typeface="Arial"/>
                <a:sym typeface="Arial"/>
              </a:rPr>
              <a:t>with Ruud </a:t>
            </a:r>
            <a:r>
              <a:rPr lang="en-US" i="1" dirty="0" err="1">
                <a:latin typeface="Arial"/>
                <a:ea typeface="Arial"/>
                <a:cs typeface="Arial"/>
                <a:sym typeface="Arial"/>
              </a:rPr>
              <a:t>Derwig</a:t>
            </a:r>
            <a:r>
              <a:rPr lang="en-US" i="1" dirty="0">
                <a:latin typeface="Arial"/>
                <a:ea typeface="Arial"/>
                <a:cs typeface="Arial"/>
                <a:sym typeface="Arial"/>
              </a:rPr>
              <a:t>, Luis </a:t>
            </a:r>
            <a:r>
              <a:rPr lang="en-US" i="1" dirty="0" err="1">
                <a:latin typeface="Arial"/>
                <a:ea typeface="Arial"/>
                <a:cs typeface="Arial"/>
                <a:sym typeface="Arial"/>
              </a:rPr>
              <a:t>Fiolhais</a:t>
            </a:r>
            <a:r>
              <a:rPr lang="en-US" i="1" dirty="0">
                <a:latin typeface="Arial"/>
                <a:ea typeface="Arial"/>
                <a:cs typeface="Arial"/>
                <a:sym typeface="Arial"/>
              </a:rPr>
              <a:t>, Radim </a:t>
            </a:r>
            <a:r>
              <a:rPr lang="en-US" i="1" dirty="0" err="1">
                <a:latin typeface="Arial"/>
                <a:ea typeface="Arial"/>
                <a:cs typeface="Arial"/>
                <a:sym typeface="Arial"/>
              </a:rPr>
              <a:t>Krčmář</a:t>
            </a:r>
            <a:endParaRPr i="1" dirty="0"/>
          </a:p>
        </p:txBody>
      </p:sp>
      <p:sp>
        <p:nvSpPr>
          <p:cNvPr id="41" name="Google Shape;41;p7"/>
          <p:cNvSpPr txBox="1">
            <a:spLocks noGrp="1"/>
          </p:cNvSpPr>
          <p:nvPr>
            <p:ph type="body" idx="3"/>
          </p:nvPr>
        </p:nvSpPr>
        <p:spPr>
          <a:xfrm>
            <a:off x="515938" y="5763331"/>
            <a:ext cx="5185616" cy="263150"/>
          </a:xfrm>
          <a:prstGeom prst="rect">
            <a:avLst/>
          </a:prstGeom>
          <a:noFill/>
          <a:ln>
            <a:noFill/>
          </a:ln>
        </p:spPr>
        <p:txBody>
          <a:bodyPr spcFirstLastPara="1" wrap="square" lIns="0" tIns="0" rIns="0" bIns="0" anchor="t" anchorCtr="0">
            <a:normAutofit/>
          </a:bodyPr>
          <a:lstStyle/>
          <a:p>
            <a:pPr marL="0" lvl="0" indent="0" algn="l" rtl="0">
              <a:lnSpc>
                <a:spcPct val="95000"/>
              </a:lnSpc>
              <a:spcBef>
                <a:spcPts val="0"/>
              </a:spcBef>
              <a:spcAft>
                <a:spcPts val="0"/>
              </a:spcAft>
              <a:buClr>
                <a:srgbClr val="FFFFFF"/>
              </a:buClr>
              <a:buSzPts val="1600"/>
              <a:buNone/>
            </a:pPr>
            <a:r>
              <a:rPr lang="en-US" sz="1600" dirty="0" err="1">
                <a:solidFill>
                  <a:srgbClr val="FFFFFF"/>
                </a:solidFill>
              </a:rPr>
              <a:t>ravanzi@qti.qualcomm.com</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A460C-5DA6-E6C6-1228-258E15F38E20}"/>
              </a:ext>
            </a:extLst>
          </p:cNvPr>
          <p:cNvSpPr>
            <a:spLocks noGrp="1"/>
          </p:cNvSpPr>
          <p:nvPr>
            <p:ph type="title"/>
          </p:nvPr>
        </p:nvSpPr>
        <p:spPr/>
        <p:txBody>
          <a:bodyPr/>
          <a:lstStyle/>
          <a:p>
            <a:r>
              <a:rPr lang="en-US" dirty="0"/>
              <a:t>Important notice</a:t>
            </a:r>
          </a:p>
        </p:txBody>
      </p:sp>
      <p:sp>
        <p:nvSpPr>
          <p:cNvPr id="3" name="Text Placeholder 2">
            <a:extLst>
              <a:ext uri="{FF2B5EF4-FFF2-40B4-BE49-F238E27FC236}">
                <a16:creationId xmlns:a16="http://schemas.microsoft.com/office/drawing/2014/main" id="{7782A0C4-8798-2309-2140-1DCCFBA8A53C}"/>
              </a:ext>
            </a:extLst>
          </p:cNvPr>
          <p:cNvSpPr>
            <a:spLocks noGrp="1"/>
          </p:cNvSpPr>
          <p:nvPr>
            <p:ph type="body" idx="1"/>
          </p:nvPr>
        </p:nvSpPr>
        <p:spPr/>
        <p:txBody>
          <a:bodyPr>
            <a:normAutofit/>
          </a:bodyPr>
          <a:lstStyle/>
          <a:p>
            <a:pPr marL="114300" indent="0">
              <a:buNone/>
            </a:pPr>
            <a:r>
              <a:rPr lang="en-US" sz="5400" dirty="0"/>
              <a:t>This is </a:t>
            </a:r>
            <a:r>
              <a:rPr lang="en-US" sz="5400" i="1" dirty="0"/>
              <a:t>neither</a:t>
            </a:r>
            <a:r>
              <a:rPr lang="en-US" sz="5400" dirty="0"/>
              <a:t> the ACE recently announced by Intel and AMD</a:t>
            </a:r>
          </a:p>
          <a:p>
            <a:pPr marL="114300" indent="0">
              <a:buNone/>
            </a:pPr>
            <a:endParaRPr lang="en-US" sz="3000" dirty="0"/>
          </a:p>
          <a:p>
            <a:pPr marL="114300" indent="0">
              <a:buNone/>
            </a:pPr>
            <a:r>
              <a:rPr lang="en-US" sz="5400" i="1" dirty="0"/>
              <a:t>nor</a:t>
            </a:r>
            <a:r>
              <a:rPr lang="en-US" sz="5400" dirty="0"/>
              <a:t> IBM’s Assured Confidential Execution for RISC-V.</a:t>
            </a:r>
          </a:p>
          <a:p>
            <a:pPr marL="114300" indent="0">
              <a:buNone/>
            </a:pPr>
            <a:endParaRPr lang="en-US" sz="6000" dirty="0"/>
          </a:p>
        </p:txBody>
      </p:sp>
    </p:spTree>
    <p:extLst>
      <p:ext uri="{BB962C8B-B14F-4D97-AF65-F5344CB8AC3E}">
        <p14:creationId xmlns:p14="http://schemas.microsoft.com/office/powerpoint/2010/main" val="324260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9"/>
          <p:cNvSpPr txBox="1">
            <a:spLocks noGrp="1"/>
          </p:cNvSpPr>
          <p:nvPr>
            <p:ph type="title"/>
          </p:nvPr>
        </p:nvSpPr>
        <p:spPr>
          <a:xfrm>
            <a:off x="515937" y="2673350"/>
            <a:ext cx="7056300" cy="17955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Clr>
                <a:schemeClr val="dk1"/>
              </a:buClr>
              <a:buSzPts val="990"/>
              <a:buFont typeface="Arial"/>
              <a:buNone/>
            </a:pPr>
            <a:r>
              <a:rPr lang="en-US" sz="4820"/>
              <a:t>The Proposal</a:t>
            </a:r>
            <a:endParaRPr sz="4820">
              <a:solidFill>
                <a:schemeClr val="dk1"/>
              </a:solidFill>
            </a:endParaRPr>
          </a:p>
          <a:p>
            <a:pPr marL="0" lvl="0" indent="0" algn="l" rtl="0">
              <a:lnSpc>
                <a:spcPct val="115000"/>
              </a:lnSpc>
              <a:spcBef>
                <a:spcPts val="0"/>
              </a:spcBef>
              <a:spcAft>
                <a:spcPts val="0"/>
              </a:spcAft>
              <a:buSzPts val="990"/>
              <a:buNone/>
            </a:pPr>
            <a:endParaRPr sz="482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1"/>
          <p:cNvSpPr txBox="1">
            <a:spLocks noGrp="1"/>
          </p:cNvSpPr>
          <p:nvPr>
            <p:ph type="body" idx="1"/>
          </p:nvPr>
        </p:nvSpPr>
        <p:spPr>
          <a:xfrm>
            <a:off x="506483" y="1510906"/>
            <a:ext cx="11352600" cy="4672200"/>
          </a:xfrm>
          <a:prstGeom prst="rect">
            <a:avLst/>
          </a:prstGeom>
        </p:spPr>
        <p:txBody>
          <a:bodyPr spcFirstLastPara="1" wrap="square" lIns="0" tIns="0" rIns="0" bIns="0" anchor="t" anchorCtr="0">
            <a:noAutofit/>
          </a:bodyPr>
          <a:lstStyle/>
          <a:p>
            <a:pPr marL="0" lvl="0" indent="0" algn="l" rtl="0">
              <a:lnSpc>
                <a:spcPct val="125454"/>
              </a:lnSpc>
              <a:spcBef>
                <a:spcPts val="0"/>
              </a:spcBef>
              <a:spcAft>
                <a:spcPts val="0"/>
              </a:spcAft>
              <a:buClr>
                <a:schemeClr val="dk1"/>
              </a:buClr>
              <a:buSzPts val="1100"/>
              <a:buFont typeface="Arial"/>
              <a:buNone/>
            </a:pPr>
            <a:r>
              <a:rPr lang="en-US" b="1" dirty="0">
                <a:solidFill>
                  <a:srgbClr val="FF0000"/>
                </a:solidFill>
              </a:rPr>
              <a:t>ACE</a:t>
            </a:r>
            <a:r>
              <a:rPr lang="en-US" dirty="0">
                <a:solidFill>
                  <a:srgbClr val="FF0000"/>
                </a:solidFill>
              </a:rPr>
              <a:t> defines an ISA extension for full-round cryptographic operations using</a:t>
            </a:r>
            <a:br>
              <a:rPr lang="en-US" dirty="0">
                <a:solidFill>
                  <a:srgbClr val="FF0000"/>
                </a:solidFill>
              </a:rPr>
            </a:br>
            <a:r>
              <a:rPr lang="en-US" b="1" dirty="0">
                <a:solidFill>
                  <a:srgbClr val="FF0000"/>
                </a:solidFill>
              </a:rPr>
              <a:t>Cryptographic Contexts</a:t>
            </a:r>
            <a:r>
              <a:rPr lang="en-US" dirty="0">
                <a:solidFill>
                  <a:srgbClr val="FF0000"/>
                </a:solidFill>
              </a:rPr>
              <a:t>, indivisible data structures {metadata, key(s)} that keep the key(s) hidden, and can be stored in architectural states called </a:t>
            </a:r>
            <a:r>
              <a:rPr lang="en-US" b="1" dirty="0">
                <a:solidFill>
                  <a:srgbClr val="FF0000"/>
                </a:solidFill>
              </a:rPr>
              <a:t>Cryptographic Registers.</a:t>
            </a:r>
            <a:endParaRPr b="1" dirty="0">
              <a:solidFill>
                <a:srgbClr val="FF0000"/>
              </a:solidFill>
            </a:endParaRPr>
          </a:p>
          <a:p>
            <a:pPr marL="0" lvl="0" indent="0" algn="l" rtl="0">
              <a:lnSpc>
                <a:spcPct val="115000"/>
              </a:lnSpc>
              <a:spcBef>
                <a:spcPts val="0"/>
              </a:spcBef>
              <a:spcAft>
                <a:spcPts val="0"/>
              </a:spcAft>
              <a:buNone/>
            </a:pPr>
            <a:endParaRPr sz="1200" dirty="0">
              <a:solidFill>
                <a:schemeClr val="lt1"/>
              </a:solidFill>
            </a:endParaRPr>
          </a:p>
          <a:p>
            <a:pPr marL="457200" lvl="0" indent="-355600" algn="l" rtl="0">
              <a:lnSpc>
                <a:spcPct val="115000"/>
              </a:lnSpc>
              <a:spcBef>
                <a:spcPts val="200"/>
              </a:spcBef>
              <a:spcAft>
                <a:spcPts val="0"/>
              </a:spcAft>
              <a:buClr>
                <a:schemeClr val="lt1"/>
              </a:buClr>
              <a:buSzPts val="2000"/>
              <a:buChar char="•"/>
            </a:pPr>
            <a:r>
              <a:rPr lang="en-US" sz="2000" dirty="0">
                <a:solidFill>
                  <a:schemeClr val="lt1"/>
                </a:solidFill>
              </a:rPr>
              <a:t>Processes data one </a:t>
            </a:r>
            <a:r>
              <a:rPr lang="en-US" sz="2000" i="1" dirty="0">
                <a:solidFill>
                  <a:schemeClr val="lt1"/>
                </a:solidFill>
              </a:rPr>
              <a:t>block</a:t>
            </a:r>
            <a:r>
              <a:rPr lang="en-US" sz="2000" dirty="0">
                <a:solidFill>
                  <a:schemeClr val="lt1"/>
                </a:solidFill>
              </a:rPr>
              <a:t> at a time.</a:t>
            </a:r>
          </a:p>
          <a:p>
            <a:pPr marL="457200" lvl="0" indent="-355600" algn="l" rtl="0">
              <a:lnSpc>
                <a:spcPct val="115000"/>
              </a:lnSpc>
              <a:spcBef>
                <a:spcPts val="600"/>
              </a:spcBef>
              <a:spcAft>
                <a:spcPts val="0"/>
              </a:spcAft>
              <a:buClr>
                <a:schemeClr val="lt1"/>
              </a:buClr>
              <a:buSzPts val="2000"/>
              <a:buChar char="•"/>
            </a:pPr>
            <a:r>
              <a:rPr lang="en-US" sz="2000" dirty="0">
                <a:solidFill>
                  <a:schemeClr val="lt1"/>
                </a:solidFill>
              </a:rPr>
              <a:t>ACE uses Crypto Registers instead of the </a:t>
            </a:r>
            <a:r>
              <a:rPr lang="en-US" sz="2000" i="1" dirty="0">
                <a:solidFill>
                  <a:schemeClr val="lt1"/>
                </a:solidFill>
              </a:rPr>
              <a:t>clear </a:t>
            </a:r>
            <a:r>
              <a:rPr lang="en-US" sz="2000" dirty="0">
                <a:solidFill>
                  <a:schemeClr val="lt1"/>
                </a:solidFill>
              </a:rPr>
              <a:t>key.</a:t>
            </a:r>
          </a:p>
          <a:p>
            <a:pPr indent="-355600">
              <a:lnSpc>
                <a:spcPct val="115000"/>
              </a:lnSpc>
              <a:spcBef>
                <a:spcPts val="600"/>
              </a:spcBef>
              <a:buClr>
                <a:schemeClr val="lt1"/>
              </a:buClr>
              <a:buSzPts val="2000"/>
            </a:pPr>
            <a:r>
              <a:rPr lang="en-US" sz="2000" dirty="0">
                <a:solidFill>
                  <a:schemeClr val="lt1"/>
                </a:solidFill>
              </a:rPr>
              <a:t>The contents of the CRs are protected by the HW.</a:t>
            </a:r>
          </a:p>
          <a:p>
            <a:pPr indent="-355600">
              <a:lnSpc>
                <a:spcPct val="115000"/>
              </a:lnSpc>
              <a:spcBef>
                <a:spcPts val="600"/>
              </a:spcBef>
              <a:buClr>
                <a:schemeClr val="lt1"/>
              </a:buClr>
              <a:buSzPts val="2000"/>
            </a:pPr>
            <a:r>
              <a:rPr lang="en-US" sz="2000" dirty="0">
                <a:solidFill>
                  <a:schemeClr val="lt1"/>
                </a:solidFill>
              </a:rPr>
              <a:t>Metadata determines which algorithm can be used with the key.</a:t>
            </a:r>
            <a:endParaRPr sz="2000" dirty="0">
              <a:solidFill>
                <a:schemeClr val="lt1"/>
              </a:solidFill>
            </a:endParaRPr>
          </a:p>
          <a:p>
            <a:pPr marL="457200" lvl="0" indent="-355600" algn="l" rtl="0">
              <a:lnSpc>
                <a:spcPct val="115000"/>
              </a:lnSpc>
              <a:spcBef>
                <a:spcPts val="600"/>
              </a:spcBef>
              <a:spcAft>
                <a:spcPts val="0"/>
              </a:spcAft>
              <a:buClr>
                <a:schemeClr val="lt1"/>
              </a:buClr>
              <a:buSzPts val="2000"/>
              <a:buChar char="•"/>
            </a:pPr>
            <a:r>
              <a:rPr lang="en-US" sz="2000" dirty="0">
                <a:solidFill>
                  <a:schemeClr val="lt1"/>
                </a:solidFill>
              </a:rPr>
              <a:t>Multiple CRs can be active at the same time. Encoded like registers (0..31). Fast switching!</a:t>
            </a:r>
            <a:endParaRPr sz="2000" dirty="0">
              <a:solidFill>
                <a:schemeClr val="lt1"/>
              </a:solidFill>
            </a:endParaRPr>
          </a:p>
          <a:p>
            <a:pPr marL="457200" lvl="0" indent="-355600" algn="l" rtl="0">
              <a:lnSpc>
                <a:spcPct val="115000"/>
              </a:lnSpc>
              <a:spcBef>
                <a:spcPts val="600"/>
              </a:spcBef>
              <a:spcAft>
                <a:spcPts val="0"/>
              </a:spcAft>
              <a:buClr>
                <a:schemeClr val="lt1"/>
              </a:buClr>
              <a:buSzPts val="2000"/>
              <a:buChar char="•"/>
            </a:pPr>
            <a:r>
              <a:rPr lang="en-US" sz="2000" dirty="0">
                <a:solidFill>
                  <a:schemeClr val="lt1"/>
                </a:solidFill>
              </a:rPr>
              <a:t>The CRs are architectural (per hart, can be context switched — not global).</a:t>
            </a:r>
          </a:p>
          <a:p>
            <a:pPr indent="-355600">
              <a:lnSpc>
                <a:spcPct val="115000"/>
              </a:lnSpc>
              <a:spcBef>
                <a:spcPts val="600"/>
              </a:spcBef>
              <a:buClr>
                <a:schemeClr val="lt1"/>
              </a:buClr>
              <a:buSzPts val="2000"/>
            </a:pPr>
            <a:r>
              <a:rPr lang="en-US" sz="2000" dirty="0">
                <a:solidFill>
                  <a:schemeClr val="lt1"/>
                </a:solidFill>
              </a:rPr>
              <a:t>Interface can support several algorithms, no need for new instructions each time.</a:t>
            </a:r>
          </a:p>
          <a:p>
            <a:pPr marL="457200" lvl="0" indent="-355600" algn="l" rtl="0">
              <a:lnSpc>
                <a:spcPct val="115000"/>
              </a:lnSpc>
              <a:spcBef>
                <a:spcPts val="600"/>
              </a:spcBef>
              <a:spcAft>
                <a:spcPts val="0"/>
              </a:spcAft>
              <a:buClr>
                <a:schemeClr val="lt1"/>
              </a:buClr>
              <a:buSzPts val="2000"/>
              <a:buChar char="•"/>
            </a:pPr>
            <a:endParaRPr sz="2000" dirty="0">
              <a:solidFill>
                <a:schemeClr val="lt1"/>
              </a:solidFill>
            </a:endParaRPr>
          </a:p>
        </p:txBody>
      </p:sp>
      <p:sp>
        <p:nvSpPr>
          <p:cNvPr id="64" name="Google Shape;64;p11"/>
          <p:cNvSpPr txBox="1">
            <a:spLocks noGrp="1"/>
          </p:cNvSpPr>
          <p:nvPr>
            <p:ph type="title"/>
          </p:nvPr>
        </p:nvSpPr>
        <p:spPr>
          <a:xfrm>
            <a:off x="515937" y="628015"/>
            <a:ext cx="11160000" cy="647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US">
                <a:solidFill>
                  <a:schemeClr val="lt1"/>
                </a:solidFill>
              </a:rPr>
              <a:t>Proposal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515937" y="2673350"/>
            <a:ext cx="7056438" cy="1795555"/>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Clr>
                <a:schemeClr val="dk1"/>
              </a:buClr>
              <a:buSzPts val="990"/>
              <a:buFont typeface="Arial"/>
              <a:buNone/>
            </a:pPr>
            <a:r>
              <a:rPr lang="en-US" sz="4820"/>
              <a:t>The Problem</a:t>
            </a:r>
            <a:endParaRPr sz="4820">
              <a:solidFill>
                <a:schemeClr val="dk1"/>
              </a:solidFill>
            </a:endParaRPr>
          </a:p>
          <a:p>
            <a:pPr marL="0" lvl="0" indent="0" algn="l" rtl="0">
              <a:lnSpc>
                <a:spcPct val="115000"/>
              </a:lnSpc>
              <a:spcBef>
                <a:spcPts val="0"/>
              </a:spcBef>
              <a:spcAft>
                <a:spcPts val="0"/>
              </a:spcAft>
              <a:buSzPts val="990"/>
              <a:buNone/>
            </a:pPr>
            <a:endParaRPr sz="482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515936" y="628015"/>
            <a:ext cx="11160000" cy="647700"/>
          </a:xfrm>
          <a:prstGeom prst="rect">
            <a:avLst/>
          </a:prstGeom>
          <a:noFill/>
          <a:ln>
            <a:noFill/>
          </a:ln>
        </p:spPr>
        <p:txBody>
          <a:bodyPr spcFirstLastPara="1" wrap="square" lIns="0" tIns="0" rIns="0" bIns="0" anchor="t" anchorCtr="0">
            <a:normAutofit/>
          </a:bodyPr>
          <a:lstStyle/>
          <a:p>
            <a:pPr marL="0" marR="0" lvl="0" indent="0" algn="l" rtl="0">
              <a:lnSpc>
                <a:spcPct val="84000"/>
              </a:lnSpc>
              <a:spcBef>
                <a:spcPts val="0"/>
              </a:spcBef>
              <a:spcAft>
                <a:spcPts val="0"/>
              </a:spcAft>
              <a:buClr>
                <a:schemeClr val="accent2"/>
              </a:buClr>
              <a:buSzPts val="2800"/>
              <a:buFont typeface="Arial"/>
              <a:buNone/>
            </a:pPr>
            <a:r>
              <a:rPr lang="en-US">
                <a:latin typeface="Arial"/>
                <a:ea typeface="Arial"/>
                <a:cs typeface="Arial"/>
                <a:sym typeface="Arial"/>
              </a:rPr>
              <a:t>Use cases</a:t>
            </a:r>
            <a:endParaRPr>
              <a:latin typeface="Arial"/>
              <a:ea typeface="Arial"/>
              <a:cs typeface="Arial"/>
              <a:sym typeface="Arial"/>
            </a:endParaRPr>
          </a:p>
        </p:txBody>
      </p:sp>
      <p:sp>
        <p:nvSpPr>
          <p:cNvPr id="75" name="Google Shape;75;p13"/>
          <p:cNvSpPr txBox="1">
            <a:spLocks noGrp="1"/>
          </p:cNvSpPr>
          <p:nvPr>
            <p:ph type="body" idx="1"/>
          </p:nvPr>
        </p:nvSpPr>
        <p:spPr>
          <a:xfrm>
            <a:off x="515925" y="1440866"/>
            <a:ext cx="11160000" cy="5064000"/>
          </a:xfrm>
          <a:prstGeom prst="rect">
            <a:avLst/>
          </a:prstGeom>
          <a:noFill/>
          <a:ln>
            <a:noFill/>
          </a:ln>
        </p:spPr>
        <p:txBody>
          <a:bodyPr spcFirstLastPara="1" wrap="square" lIns="0" tIns="0" rIns="0" bIns="0" anchor="t" anchorCtr="0">
            <a:normAutofit/>
          </a:bodyPr>
          <a:lstStyle/>
          <a:p>
            <a:pPr marL="457200" lvl="0" indent="-342900" algn="l" rtl="0">
              <a:lnSpc>
                <a:spcPct val="115000"/>
              </a:lnSpc>
              <a:spcBef>
                <a:spcPts val="600"/>
              </a:spcBef>
              <a:spcAft>
                <a:spcPts val="0"/>
              </a:spcAft>
              <a:buClr>
                <a:schemeClr val="lt1"/>
              </a:buClr>
              <a:buSzPts val="1800"/>
              <a:buChar char="•"/>
            </a:pPr>
            <a:r>
              <a:rPr lang="en-US" sz="2035" dirty="0">
                <a:solidFill>
                  <a:schemeClr val="lt1"/>
                </a:solidFill>
              </a:rPr>
              <a:t>Decryption of premium content (including local decryption of LLMs/SLMs).</a:t>
            </a:r>
            <a:endParaRPr sz="2035" dirty="0">
              <a:solidFill>
                <a:schemeClr val="lt1"/>
              </a:solidFill>
            </a:endParaRPr>
          </a:p>
          <a:p>
            <a:pPr marL="457200" lvl="0" indent="-342900" algn="l" rtl="0">
              <a:lnSpc>
                <a:spcPct val="115000"/>
              </a:lnSpc>
              <a:spcBef>
                <a:spcPts val="600"/>
              </a:spcBef>
              <a:spcAft>
                <a:spcPts val="0"/>
              </a:spcAft>
              <a:buClr>
                <a:schemeClr val="lt1"/>
              </a:buClr>
              <a:buSzPts val="1800"/>
              <a:buChar char="•"/>
            </a:pPr>
            <a:r>
              <a:rPr lang="en-US" sz="2035" dirty="0">
                <a:solidFill>
                  <a:schemeClr val="lt1"/>
                </a:solidFill>
              </a:rPr>
              <a:t>Key management.</a:t>
            </a:r>
            <a:endParaRPr sz="2035" dirty="0"/>
          </a:p>
          <a:p>
            <a:pPr marL="457200" lvl="0" indent="-342900" algn="l" rtl="0">
              <a:lnSpc>
                <a:spcPct val="115000"/>
              </a:lnSpc>
              <a:spcBef>
                <a:spcPts val="600"/>
              </a:spcBef>
              <a:spcAft>
                <a:spcPts val="0"/>
              </a:spcAft>
              <a:buSzPts val="1800"/>
              <a:buChar char="•"/>
            </a:pPr>
            <a:r>
              <a:rPr lang="en-US" sz="2035" dirty="0"/>
              <a:t>Communications.</a:t>
            </a:r>
          </a:p>
          <a:p>
            <a:pPr marL="457200" lvl="0" indent="-342900" algn="l" rtl="0">
              <a:lnSpc>
                <a:spcPct val="115000"/>
              </a:lnSpc>
              <a:spcBef>
                <a:spcPts val="600"/>
              </a:spcBef>
              <a:spcAft>
                <a:spcPts val="0"/>
              </a:spcAft>
              <a:buSzPts val="1800"/>
              <a:buChar char="•"/>
            </a:pPr>
            <a:r>
              <a:rPr lang="en-US" sz="2035" dirty="0"/>
              <a:t>Automotive (need for agile use of several keys at the same time, respect expected timing).</a:t>
            </a:r>
            <a:endParaRPr sz="2035" dirty="0"/>
          </a:p>
          <a:p>
            <a:pPr marL="457200" lvl="0" indent="-342900" algn="l" rtl="0">
              <a:lnSpc>
                <a:spcPct val="115000"/>
              </a:lnSpc>
              <a:spcBef>
                <a:spcPts val="600"/>
              </a:spcBef>
              <a:spcAft>
                <a:spcPts val="0"/>
              </a:spcAft>
              <a:buSzPts val="1800"/>
              <a:buChar char="•"/>
            </a:pPr>
            <a:r>
              <a:rPr lang="en-US" sz="2035" dirty="0"/>
              <a:t>Storage encryption.</a:t>
            </a:r>
            <a:endParaRPr sz="2035" dirty="0"/>
          </a:p>
          <a:p>
            <a:pPr marL="457200" lvl="0" indent="-342900" algn="l" rtl="0">
              <a:lnSpc>
                <a:spcPct val="115000"/>
              </a:lnSpc>
              <a:spcBef>
                <a:spcPts val="600"/>
              </a:spcBef>
              <a:spcAft>
                <a:spcPts val="0"/>
              </a:spcAft>
              <a:buSzPts val="1800"/>
              <a:buChar char="•"/>
            </a:pPr>
            <a:r>
              <a:rPr lang="en-US" sz="2035" dirty="0"/>
              <a:t>Cryptography for small embedded devices.</a:t>
            </a:r>
            <a:endParaRPr sz="2035" dirty="0"/>
          </a:p>
          <a:p>
            <a:pPr marL="457200" lvl="0" indent="-342900" algn="l" rtl="0">
              <a:lnSpc>
                <a:spcPct val="115000"/>
              </a:lnSpc>
              <a:spcBef>
                <a:spcPts val="600"/>
              </a:spcBef>
              <a:spcAft>
                <a:spcPts val="0"/>
              </a:spcAft>
              <a:buSzPts val="1800"/>
              <a:buChar char="•"/>
            </a:pPr>
            <a:r>
              <a:rPr lang="en-US" sz="2035" dirty="0"/>
              <a:t>Secure boot and/or attestation in bootloaders without invoking a separate HW block.</a:t>
            </a:r>
          </a:p>
          <a:p>
            <a:pPr marL="457200" lvl="0" indent="-342900" algn="l" rtl="0">
              <a:lnSpc>
                <a:spcPct val="115000"/>
              </a:lnSpc>
              <a:spcBef>
                <a:spcPts val="600"/>
              </a:spcBef>
              <a:spcAft>
                <a:spcPts val="0"/>
              </a:spcAft>
              <a:buSzPts val="1800"/>
              <a:buChar char="•"/>
            </a:pPr>
            <a:r>
              <a:rPr lang="en-US" sz="2035" dirty="0"/>
              <a:t>Virtualization and Multiple Worlds (isolation of keys between environments).</a:t>
            </a:r>
            <a:br>
              <a:rPr lang="en-US" sz="2035" dirty="0"/>
            </a:br>
            <a:endParaRPr lang="en-US" sz="2035"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4"/>
          <p:cNvSpPr txBox="1">
            <a:spLocks noGrp="1"/>
          </p:cNvSpPr>
          <p:nvPr>
            <p:ph type="body" idx="1"/>
          </p:nvPr>
        </p:nvSpPr>
        <p:spPr>
          <a:xfrm>
            <a:off x="515937" y="1451186"/>
            <a:ext cx="11160000" cy="4672200"/>
          </a:xfrm>
          <a:prstGeom prst="rect">
            <a:avLst/>
          </a:prstGeom>
        </p:spPr>
        <p:txBody>
          <a:bodyPr spcFirstLastPara="1" wrap="square" lIns="0" tIns="0" rIns="0" bIns="0" anchor="t" anchorCtr="0">
            <a:normAutofit/>
          </a:bodyPr>
          <a:lstStyle/>
          <a:p>
            <a:pPr marL="0" lvl="0" indent="0" algn="l" rtl="0">
              <a:lnSpc>
                <a:spcPct val="115000"/>
              </a:lnSpc>
              <a:spcBef>
                <a:spcPts val="0"/>
              </a:spcBef>
              <a:spcAft>
                <a:spcPts val="0"/>
              </a:spcAft>
              <a:buNone/>
            </a:pPr>
            <a:r>
              <a:rPr lang="en-US" sz="2000" dirty="0">
                <a:solidFill>
                  <a:schemeClr val="lt1"/>
                </a:solidFill>
              </a:rPr>
              <a:t>Because:</a:t>
            </a:r>
            <a:endParaRPr sz="2000" dirty="0">
              <a:solidFill>
                <a:schemeClr val="lt1"/>
              </a:solidFill>
            </a:endParaRPr>
          </a:p>
          <a:p>
            <a:pPr marL="457200" lvl="0" indent="-342900" algn="l" rtl="0">
              <a:lnSpc>
                <a:spcPct val="115000"/>
              </a:lnSpc>
              <a:spcBef>
                <a:spcPts val="1000"/>
              </a:spcBef>
              <a:spcAft>
                <a:spcPts val="0"/>
              </a:spcAft>
              <a:buClr>
                <a:schemeClr val="lt1"/>
              </a:buClr>
              <a:buSzPts val="1800"/>
              <a:buChar char="•"/>
            </a:pPr>
            <a:r>
              <a:rPr lang="en-US" sz="2000" dirty="0">
                <a:solidFill>
                  <a:schemeClr val="lt1"/>
                </a:solidFill>
              </a:rPr>
              <a:t>Round-based ISAs (AES instructions) need to add the key in clear between the rounds.</a:t>
            </a:r>
            <a:endParaRPr sz="2000" dirty="0">
              <a:solidFill>
                <a:schemeClr val="lt1"/>
              </a:solidFill>
            </a:endParaRPr>
          </a:p>
          <a:p>
            <a:pPr lvl="0" indent="0">
              <a:lnSpc>
                <a:spcPct val="115000"/>
              </a:lnSpc>
              <a:spcBef>
                <a:spcPts val="600"/>
              </a:spcBef>
              <a:buNone/>
            </a:pPr>
            <a:r>
              <a:rPr lang="en-US" sz="2000" dirty="0">
                <a:solidFill>
                  <a:schemeClr val="dk1"/>
                </a:solidFill>
              </a:rPr>
              <a:t> 	</a:t>
            </a:r>
            <a:r>
              <a:rPr lang="en-US" sz="2000" dirty="0">
                <a:solidFill>
                  <a:schemeClr val="lt1"/>
                </a:solidFill>
              </a:rPr>
              <a:t>⇒ We need full-round instructions, so the key is a “hidden” input &amp; cannot be recomputed.</a:t>
            </a:r>
            <a:endParaRPr sz="2000" dirty="0">
              <a:solidFill>
                <a:schemeClr val="lt1"/>
              </a:solidFill>
            </a:endParaRPr>
          </a:p>
          <a:p>
            <a:pPr marL="457200" lvl="0" indent="-342900" algn="l" rtl="0">
              <a:lnSpc>
                <a:spcPct val="115000"/>
              </a:lnSpc>
              <a:spcBef>
                <a:spcPts val="600"/>
              </a:spcBef>
              <a:spcAft>
                <a:spcPts val="0"/>
              </a:spcAft>
              <a:buClr>
                <a:schemeClr val="lt1"/>
              </a:buClr>
              <a:buSzPts val="1800"/>
              <a:buChar char="•"/>
            </a:pPr>
            <a:r>
              <a:rPr lang="en-US" sz="2000" dirty="0">
                <a:solidFill>
                  <a:schemeClr val="lt1"/>
                </a:solidFill>
              </a:rPr>
              <a:t>Lack of trust, no key management (blocks) except in external IP blocks or TEE applets.</a:t>
            </a:r>
            <a:endParaRPr sz="2000" dirty="0">
              <a:solidFill>
                <a:schemeClr val="lt1"/>
              </a:solidFill>
            </a:endParaRPr>
          </a:p>
          <a:p>
            <a:pPr marL="457200" lvl="0" indent="-342900" algn="l" rtl="0">
              <a:lnSpc>
                <a:spcPct val="115000"/>
              </a:lnSpc>
              <a:spcBef>
                <a:spcPts val="600"/>
              </a:spcBef>
              <a:spcAft>
                <a:spcPts val="0"/>
              </a:spcAft>
              <a:buClr>
                <a:schemeClr val="lt1"/>
              </a:buClr>
              <a:buSzPts val="1800"/>
              <a:buChar char="•"/>
            </a:pPr>
            <a:r>
              <a:rPr lang="en-US" sz="2000" dirty="0">
                <a:solidFill>
                  <a:schemeClr val="lt1"/>
                </a:solidFill>
              </a:rPr>
              <a:t>These require substantial work to configure shared mem buffers, copy data around. </a:t>
            </a:r>
            <a:endParaRPr sz="2000" dirty="0">
              <a:solidFill>
                <a:schemeClr val="lt1"/>
              </a:solidFill>
            </a:endParaRPr>
          </a:p>
          <a:p>
            <a:pPr marL="457200" lvl="0" indent="-342900" algn="l" rtl="0">
              <a:lnSpc>
                <a:spcPct val="115000"/>
              </a:lnSpc>
              <a:spcBef>
                <a:spcPts val="600"/>
              </a:spcBef>
              <a:spcAft>
                <a:spcPts val="0"/>
              </a:spcAft>
              <a:buClr>
                <a:schemeClr val="lt1"/>
              </a:buClr>
              <a:buSzPts val="1800"/>
              <a:buChar char="•"/>
            </a:pPr>
            <a:r>
              <a:rPr lang="en-US" sz="2000" dirty="0">
                <a:solidFill>
                  <a:schemeClr val="lt1"/>
                </a:solidFill>
              </a:rPr>
              <a:t>In some modes, derived values should also not leak. [*]</a:t>
            </a:r>
            <a:endParaRPr sz="2000" dirty="0">
              <a:solidFill>
                <a:schemeClr val="lt1"/>
              </a:solidFill>
            </a:endParaRPr>
          </a:p>
          <a:p>
            <a:pPr marL="457200" lvl="0" indent="457200" algn="l" rtl="0">
              <a:lnSpc>
                <a:spcPct val="115000"/>
              </a:lnSpc>
              <a:spcBef>
                <a:spcPts val="600"/>
              </a:spcBef>
              <a:spcAft>
                <a:spcPts val="0"/>
              </a:spcAft>
              <a:buNone/>
            </a:pPr>
            <a:r>
              <a:rPr lang="en-US" sz="2000" dirty="0">
                <a:solidFill>
                  <a:schemeClr val="lt1"/>
                </a:solidFill>
              </a:rPr>
              <a:t>⇒ We need to hide these derived values as well. Sometimes they are just added.</a:t>
            </a:r>
            <a:endParaRPr sz="2000" dirty="0">
              <a:solidFill>
                <a:schemeClr val="lt1"/>
              </a:solidFill>
            </a:endParaRPr>
          </a:p>
          <a:p>
            <a:pPr marL="457200" lvl="0" indent="457200" algn="l" rtl="0">
              <a:lnSpc>
                <a:spcPct val="115000"/>
              </a:lnSpc>
              <a:spcBef>
                <a:spcPts val="600"/>
              </a:spcBef>
              <a:spcAft>
                <a:spcPts val="0"/>
              </a:spcAft>
              <a:buNone/>
            </a:pPr>
            <a:r>
              <a:rPr lang="en-US" sz="2000" dirty="0">
                <a:solidFill>
                  <a:schemeClr val="lt1"/>
                </a:solidFill>
              </a:rPr>
              <a:t>⇒ We need to support (some) modes, not just primitives.</a:t>
            </a:r>
            <a:endParaRPr sz="2000" dirty="0">
              <a:solidFill>
                <a:schemeClr val="lt1"/>
              </a:solidFill>
            </a:endParaRPr>
          </a:p>
          <a:p>
            <a:pPr indent="0">
              <a:lnSpc>
                <a:spcPct val="115000"/>
              </a:lnSpc>
              <a:spcBef>
                <a:spcPts val="600"/>
              </a:spcBef>
              <a:buNone/>
            </a:pPr>
            <a:r>
              <a:rPr lang="en-US" sz="2000" dirty="0">
                <a:solidFill>
                  <a:schemeClr val="lt1"/>
                </a:solidFill>
              </a:rPr>
              <a:t>	⇒ Many modes have derived keys: supporting them reduce resource use.</a:t>
            </a:r>
          </a:p>
          <a:p>
            <a:pPr marL="457200" lvl="0" indent="0" algn="l" rtl="0">
              <a:lnSpc>
                <a:spcPct val="115000"/>
              </a:lnSpc>
              <a:spcBef>
                <a:spcPts val="600"/>
              </a:spcBef>
              <a:spcAft>
                <a:spcPts val="0"/>
              </a:spcAft>
              <a:buNone/>
            </a:pPr>
            <a:endParaRPr sz="2000" i="1" dirty="0">
              <a:solidFill>
                <a:schemeClr val="lt1"/>
              </a:solidFill>
            </a:endParaRPr>
          </a:p>
          <a:p>
            <a:pPr marL="0" lvl="0" indent="0" algn="l" rtl="0">
              <a:lnSpc>
                <a:spcPct val="115000"/>
              </a:lnSpc>
              <a:spcBef>
                <a:spcPts val="200"/>
              </a:spcBef>
              <a:spcAft>
                <a:spcPts val="200"/>
              </a:spcAft>
              <a:buNone/>
            </a:pPr>
            <a:r>
              <a:rPr lang="en-US" sz="2000" i="1" dirty="0">
                <a:solidFill>
                  <a:schemeClr val="lt1"/>
                </a:solidFill>
              </a:rPr>
              <a:t>Existing solution tend to trade </a:t>
            </a:r>
            <a:r>
              <a:rPr lang="en-US" sz="2000" b="1" i="1" dirty="0">
                <a:solidFill>
                  <a:srgbClr val="FF0000"/>
                </a:solidFill>
              </a:rPr>
              <a:t>performance</a:t>
            </a:r>
            <a:r>
              <a:rPr lang="en-US" sz="2000" i="1" dirty="0">
                <a:solidFill>
                  <a:schemeClr val="lt1"/>
                </a:solidFill>
              </a:rPr>
              <a:t> against </a:t>
            </a:r>
            <a:r>
              <a:rPr lang="en-US" sz="2000" b="1" i="1" dirty="0">
                <a:solidFill>
                  <a:srgbClr val="FF0000"/>
                </a:solidFill>
              </a:rPr>
              <a:t>trust</a:t>
            </a:r>
            <a:r>
              <a:rPr lang="en-US" sz="2000" i="1" dirty="0">
                <a:solidFill>
                  <a:schemeClr val="lt1"/>
                </a:solidFill>
              </a:rPr>
              <a:t>.</a:t>
            </a:r>
            <a:endParaRPr sz="2000" i="1" dirty="0">
              <a:solidFill>
                <a:schemeClr val="lt1"/>
              </a:solidFill>
            </a:endParaRPr>
          </a:p>
        </p:txBody>
      </p:sp>
      <p:sp>
        <p:nvSpPr>
          <p:cNvPr id="81" name="Google Shape;81;p14"/>
          <p:cNvSpPr txBox="1">
            <a:spLocks noGrp="1"/>
          </p:cNvSpPr>
          <p:nvPr>
            <p:ph type="title"/>
          </p:nvPr>
        </p:nvSpPr>
        <p:spPr>
          <a:xfrm>
            <a:off x="515937" y="628015"/>
            <a:ext cx="11160000" cy="647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US" dirty="0"/>
              <a:t>Current solutions are inadequate</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0">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0">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0">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0">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0">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1B05E-0804-C43C-7E81-E98BA57CFAD5}"/>
              </a:ext>
            </a:extLst>
          </p:cNvPr>
          <p:cNvSpPr>
            <a:spLocks noGrp="1"/>
          </p:cNvSpPr>
          <p:nvPr>
            <p:ph type="title"/>
          </p:nvPr>
        </p:nvSpPr>
        <p:spPr/>
        <p:txBody>
          <a:bodyPr/>
          <a:lstStyle/>
          <a:p>
            <a:r>
              <a:rPr lang="en-US" dirty="0"/>
              <a:t>Current solutions are inadequate (for Risc-V)</a:t>
            </a:r>
          </a:p>
        </p:txBody>
      </p:sp>
      <p:sp>
        <p:nvSpPr>
          <p:cNvPr id="3" name="Text Placeholder 2">
            <a:extLst>
              <a:ext uri="{FF2B5EF4-FFF2-40B4-BE49-F238E27FC236}">
                <a16:creationId xmlns:a16="http://schemas.microsoft.com/office/drawing/2014/main" id="{1B6F5957-9D8B-DA57-6482-748C4D91F3BB}"/>
              </a:ext>
            </a:extLst>
          </p:cNvPr>
          <p:cNvSpPr>
            <a:spLocks noGrp="1"/>
          </p:cNvSpPr>
          <p:nvPr>
            <p:ph type="body" idx="1"/>
          </p:nvPr>
        </p:nvSpPr>
        <p:spPr/>
        <p:txBody>
          <a:bodyPr>
            <a:normAutofit fontScale="92500" lnSpcReduction="20000"/>
          </a:bodyPr>
          <a:lstStyle/>
          <a:p>
            <a:pPr marL="114300" indent="0">
              <a:lnSpc>
                <a:spcPct val="120000"/>
              </a:lnSpc>
              <a:buNone/>
            </a:pPr>
            <a:r>
              <a:rPr lang="en-US" dirty="0"/>
              <a:t>Intel has </a:t>
            </a:r>
            <a:r>
              <a:rPr lang="en-US" b="1" dirty="0"/>
              <a:t>Key Locker</a:t>
            </a:r>
            <a:r>
              <a:rPr lang="en-US" dirty="0"/>
              <a:t>:</a:t>
            </a:r>
          </a:p>
          <a:p>
            <a:pPr lvl="1">
              <a:lnSpc>
                <a:spcPct val="120000"/>
              </a:lnSpc>
            </a:pPr>
            <a:r>
              <a:rPr lang="en-US" dirty="0"/>
              <a:t>Only fundamental primitive (AES 128/192/256), and direction seems to the one set of instructions PER primitive–does not scale (EU CRA ACM?)</a:t>
            </a:r>
          </a:p>
          <a:p>
            <a:pPr lvl="1">
              <a:lnSpc>
                <a:spcPct val="120000"/>
              </a:lnSpc>
            </a:pPr>
            <a:r>
              <a:rPr lang="en-US" dirty="0"/>
              <a:t>No support for modes of operation (some break if intermediate values leak)</a:t>
            </a:r>
          </a:p>
          <a:p>
            <a:pPr lvl="1">
              <a:lnSpc>
                <a:spcPct val="120000"/>
              </a:lnSpc>
            </a:pPr>
            <a:r>
              <a:rPr lang="en-US" dirty="0"/>
              <a:t>Very CISC-y (instructions are simple in the ISA–need tons of microcode)</a:t>
            </a:r>
          </a:p>
          <a:p>
            <a:pPr lvl="1">
              <a:lnSpc>
                <a:spcPct val="120000"/>
              </a:lnSpc>
            </a:pPr>
            <a:endParaRPr lang="en-US" dirty="0"/>
          </a:p>
          <a:p>
            <a:pPr marL="114300" indent="0">
              <a:lnSpc>
                <a:spcPct val="120000"/>
              </a:lnSpc>
              <a:buNone/>
            </a:pPr>
            <a:r>
              <a:rPr lang="en-US" dirty="0"/>
              <a:t>IBM has the </a:t>
            </a:r>
            <a:r>
              <a:rPr lang="en-US" b="1" dirty="0"/>
              <a:t>Protected Key</a:t>
            </a:r>
            <a:r>
              <a:rPr lang="en-US" dirty="0"/>
              <a:t> feature:</a:t>
            </a:r>
          </a:p>
          <a:p>
            <a:pPr lvl="1">
              <a:lnSpc>
                <a:spcPct val="120000"/>
              </a:lnSpc>
            </a:pPr>
            <a:r>
              <a:rPr lang="en-US" dirty="0"/>
              <a:t>Does not scale like Intel’s</a:t>
            </a:r>
          </a:p>
          <a:p>
            <a:pPr lvl="1">
              <a:lnSpc>
                <a:spcPct val="120000"/>
              </a:lnSpc>
            </a:pPr>
            <a:r>
              <a:rPr lang="en-US" dirty="0"/>
              <a:t>Very CISC-y: Instructions take multiple pointers, all processing in memory, payloads processed in one go. (Completely </a:t>
            </a:r>
            <a:r>
              <a:rPr lang="en-US" dirty="0" err="1"/>
              <a:t>microcoded</a:t>
            </a:r>
            <a:r>
              <a:rPr lang="en-US" dirty="0"/>
              <a:t>.)</a:t>
            </a:r>
          </a:p>
          <a:p>
            <a:pPr lvl="1">
              <a:lnSpc>
                <a:spcPct val="120000"/>
              </a:lnSpc>
            </a:pPr>
            <a:r>
              <a:rPr lang="en-US" dirty="0"/>
              <a:t>Support for public key crypto, intermediate values exposed to memory</a:t>
            </a:r>
          </a:p>
          <a:p>
            <a:pPr lvl="1">
              <a:lnSpc>
                <a:spcPct val="120000"/>
              </a:lnSpc>
            </a:pPr>
            <a:endParaRPr lang="en-US" dirty="0"/>
          </a:p>
        </p:txBody>
      </p:sp>
    </p:spTree>
    <p:extLst>
      <p:ext uri="{BB962C8B-B14F-4D97-AF65-F5344CB8AC3E}">
        <p14:creationId xmlns:p14="http://schemas.microsoft.com/office/powerpoint/2010/main" val="3071656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5"/>
          <p:cNvSpPr txBox="1">
            <a:spLocks noGrp="1"/>
          </p:cNvSpPr>
          <p:nvPr>
            <p:ph type="title"/>
          </p:nvPr>
        </p:nvSpPr>
        <p:spPr>
          <a:xfrm>
            <a:off x="515937" y="2673350"/>
            <a:ext cx="7056300" cy="17955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SzPts val="990"/>
              <a:buNone/>
            </a:pPr>
            <a:r>
              <a:rPr lang="en-US" sz="4820"/>
              <a:t>The Solution</a:t>
            </a:r>
            <a:endParaRPr sz="482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6"/>
          <p:cNvSpPr txBox="1">
            <a:spLocks noGrp="1"/>
          </p:cNvSpPr>
          <p:nvPr>
            <p:ph type="title"/>
          </p:nvPr>
        </p:nvSpPr>
        <p:spPr>
          <a:xfrm>
            <a:off x="515937" y="628015"/>
            <a:ext cx="11160000" cy="647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US">
                <a:solidFill>
                  <a:schemeClr val="lt1"/>
                </a:solidFill>
              </a:rPr>
              <a:t>Proposal</a:t>
            </a:r>
            <a:endParaRPr/>
          </a:p>
        </p:txBody>
      </p:sp>
      <p:sp>
        <p:nvSpPr>
          <p:cNvPr id="92" name="Google Shape;92;p16"/>
          <p:cNvSpPr txBox="1">
            <a:spLocks noGrp="1"/>
          </p:cNvSpPr>
          <p:nvPr>
            <p:ph type="body" idx="1"/>
          </p:nvPr>
        </p:nvSpPr>
        <p:spPr>
          <a:xfrm>
            <a:off x="506013" y="1512744"/>
            <a:ext cx="11352600" cy="4672200"/>
          </a:xfrm>
          <a:prstGeom prst="rect">
            <a:avLst/>
          </a:prstGeom>
        </p:spPr>
        <p:txBody>
          <a:bodyPr spcFirstLastPara="1" wrap="square" lIns="0" tIns="0" rIns="0" bIns="0" anchor="t" anchorCtr="0">
            <a:noAutofit/>
          </a:bodyPr>
          <a:lstStyle/>
          <a:p>
            <a:pPr marL="0" lvl="0" indent="0" algn="l" rtl="0">
              <a:lnSpc>
                <a:spcPct val="125454"/>
              </a:lnSpc>
              <a:spcBef>
                <a:spcPts val="0"/>
              </a:spcBef>
              <a:spcAft>
                <a:spcPts val="0"/>
              </a:spcAft>
              <a:buClr>
                <a:schemeClr val="dk1"/>
              </a:buClr>
              <a:buSzPts val="1100"/>
              <a:buFont typeface="Arial"/>
              <a:buNone/>
            </a:pPr>
            <a:r>
              <a:rPr lang="en-US" b="1" dirty="0">
                <a:solidFill>
                  <a:srgbClr val="FFA1A0"/>
                </a:solidFill>
              </a:rPr>
              <a:t>ACE</a:t>
            </a:r>
            <a:r>
              <a:rPr lang="en-US" dirty="0">
                <a:solidFill>
                  <a:srgbClr val="FFA1A0"/>
                </a:solidFill>
              </a:rPr>
              <a:t> defines an ISA extension for full-round cryptographic operations using</a:t>
            </a:r>
            <a:br>
              <a:rPr lang="en-US" dirty="0">
                <a:solidFill>
                  <a:srgbClr val="FFA1A0"/>
                </a:solidFill>
              </a:rPr>
            </a:br>
            <a:r>
              <a:rPr lang="en-US" b="1" dirty="0">
                <a:solidFill>
                  <a:srgbClr val="FFA1A0"/>
                </a:solidFill>
              </a:rPr>
              <a:t>Cryptographic Contexts</a:t>
            </a:r>
            <a:r>
              <a:rPr lang="en-US" dirty="0">
                <a:solidFill>
                  <a:srgbClr val="FFA1A0"/>
                </a:solidFill>
              </a:rPr>
              <a:t>, indivisible data structures {metadata, key(s)} that keep the key(s) hidden, and are stored in architectural states called </a:t>
            </a:r>
            <a:r>
              <a:rPr lang="en-US" b="1" dirty="0">
                <a:solidFill>
                  <a:srgbClr val="FF0000"/>
                </a:solidFill>
              </a:rPr>
              <a:t>Cryptographic Registers.</a:t>
            </a:r>
            <a:endParaRPr b="1" dirty="0">
              <a:solidFill>
                <a:srgbClr val="FF0000"/>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lt1"/>
              </a:solidFill>
            </a:endParaRPr>
          </a:p>
          <a:p>
            <a:pPr lvl="0" indent="-355600">
              <a:lnSpc>
                <a:spcPct val="115000"/>
              </a:lnSpc>
              <a:spcBef>
                <a:spcPts val="200"/>
              </a:spcBef>
              <a:buClr>
                <a:schemeClr val="lt1"/>
              </a:buClr>
              <a:buSzPts val="2000"/>
            </a:pPr>
            <a:r>
              <a:rPr lang="en-US" sz="2000" dirty="0">
                <a:solidFill>
                  <a:schemeClr val="bg2">
                    <a:lumMod val="40000"/>
                    <a:lumOff val="60000"/>
                  </a:schemeClr>
                </a:solidFill>
              </a:rPr>
              <a:t>Processes data one </a:t>
            </a:r>
            <a:r>
              <a:rPr lang="en-US" sz="2000" i="1" dirty="0">
                <a:solidFill>
                  <a:schemeClr val="bg2">
                    <a:lumMod val="40000"/>
                    <a:lumOff val="60000"/>
                  </a:schemeClr>
                </a:solidFill>
              </a:rPr>
              <a:t>block</a:t>
            </a:r>
            <a:r>
              <a:rPr lang="en-US" sz="2000" dirty="0">
                <a:solidFill>
                  <a:schemeClr val="bg2">
                    <a:lumMod val="40000"/>
                    <a:lumOff val="60000"/>
                  </a:schemeClr>
                </a:solidFill>
              </a:rPr>
              <a:t> at a time.</a:t>
            </a:r>
          </a:p>
          <a:p>
            <a:pPr lvl="0" indent="-355600">
              <a:lnSpc>
                <a:spcPct val="115000"/>
              </a:lnSpc>
              <a:spcBef>
                <a:spcPts val="600"/>
              </a:spcBef>
              <a:buClr>
                <a:schemeClr val="lt1"/>
              </a:buClr>
              <a:buSzPts val="2000"/>
            </a:pPr>
            <a:r>
              <a:rPr lang="en-US" sz="2000" dirty="0">
                <a:solidFill>
                  <a:schemeClr val="bg2">
                    <a:lumMod val="40000"/>
                    <a:lumOff val="60000"/>
                  </a:schemeClr>
                </a:solidFill>
              </a:rPr>
              <a:t>ACE uses </a:t>
            </a:r>
            <a:r>
              <a:rPr lang="en-US" sz="2000" dirty="0">
                <a:solidFill>
                  <a:schemeClr val="tx1"/>
                </a:solidFill>
              </a:rPr>
              <a:t>Crypto Registers</a:t>
            </a:r>
            <a:r>
              <a:rPr lang="en-US" sz="2000" dirty="0">
                <a:solidFill>
                  <a:schemeClr val="bg2">
                    <a:lumMod val="40000"/>
                    <a:lumOff val="60000"/>
                  </a:schemeClr>
                </a:solidFill>
              </a:rPr>
              <a:t> instead of the </a:t>
            </a:r>
            <a:r>
              <a:rPr lang="en-US" sz="2000" i="1" dirty="0">
                <a:solidFill>
                  <a:schemeClr val="bg2">
                    <a:lumMod val="40000"/>
                    <a:lumOff val="60000"/>
                  </a:schemeClr>
                </a:solidFill>
              </a:rPr>
              <a:t>clear </a:t>
            </a:r>
            <a:r>
              <a:rPr lang="en-US" sz="2000" dirty="0">
                <a:solidFill>
                  <a:schemeClr val="bg2">
                    <a:lumMod val="40000"/>
                    <a:lumOff val="60000"/>
                  </a:schemeClr>
                </a:solidFill>
              </a:rPr>
              <a:t>key.</a:t>
            </a:r>
          </a:p>
          <a:p>
            <a:pPr indent="-355600">
              <a:lnSpc>
                <a:spcPct val="115000"/>
              </a:lnSpc>
              <a:spcBef>
                <a:spcPts val="600"/>
              </a:spcBef>
              <a:buClr>
                <a:schemeClr val="lt1"/>
              </a:buClr>
              <a:buSzPts val="2000"/>
            </a:pPr>
            <a:r>
              <a:rPr lang="en-US" sz="2000" dirty="0">
                <a:solidFill>
                  <a:schemeClr val="bg2">
                    <a:lumMod val="40000"/>
                    <a:lumOff val="60000"/>
                  </a:schemeClr>
                </a:solidFill>
              </a:rPr>
              <a:t>The contents of the </a:t>
            </a:r>
            <a:r>
              <a:rPr lang="en-US" sz="2000" dirty="0">
                <a:solidFill>
                  <a:schemeClr val="tx1"/>
                </a:solidFill>
              </a:rPr>
              <a:t>CRs</a:t>
            </a:r>
            <a:r>
              <a:rPr lang="en-US" sz="2000" dirty="0">
                <a:solidFill>
                  <a:schemeClr val="bg2">
                    <a:lumMod val="40000"/>
                    <a:lumOff val="60000"/>
                  </a:schemeClr>
                </a:solidFill>
              </a:rPr>
              <a:t> are protected by the HW.</a:t>
            </a:r>
          </a:p>
          <a:p>
            <a:pPr indent="-355600">
              <a:lnSpc>
                <a:spcPct val="115000"/>
              </a:lnSpc>
              <a:spcBef>
                <a:spcPts val="600"/>
              </a:spcBef>
              <a:buClr>
                <a:schemeClr val="lt1"/>
              </a:buClr>
              <a:buSzPts val="2000"/>
            </a:pPr>
            <a:r>
              <a:rPr lang="en-US" sz="2000" dirty="0">
                <a:solidFill>
                  <a:schemeClr val="bg2">
                    <a:lumMod val="40000"/>
                    <a:lumOff val="60000"/>
                  </a:schemeClr>
                </a:solidFill>
              </a:rPr>
              <a:t>Metadata determines which algorithm can be used with the key.</a:t>
            </a:r>
          </a:p>
          <a:p>
            <a:pPr lvl="0" indent="-355600">
              <a:lnSpc>
                <a:spcPct val="115000"/>
              </a:lnSpc>
              <a:spcBef>
                <a:spcPts val="600"/>
              </a:spcBef>
              <a:buClr>
                <a:schemeClr val="lt1"/>
              </a:buClr>
              <a:buSzPts val="2000"/>
            </a:pPr>
            <a:r>
              <a:rPr lang="en-US" sz="2000" dirty="0">
                <a:solidFill>
                  <a:schemeClr val="bg2">
                    <a:lumMod val="40000"/>
                    <a:lumOff val="60000"/>
                  </a:schemeClr>
                </a:solidFill>
              </a:rPr>
              <a:t>Multiple </a:t>
            </a:r>
            <a:r>
              <a:rPr lang="en-US" sz="2000" dirty="0">
                <a:solidFill>
                  <a:schemeClr val="tx1"/>
                </a:solidFill>
              </a:rPr>
              <a:t>CRs</a:t>
            </a:r>
            <a:r>
              <a:rPr lang="en-US" sz="2000" dirty="0">
                <a:solidFill>
                  <a:schemeClr val="bg2">
                    <a:lumMod val="40000"/>
                    <a:lumOff val="60000"/>
                  </a:schemeClr>
                </a:solidFill>
              </a:rPr>
              <a:t> can be active at the same time. Encoded like registers (0..31). Fast switching!</a:t>
            </a:r>
          </a:p>
          <a:p>
            <a:pPr lvl="0" indent="-355600">
              <a:lnSpc>
                <a:spcPct val="115000"/>
              </a:lnSpc>
              <a:spcBef>
                <a:spcPts val="600"/>
              </a:spcBef>
              <a:buClr>
                <a:schemeClr val="lt1"/>
              </a:buClr>
              <a:buSzPts val="2000"/>
            </a:pPr>
            <a:r>
              <a:rPr lang="en-US" sz="2000" dirty="0">
                <a:solidFill>
                  <a:schemeClr val="tx1"/>
                </a:solidFill>
              </a:rPr>
              <a:t>The CRs are architectural (per hart, </a:t>
            </a:r>
            <a:r>
              <a:rPr lang="en-US" sz="2000" b="1" dirty="0">
                <a:solidFill>
                  <a:schemeClr val="tx1"/>
                </a:solidFill>
              </a:rPr>
              <a:t>can be context switched</a:t>
            </a:r>
            <a:r>
              <a:rPr lang="en-US" sz="2000" dirty="0">
                <a:solidFill>
                  <a:schemeClr val="tx1"/>
                </a:solidFill>
              </a:rPr>
              <a:t> — not global).  </a:t>
            </a:r>
            <a:r>
              <a:rPr lang="en-US" sz="2000" b="1" dirty="0">
                <a:solidFill>
                  <a:srgbClr val="FF0000"/>
                </a:solidFill>
              </a:rPr>
              <a:t>HOW?</a:t>
            </a:r>
          </a:p>
          <a:p>
            <a:pPr lvl="0" indent="-355600">
              <a:lnSpc>
                <a:spcPct val="115000"/>
              </a:lnSpc>
              <a:spcBef>
                <a:spcPts val="600"/>
              </a:spcBef>
              <a:buClr>
                <a:schemeClr val="lt1"/>
              </a:buClr>
              <a:buSzPts val="2000"/>
            </a:pPr>
            <a:r>
              <a:rPr lang="en-US" sz="2000" dirty="0">
                <a:solidFill>
                  <a:schemeClr val="bg2">
                    <a:lumMod val="40000"/>
                    <a:lumOff val="60000"/>
                  </a:schemeClr>
                </a:solidFill>
              </a:rPr>
              <a:t>Interface can support several algorithms, no need for new instructions each 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8"/>
          <p:cNvSpPr txBox="1">
            <a:spLocks noGrp="1"/>
          </p:cNvSpPr>
          <p:nvPr>
            <p:ph type="body" idx="1"/>
          </p:nvPr>
        </p:nvSpPr>
        <p:spPr>
          <a:xfrm>
            <a:off x="515937" y="1514449"/>
            <a:ext cx="11160000" cy="4672200"/>
          </a:xfrm>
          <a:prstGeom prst="rect">
            <a:avLst/>
          </a:prstGeom>
        </p:spPr>
        <p:txBody>
          <a:bodyPr spcFirstLastPara="1" wrap="square" lIns="0" tIns="0" rIns="0" bIns="0" anchor="t" anchorCtr="0">
            <a:noAutofit/>
          </a:bodyPr>
          <a:lstStyle/>
          <a:p>
            <a:pPr marL="0" lvl="0" indent="0" algn="l" rtl="0">
              <a:lnSpc>
                <a:spcPct val="115000"/>
              </a:lnSpc>
              <a:spcBef>
                <a:spcPts val="0"/>
              </a:spcBef>
              <a:spcAft>
                <a:spcPts val="0"/>
              </a:spcAft>
              <a:buNone/>
            </a:pPr>
            <a:r>
              <a:rPr lang="en-US" dirty="0">
                <a:solidFill>
                  <a:srgbClr val="FF0000"/>
                </a:solidFill>
              </a:rPr>
              <a:t>Cryptographic</a:t>
            </a:r>
            <a:r>
              <a:rPr lang="en-US" b="1" dirty="0">
                <a:solidFill>
                  <a:srgbClr val="FF0000"/>
                </a:solidFill>
              </a:rPr>
              <a:t> Contexts</a:t>
            </a:r>
            <a:r>
              <a:rPr lang="en-US" dirty="0">
                <a:solidFill>
                  <a:srgbClr val="FF0000"/>
                </a:solidFill>
              </a:rPr>
              <a:t> (CCs) in</a:t>
            </a:r>
            <a:r>
              <a:rPr lang="en-US" b="1" dirty="0">
                <a:solidFill>
                  <a:srgbClr val="FF0000"/>
                </a:solidFill>
              </a:rPr>
              <a:t> </a:t>
            </a:r>
            <a:r>
              <a:rPr lang="en-US" dirty="0">
                <a:solidFill>
                  <a:srgbClr val="FF0000"/>
                </a:solidFill>
              </a:rPr>
              <a:t>Crypto</a:t>
            </a:r>
            <a:r>
              <a:rPr lang="en-US" b="1" dirty="0">
                <a:solidFill>
                  <a:srgbClr val="FF0000"/>
                </a:solidFill>
              </a:rPr>
              <a:t> Registers</a:t>
            </a:r>
            <a:r>
              <a:rPr lang="en-US" dirty="0">
                <a:solidFill>
                  <a:srgbClr val="FF0000"/>
                </a:solidFill>
              </a:rPr>
              <a:t> (CRs):</a:t>
            </a:r>
            <a:endParaRPr dirty="0">
              <a:solidFill>
                <a:srgbClr val="FF0000"/>
              </a:solidFill>
            </a:endParaRPr>
          </a:p>
          <a:p>
            <a:pPr marL="0" lvl="0" indent="0" algn="l" rtl="0">
              <a:lnSpc>
                <a:spcPct val="115000"/>
              </a:lnSpc>
              <a:spcBef>
                <a:spcPts val="0"/>
              </a:spcBef>
              <a:spcAft>
                <a:spcPts val="0"/>
              </a:spcAft>
              <a:buNone/>
            </a:pPr>
            <a:r>
              <a:rPr lang="en-US" dirty="0">
                <a:solidFill>
                  <a:srgbClr val="FF0000"/>
                </a:solidFill>
              </a:rPr>
              <a:t>How to initialize / save / restore them?</a:t>
            </a:r>
            <a:endParaRPr dirty="0">
              <a:solidFill>
                <a:srgbClr val="FF0000"/>
              </a:solidFill>
            </a:endParaRPr>
          </a:p>
          <a:p>
            <a:pPr marL="0" lvl="0" indent="0" algn="l" rtl="0">
              <a:lnSpc>
                <a:spcPct val="115000"/>
              </a:lnSpc>
              <a:spcBef>
                <a:spcPts val="0"/>
              </a:spcBef>
              <a:spcAft>
                <a:spcPts val="0"/>
              </a:spcAft>
              <a:buNone/>
            </a:pPr>
            <a:endParaRPr sz="2000" dirty="0">
              <a:solidFill>
                <a:schemeClr val="lt1"/>
              </a:solidFill>
            </a:endParaRPr>
          </a:p>
          <a:p>
            <a:pPr marL="457200" lvl="0" indent="-355600" algn="l" rtl="0">
              <a:lnSpc>
                <a:spcPct val="115000"/>
              </a:lnSpc>
              <a:spcBef>
                <a:spcPts val="0"/>
              </a:spcBef>
              <a:spcAft>
                <a:spcPts val="0"/>
              </a:spcAft>
              <a:buSzPts val="2000"/>
              <a:buChar char="•"/>
            </a:pPr>
            <a:r>
              <a:rPr lang="en-US" sz="2000" dirty="0">
                <a:solidFill>
                  <a:srgbClr val="C00000"/>
                </a:solidFill>
                <a:latin typeface="Aptos Mono" panose="020B0009020202020204" pitchFamily="49" charset="0"/>
              </a:rPr>
              <a:t>PROVISION</a:t>
            </a:r>
            <a:r>
              <a:rPr lang="en-US" sz="2000" dirty="0">
                <a:solidFill>
                  <a:schemeClr val="lt1"/>
                </a:solidFill>
                <a:latin typeface="Aptos Mono" panose="020B0009020202020204" pitchFamily="49" charset="0"/>
              </a:rPr>
              <a:t> </a:t>
            </a:r>
            <a:r>
              <a:rPr lang="en-US" sz="2000" dirty="0">
                <a:solidFill>
                  <a:schemeClr val="lt1"/>
                </a:solidFill>
              </a:rPr>
              <a:t>reads metadata and secrets from memory, places them into a CR.</a:t>
            </a:r>
            <a:endParaRPr sz="2000" dirty="0">
              <a:solidFill>
                <a:schemeClr val="lt1"/>
              </a:solidFill>
            </a:endParaRPr>
          </a:p>
          <a:p>
            <a:pPr lvl="1" indent="-355600">
              <a:lnSpc>
                <a:spcPct val="115000"/>
              </a:lnSpc>
              <a:spcBef>
                <a:spcPts val="800"/>
              </a:spcBef>
              <a:buClr>
                <a:schemeClr val="lt1"/>
              </a:buClr>
              <a:buSzPts val="2000"/>
            </a:pPr>
            <a:r>
              <a:rPr lang="en-US" sz="2000" dirty="0">
                <a:solidFill>
                  <a:schemeClr val="lt1"/>
                </a:solidFill>
              </a:rPr>
              <a:t>This creates a Cryptographic Context, binding the key(s) to the metadata.</a:t>
            </a:r>
            <a:endParaRPr sz="2000" dirty="0">
              <a:solidFill>
                <a:schemeClr val="lt1"/>
              </a:solidFill>
            </a:endParaRPr>
          </a:p>
          <a:p>
            <a:pPr marL="457200" lvl="0" indent="-355600" algn="l" rtl="0">
              <a:lnSpc>
                <a:spcPct val="115000"/>
              </a:lnSpc>
              <a:spcBef>
                <a:spcPts val="800"/>
              </a:spcBef>
              <a:spcAft>
                <a:spcPts val="0"/>
              </a:spcAft>
              <a:buSzPts val="2000"/>
              <a:buChar char="•"/>
            </a:pPr>
            <a:r>
              <a:rPr lang="en-US" sz="2000" dirty="0">
                <a:solidFill>
                  <a:schemeClr val="lt1"/>
                </a:solidFill>
              </a:rPr>
              <a:t>Then we can </a:t>
            </a:r>
            <a:r>
              <a:rPr lang="en-US" sz="2000" b="1" dirty="0">
                <a:solidFill>
                  <a:srgbClr val="FF0000"/>
                </a:solidFill>
              </a:rPr>
              <a:t>EXPORT</a:t>
            </a:r>
            <a:r>
              <a:rPr lang="en-US" sz="2000" dirty="0"/>
              <a:t> (and </a:t>
            </a:r>
            <a:r>
              <a:rPr lang="en-US" sz="2000" b="1" dirty="0">
                <a:solidFill>
                  <a:srgbClr val="FF0000"/>
                </a:solidFill>
              </a:rPr>
              <a:t>IMPORT</a:t>
            </a:r>
            <a:r>
              <a:rPr lang="en-US" sz="2000" dirty="0"/>
              <a:t>) a CC securely, using </a:t>
            </a:r>
            <a:r>
              <a:rPr lang="en-US" sz="2000" b="1" dirty="0"/>
              <a:t>encryption</a:t>
            </a:r>
            <a:r>
              <a:rPr lang="en-US" sz="2000" dirty="0"/>
              <a:t> and </a:t>
            </a:r>
            <a:r>
              <a:rPr lang="en-US" sz="2000" b="1" dirty="0"/>
              <a:t>authentication</a:t>
            </a:r>
            <a:r>
              <a:rPr lang="en-US" sz="2000" dirty="0"/>
              <a:t>.</a:t>
            </a:r>
            <a:endParaRPr sz="2000" dirty="0"/>
          </a:p>
          <a:p>
            <a:pPr lvl="1" indent="-355600">
              <a:lnSpc>
                <a:spcPct val="115000"/>
              </a:lnSpc>
              <a:spcBef>
                <a:spcPts val="800"/>
              </a:spcBef>
              <a:buSzPts val="2000"/>
            </a:pPr>
            <a:r>
              <a:rPr lang="en-US" sz="2000" dirty="0"/>
              <a:t>Exporting uses </a:t>
            </a:r>
            <a:r>
              <a:rPr lang="en-US" sz="2000" dirty="0">
                <a:solidFill>
                  <a:schemeClr val="lt1"/>
                </a:solidFill>
              </a:rPr>
              <a:t>a </a:t>
            </a:r>
            <a:r>
              <a:rPr lang="en-US" sz="2000" b="1" dirty="0">
                <a:solidFill>
                  <a:srgbClr val="FF0000"/>
                </a:solidFill>
              </a:rPr>
              <a:t>Context Sealing Key</a:t>
            </a:r>
            <a:r>
              <a:rPr lang="en-US" sz="2000" dirty="0">
                <a:solidFill>
                  <a:schemeClr val="lt1"/>
                </a:solidFill>
              </a:rPr>
              <a:t> (CSK, known only to Machine) …</a:t>
            </a:r>
            <a:endParaRPr sz="2000" dirty="0"/>
          </a:p>
          <a:p>
            <a:pPr lvl="1" indent="-355600">
              <a:lnSpc>
                <a:spcPct val="115000"/>
              </a:lnSpc>
              <a:spcBef>
                <a:spcPts val="800"/>
              </a:spcBef>
              <a:buSzPts val="2000"/>
            </a:pPr>
            <a:r>
              <a:rPr lang="en-US" sz="2000" dirty="0"/>
              <a:t>… and creates </a:t>
            </a:r>
            <a:r>
              <a:rPr lang="en-US" sz="2000" b="1" dirty="0">
                <a:solidFill>
                  <a:srgbClr val="FF0000"/>
                </a:solidFill>
              </a:rPr>
              <a:t>Sealed Cryptographic Contexts (SCC)</a:t>
            </a:r>
            <a:r>
              <a:rPr lang="en-US" sz="2000" dirty="0"/>
              <a:t>.</a:t>
            </a:r>
            <a:endParaRPr sz="2000" dirty="0"/>
          </a:p>
          <a:p>
            <a:pPr marL="457200" lvl="0" indent="-355600" algn="l" rtl="0">
              <a:lnSpc>
                <a:spcPct val="115000"/>
              </a:lnSpc>
              <a:spcBef>
                <a:spcPts val="800"/>
              </a:spcBef>
              <a:spcAft>
                <a:spcPts val="0"/>
              </a:spcAft>
              <a:buClr>
                <a:schemeClr val="lt1"/>
              </a:buClr>
              <a:buSzPts val="2000"/>
              <a:buChar char="•"/>
            </a:pPr>
            <a:r>
              <a:rPr lang="en-US" sz="2000" dirty="0">
                <a:solidFill>
                  <a:schemeClr val="lt1"/>
                </a:solidFill>
              </a:rPr>
              <a:t>Export / Import is necessary for context switching ...</a:t>
            </a:r>
          </a:p>
          <a:p>
            <a:pPr lvl="1" indent="-355600">
              <a:lnSpc>
                <a:spcPct val="115000"/>
              </a:lnSpc>
              <a:spcBef>
                <a:spcPts val="800"/>
              </a:spcBef>
              <a:buClr>
                <a:schemeClr val="lt1"/>
              </a:buClr>
              <a:buSzPts val="2000"/>
            </a:pPr>
            <a:r>
              <a:rPr lang="en-US" sz="2000" dirty="0">
                <a:solidFill>
                  <a:schemeClr val="lt1"/>
                </a:solidFill>
              </a:rPr>
              <a:t>… and to pass keys from one environment to another.</a:t>
            </a:r>
          </a:p>
          <a:p>
            <a:pPr lvl="1" indent="-355600">
              <a:lnSpc>
                <a:spcPct val="115000"/>
              </a:lnSpc>
              <a:spcBef>
                <a:spcPts val="800"/>
              </a:spcBef>
              <a:spcAft>
                <a:spcPts val="800"/>
              </a:spcAft>
              <a:buClr>
                <a:schemeClr val="lt1"/>
              </a:buClr>
              <a:buSzPts val="2000"/>
            </a:pPr>
            <a:r>
              <a:rPr lang="en-US" sz="2000" dirty="0">
                <a:solidFill>
                  <a:schemeClr val="lt1"/>
                </a:solidFill>
              </a:rPr>
              <a:t>Compatibility with sleep / hibernate and VM migration.</a:t>
            </a:r>
          </a:p>
          <a:p>
            <a:pPr marL="457200" lvl="0" indent="-355600" algn="l" rtl="0">
              <a:lnSpc>
                <a:spcPct val="115000"/>
              </a:lnSpc>
              <a:spcBef>
                <a:spcPts val="800"/>
              </a:spcBef>
              <a:spcAft>
                <a:spcPts val="0"/>
              </a:spcAft>
              <a:buClr>
                <a:schemeClr val="lt1"/>
              </a:buClr>
              <a:buSzPts val="2000"/>
              <a:buChar char="•"/>
            </a:pPr>
            <a:endParaRPr sz="2000" dirty="0">
              <a:solidFill>
                <a:schemeClr val="lt1"/>
              </a:solidFill>
            </a:endParaRPr>
          </a:p>
          <a:p>
            <a:pPr marL="0" lvl="0" indent="0" algn="l" rtl="0">
              <a:lnSpc>
                <a:spcPct val="115000"/>
              </a:lnSpc>
              <a:spcBef>
                <a:spcPts val="800"/>
              </a:spcBef>
              <a:spcAft>
                <a:spcPts val="800"/>
              </a:spcAft>
              <a:buNone/>
            </a:pPr>
            <a:endParaRPr sz="2000" dirty="0">
              <a:solidFill>
                <a:schemeClr val="lt1"/>
              </a:solidFill>
            </a:endParaRPr>
          </a:p>
        </p:txBody>
      </p:sp>
      <p:sp>
        <p:nvSpPr>
          <p:cNvPr id="104" name="Google Shape;104;p18"/>
          <p:cNvSpPr txBox="1">
            <a:spLocks noGrp="1"/>
          </p:cNvSpPr>
          <p:nvPr>
            <p:ph type="title"/>
          </p:nvPr>
        </p:nvSpPr>
        <p:spPr>
          <a:xfrm>
            <a:off x="515937" y="628015"/>
            <a:ext cx="11160000" cy="647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US"/>
              <a:t>Some necessary features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FA5A0B28-EC0C-F94E-D9C1-5FAAE1F4BF8C}"/>
            </a:ext>
          </a:extLst>
        </p:cNvPr>
        <p:cNvGrpSpPr/>
        <p:nvPr/>
      </p:nvGrpSpPr>
      <p:grpSpPr>
        <a:xfrm>
          <a:off x="0" y="0"/>
          <a:ext cx="0" cy="0"/>
          <a:chOff x="0" y="0"/>
          <a:chExt cx="0" cy="0"/>
        </a:xfrm>
      </p:grpSpPr>
      <p:pic>
        <p:nvPicPr>
          <p:cNvPr id="11" name="Google Shape;128;p21" descr="PNG Envelope envelope paper | Premium PNG - rawpixel">
            <a:extLst>
              <a:ext uri="{FF2B5EF4-FFF2-40B4-BE49-F238E27FC236}">
                <a16:creationId xmlns:a16="http://schemas.microsoft.com/office/drawing/2014/main" id="{EEDD7B8B-1CDC-EB9B-825B-57D1074905A5}"/>
              </a:ext>
            </a:extLst>
          </p:cNvPr>
          <p:cNvPicPr preferRelativeResize="0">
            <a:picLocks noChangeAspect="1"/>
          </p:cNvPicPr>
          <p:nvPr/>
        </p:nvPicPr>
        <p:blipFill>
          <a:blip r:embed="rId3" cstate="email">
            <a:alphaModFix/>
            <a:extLst>
              <a:ext uri="{28A0092B-C50C-407E-A947-70E740481C1C}">
                <a14:useLocalDpi xmlns:a14="http://schemas.microsoft.com/office/drawing/2010/main"/>
              </a:ext>
            </a:extLst>
          </a:blip>
          <a:stretch>
            <a:fillRect/>
          </a:stretch>
        </p:blipFill>
        <p:spPr>
          <a:xfrm>
            <a:off x="2064671" y="2794949"/>
            <a:ext cx="1335319" cy="1051560"/>
          </a:xfrm>
          <a:prstGeom prst="rect">
            <a:avLst/>
          </a:prstGeom>
          <a:noFill/>
          <a:ln>
            <a:noFill/>
          </a:ln>
        </p:spPr>
      </p:pic>
      <p:pic>
        <p:nvPicPr>
          <p:cNvPr id="127" name="Google Shape;127;p21" descr="Vintage Schlüssel alt Clipart Kostenloses Stock Bild - Public ...">
            <a:extLst>
              <a:ext uri="{FF2B5EF4-FFF2-40B4-BE49-F238E27FC236}">
                <a16:creationId xmlns:a16="http://schemas.microsoft.com/office/drawing/2014/main" id="{626EC6B4-EAF8-7510-9857-B58B17D1DEF9}"/>
              </a:ext>
            </a:extLst>
          </p:cNvPr>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38048" y="2704557"/>
            <a:ext cx="2137309" cy="1140596"/>
          </a:xfrm>
          <a:prstGeom prst="rect">
            <a:avLst/>
          </a:prstGeom>
          <a:noFill/>
          <a:ln>
            <a:noFill/>
          </a:ln>
        </p:spPr>
      </p:pic>
      <p:pic>
        <p:nvPicPr>
          <p:cNvPr id="126" name="Google Shape;126;p21" descr="Book | Free Stock Photo | Illustration of a book | # 14342">
            <a:extLst>
              <a:ext uri="{FF2B5EF4-FFF2-40B4-BE49-F238E27FC236}">
                <a16:creationId xmlns:a16="http://schemas.microsoft.com/office/drawing/2014/main" id="{7D92C2BB-30F2-2956-C190-83A4AE3C28B7}"/>
              </a:ext>
            </a:extLst>
          </p:cNvPr>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9624897" y="2758025"/>
            <a:ext cx="1632477" cy="1087128"/>
          </a:xfrm>
          <a:prstGeom prst="rect">
            <a:avLst/>
          </a:prstGeom>
          <a:noFill/>
          <a:ln>
            <a:noFill/>
          </a:ln>
        </p:spPr>
      </p:pic>
      <p:pic>
        <p:nvPicPr>
          <p:cNvPr id="9" name="Google Shape;128;p21" descr="PNG Envelope envelope paper | Premium PNG - rawpixel">
            <a:extLst>
              <a:ext uri="{FF2B5EF4-FFF2-40B4-BE49-F238E27FC236}">
                <a16:creationId xmlns:a16="http://schemas.microsoft.com/office/drawing/2014/main" id="{AC1A074F-E4E8-8BB0-5EF4-612C3F6CCB12}"/>
              </a:ext>
            </a:extLst>
          </p:cNvPr>
          <p:cNvPicPr preferRelativeResize="0">
            <a:picLocks noChangeAspect="1"/>
          </p:cNvPicPr>
          <p:nvPr/>
        </p:nvPicPr>
        <p:blipFill>
          <a:blip r:embed="rId3" cstate="email">
            <a:alphaModFix/>
            <a:extLst>
              <a:ext uri="{28A0092B-C50C-407E-A947-70E740481C1C}">
                <a14:useLocalDpi xmlns:a14="http://schemas.microsoft.com/office/drawing/2010/main"/>
              </a:ext>
            </a:extLst>
          </a:blip>
          <a:stretch>
            <a:fillRect/>
          </a:stretch>
        </p:blipFill>
        <p:spPr>
          <a:xfrm>
            <a:off x="8730049" y="2811575"/>
            <a:ext cx="1335319" cy="1051560"/>
          </a:xfrm>
          <a:prstGeom prst="rect">
            <a:avLst/>
          </a:prstGeom>
          <a:noFill/>
          <a:ln>
            <a:noFill/>
          </a:ln>
        </p:spPr>
      </p:pic>
      <p:pic>
        <p:nvPicPr>
          <p:cNvPr id="6" name="Google Shape;128;p21" descr="PNG Envelope envelope paper | Premium PNG - rawpixel">
            <a:extLst>
              <a:ext uri="{FF2B5EF4-FFF2-40B4-BE49-F238E27FC236}">
                <a16:creationId xmlns:a16="http://schemas.microsoft.com/office/drawing/2014/main" id="{879F25EA-2FDF-2D34-8E3E-456B4FAAC50A}"/>
              </a:ext>
            </a:extLst>
          </p:cNvPr>
          <p:cNvPicPr preferRelativeResize="0">
            <a:picLocks noChangeAspect="1"/>
          </p:cNvPicPr>
          <p:nvPr/>
        </p:nvPicPr>
        <p:blipFill>
          <a:blip r:embed="rId3" cstate="email">
            <a:alphaModFix/>
            <a:extLst>
              <a:ext uri="{28A0092B-C50C-407E-A947-70E740481C1C}">
                <a14:useLocalDpi xmlns:a14="http://schemas.microsoft.com/office/drawing/2010/main"/>
              </a:ext>
            </a:extLst>
          </a:blip>
          <a:stretch>
            <a:fillRect/>
          </a:stretch>
        </p:blipFill>
        <p:spPr>
          <a:xfrm>
            <a:off x="8730050" y="5178425"/>
            <a:ext cx="1335319" cy="1051560"/>
          </a:xfrm>
          <a:prstGeom prst="rect">
            <a:avLst/>
          </a:prstGeom>
          <a:noFill/>
          <a:ln>
            <a:noFill/>
          </a:ln>
        </p:spPr>
      </p:pic>
      <p:sp>
        <p:nvSpPr>
          <p:cNvPr id="123" name="Google Shape;123;p21">
            <a:extLst>
              <a:ext uri="{FF2B5EF4-FFF2-40B4-BE49-F238E27FC236}">
                <a16:creationId xmlns:a16="http://schemas.microsoft.com/office/drawing/2014/main" id="{54843052-BC89-7AAE-6E1F-F62CFEE75C0B}"/>
              </a:ext>
            </a:extLst>
          </p:cNvPr>
          <p:cNvSpPr txBox="1">
            <a:spLocks noGrp="1"/>
          </p:cNvSpPr>
          <p:nvPr>
            <p:ph type="title"/>
          </p:nvPr>
        </p:nvSpPr>
        <p:spPr>
          <a:xfrm>
            <a:off x="515937" y="628015"/>
            <a:ext cx="11160000" cy="647700"/>
          </a:xfrm>
          <a:prstGeom prst="rect">
            <a:avLst/>
          </a:prstGeom>
        </p:spPr>
        <p:txBody>
          <a:bodyPr spcFirstLastPara="1" wrap="square" lIns="0" tIns="0" rIns="0" bIns="0" anchor="t" anchorCtr="0">
            <a:normAutofit/>
          </a:bodyPr>
          <a:lstStyle/>
          <a:p>
            <a:pPr marL="0" lvl="0" indent="0" algn="ctr" rtl="0">
              <a:spcBef>
                <a:spcPts val="0"/>
              </a:spcBef>
              <a:spcAft>
                <a:spcPts val="0"/>
              </a:spcAft>
              <a:buNone/>
            </a:pPr>
            <a:r>
              <a:rPr lang="en-US">
                <a:solidFill>
                  <a:schemeClr val="lt1"/>
                </a:solidFill>
              </a:rPr>
              <a:t>Life of a CC (example)</a:t>
            </a:r>
            <a:endParaRPr/>
          </a:p>
        </p:txBody>
      </p:sp>
      <p:pic>
        <p:nvPicPr>
          <p:cNvPr id="124" name="Google Shape;124;p21" descr="File:User icon 2.svg - Wikimedia Commons">
            <a:extLst>
              <a:ext uri="{FF2B5EF4-FFF2-40B4-BE49-F238E27FC236}">
                <a16:creationId xmlns:a16="http://schemas.microsoft.com/office/drawing/2014/main" id="{76A8B789-544A-2880-A40A-75CE4B7BFB63}"/>
              </a:ext>
            </a:extLst>
          </p:cNvPr>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1716244" y="462157"/>
            <a:ext cx="2032176" cy="2032176"/>
          </a:xfrm>
          <a:prstGeom prst="rect">
            <a:avLst/>
          </a:prstGeom>
          <a:noFill/>
          <a:ln>
            <a:noFill/>
          </a:ln>
          <a:effectLst>
            <a:outerShdw blurRad="50800" dist="135135" dir="5400000" algn="ctr" rotWithShape="0">
              <a:srgbClr val="000000">
                <a:alpha val="25545"/>
              </a:srgbClr>
            </a:outerShdw>
          </a:effectLst>
        </p:spPr>
      </p:pic>
      <p:pic>
        <p:nvPicPr>
          <p:cNvPr id="125" name="Google Shape;125;p21" descr="Polizist-Vektor-symbol | Public Domain Vektoren">
            <a:extLst>
              <a:ext uri="{FF2B5EF4-FFF2-40B4-BE49-F238E27FC236}">
                <a16:creationId xmlns:a16="http://schemas.microsoft.com/office/drawing/2014/main" id="{7767CF46-E107-B99C-6409-00E645BED45C}"/>
              </a:ext>
            </a:extLst>
          </p:cNvPr>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flipH="1">
            <a:off x="8507296" y="349181"/>
            <a:ext cx="1780830" cy="2515300"/>
          </a:xfrm>
          <a:prstGeom prst="rect">
            <a:avLst/>
          </a:prstGeom>
          <a:noFill/>
          <a:ln>
            <a:noFill/>
          </a:ln>
          <a:effectLst>
            <a:outerShdw blurRad="50800" dist="133617" dir="5400000" sx="105124" sy="105124" algn="ctr" rotWithShape="0">
              <a:srgbClr val="000000">
                <a:alpha val="30465"/>
              </a:srgbClr>
            </a:outerShdw>
          </a:effectLst>
        </p:spPr>
      </p:pic>
      <p:sp>
        <p:nvSpPr>
          <p:cNvPr id="129" name="Google Shape;129;p21">
            <a:extLst>
              <a:ext uri="{FF2B5EF4-FFF2-40B4-BE49-F238E27FC236}">
                <a16:creationId xmlns:a16="http://schemas.microsoft.com/office/drawing/2014/main" id="{D8F541C1-C7BE-B415-1544-31FC2136B6ED}"/>
              </a:ext>
            </a:extLst>
          </p:cNvPr>
          <p:cNvSpPr/>
          <p:nvPr/>
        </p:nvSpPr>
        <p:spPr>
          <a:xfrm>
            <a:off x="3812950" y="1675825"/>
            <a:ext cx="2629874" cy="1406065"/>
          </a:xfrm>
          <a:prstGeom prst="wedgeEllipseCallout">
            <a:avLst>
              <a:gd name="adj1" fmla="val -71804"/>
              <a:gd name="adj2" fmla="val -77191"/>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dirty="0">
                <a:solidFill>
                  <a:schemeClr val="lt1"/>
                </a:solidFill>
              </a:rPr>
              <a:t>TEE, I need the key to decrypt the data I got!</a:t>
            </a:r>
            <a:endParaRPr sz="1800" dirty="0">
              <a:solidFill>
                <a:schemeClr val="lt1"/>
              </a:solidFill>
            </a:endParaRPr>
          </a:p>
        </p:txBody>
      </p:sp>
      <p:sp>
        <p:nvSpPr>
          <p:cNvPr id="130" name="Google Shape;130;p21">
            <a:extLst>
              <a:ext uri="{FF2B5EF4-FFF2-40B4-BE49-F238E27FC236}">
                <a16:creationId xmlns:a16="http://schemas.microsoft.com/office/drawing/2014/main" id="{1DCC8624-63D1-9DA7-D0DA-42D4FFDA6ED7}"/>
              </a:ext>
            </a:extLst>
          </p:cNvPr>
          <p:cNvSpPr/>
          <p:nvPr/>
        </p:nvSpPr>
        <p:spPr>
          <a:xfrm>
            <a:off x="5791800" y="1442225"/>
            <a:ext cx="2504400" cy="1315800"/>
          </a:xfrm>
          <a:prstGeom prst="wedgeEllipseCallout">
            <a:avLst>
              <a:gd name="adj1" fmla="val 70225"/>
              <a:gd name="adj2" fmla="val -62299"/>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5000" dirty="0">
                <a:solidFill>
                  <a:schemeClr val="lt1"/>
                </a:solidFill>
              </a:rPr>
              <a:t>OK!</a:t>
            </a:r>
          </a:p>
          <a:p>
            <a:pPr marL="0" lvl="0" indent="0" algn="ctr" rtl="0">
              <a:spcBef>
                <a:spcPts val="0"/>
              </a:spcBef>
              <a:spcAft>
                <a:spcPts val="0"/>
              </a:spcAft>
              <a:buNone/>
            </a:pPr>
            <a:r>
              <a:rPr lang="en-US" sz="1600" dirty="0">
                <a:solidFill>
                  <a:schemeClr val="lt1"/>
                </a:solidFill>
              </a:rPr>
              <a:t>I am on it!</a:t>
            </a:r>
            <a:endParaRPr sz="1600" dirty="0">
              <a:solidFill>
                <a:schemeClr val="lt1"/>
              </a:solidFill>
            </a:endParaRPr>
          </a:p>
        </p:txBody>
      </p:sp>
      <p:pic>
        <p:nvPicPr>
          <p:cNvPr id="3" name="Graphic 2">
            <a:extLst>
              <a:ext uri="{FF2B5EF4-FFF2-40B4-BE49-F238E27FC236}">
                <a16:creationId xmlns:a16="http://schemas.microsoft.com/office/drawing/2014/main" id="{23B78703-9911-CF69-CFCC-1FEAF4521C26}"/>
              </a:ext>
            </a:extLst>
          </p:cNvPr>
          <p:cNvPicPr>
            <a:picLocks noChangeAspect="1"/>
          </p:cNvPicPr>
          <p:nvPr/>
        </p:nvPicPr>
        <p:blipFill>
          <a:blip r:embed="rId8" cstate="email">
            <a:extLst>
              <a:ext uri="{28A0092B-C50C-407E-A947-70E740481C1C}">
                <a14:useLocalDpi xmlns:a14="http://schemas.microsoft.com/office/drawing/2010/main"/>
              </a:ext>
            </a:extLst>
          </a:blip>
          <a:srcRect/>
          <a:stretch/>
        </p:blipFill>
        <p:spPr>
          <a:xfrm>
            <a:off x="1563198" y="3942360"/>
            <a:ext cx="2338264" cy="2740153"/>
          </a:xfrm>
          <a:prstGeom prst="rect">
            <a:avLst/>
          </a:prstGeom>
        </p:spPr>
      </p:pic>
      <p:pic>
        <p:nvPicPr>
          <p:cNvPr id="5" name="Graphic 4">
            <a:extLst>
              <a:ext uri="{FF2B5EF4-FFF2-40B4-BE49-F238E27FC236}">
                <a16:creationId xmlns:a16="http://schemas.microsoft.com/office/drawing/2014/main" id="{AEBFAFC6-6E02-D903-A184-4EC1CCEFCAF2}"/>
              </a:ext>
            </a:extLst>
          </p:cNvPr>
          <p:cNvPicPr>
            <a:picLocks noChangeAspect="1"/>
          </p:cNvPicPr>
          <p:nvPr/>
        </p:nvPicPr>
        <p:blipFill>
          <a:blip r:embed="rId9" cstate="email">
            <a:extLst>
              <a:ext uri="{28A0092B-C50C-407E-A947-70E740481C1C}">
                <a14:useLocalDpi xmlns:a14="http://schemas.microsoft.com/office/drawing/2010/main"/>
              </a:ext>
            </a:extLst>
          </a:blip>
          <a:srcRect/>
          <a:stretch/>
        </p:blipFill>
        <p:spPr>
          <a:xfrm>
            <a:off x="8228798" y="3942360"/>
            <a:ext cx="2336801" cy="2743200"/>
          </a:xfrm>
          <a:prstGeom prst="rect">
            <a:avLst/>
          </a:prstGeom>
        </p:spPr>
      </p:pic>
      <p:pic>
        <p:nvPicPr>
          <p:cNvPr id="10" name="Google Shape;128;p21" descr="PNG Envelope envelope paper | Premium PNG - rawpixel">
            <a:extLst>
              <a:ext uri="{FF2B5EF4-FFF2-40B4-BE49-F238E27FC236}">
                <a16:creationId xmlns:a16="http://schemas.microsoft.com/office/drawing/2014/main" id="{E98C15F6-9694-B8B9-5C78-057A19D42B01}"/>
              </a:ext>
            </a:extLst>
          </p:cNvPr>
          <p:cNvPicPr preferRelativeResize="0">
            <a:picLocks noChangeAspect="1"/>
          </p:cNvPicPr>
          <p:nvPr/>
        </p:nvPicPr>
        <p:blipFill>
          <a:blip r:embed="rId3" cstate="email">
            <a:alphaModFix/>
            <a:extLst>
              <a:ext uri="{28A0092B-C50C-407E-A947-70E740481C1C}">
                <a14:useLocalDpi xmlns:a14="http://schemas.microsoft.com/office/drawing/2010/main"/>
              </a:ext>
            </a:extLst>
          </a:blip>
          <a:stretch>
            <a:fillRect/>
          </a:stretch>
        </p:blipFill>
        <p:spPr>
          <a:xfrm>
            <a:off x="8730048" y="2811575"/>
            <a:ext cx="1335319" cy="1051560"/>
          </a:xfrm>
          <a:prstGeom prst="rect">
            <a:avLst/>
          </a:prstGeom>
          <a:noFill/>
          <a:ln>
            <a:noFill/>
          </a:ln>
        </p:spPr>
      </p:pic>
      <p:sp>
        <p:nvSpPr>
          <p:cNvPr id="2" name="TextBox 1">
            <a:extLst>
              <a:ext uri="{FF2B5EF4-FFF2-40B4-BE49-F238E27FC236}">
                <a16:creationId xmlns:a16="http://schemas.microsoft.com/office/drawing/2014/main" id="{7674501D-754D-64EC-1EEF-16DF772CECBA}"/>
              </a:ext>
            </a:extLst>
          </p:cNvPr>
          <p:cNvSpPr txBox="1"/>
          <p:nvPr/>
        </p:nvSpPr>
        <p:spPr>
          <a:xfrm>
            <a:off x="10751699" y="5203934"/>
            <a:ext cx="630301" cy="461665"/>
          </a:xfrm>
          <a:prstGeom prst="rect">
            <a:avLst/>
          </a:prstGeom>
          <a:noFill/>
        </p:spPr>
        <p:txBody>
          <a:bodyPr wrap="none" rtlCol="0">
            <a:spAutoFit/>
          </a:bodyPr>
          <a:lstStyle/>
          <a:p>
            <a:pPr algn="ctr"/>
            <a:r>
              <a:rPr lang="en-US" sz="2400" b="1" dirty="0"/>
              <a:t>CR</a:t>
            </a:r>
          </a:p>
        </p:txBody>
      </p:sp>
      <p:sp>
        <p:nvSpPr>
          <p:cNvPr id="4" name="TextBox 3">
            <a:extLst>
              <a:ext uri="{FF2B5EF4-FFF2-40B4-BE49-F238E27FC236}">
                <a16:creationId xmlns:a16="http://schemas.microsoft.com/office/drawing/2014/main" id="{EF3CA365-9BE2-CC7C-95D9-FB1ED778AF3A}"/>
              </a:ext>
            </a:extLst>
          </p:cNvPr>
          <p:cNvSpPr txBox="1"/>
          <p:nvPr/>
        </p:nvSpPr>
        <p:spPr>
          <a:xfrm>
            <a:off x="747817" y="5203934"/>
            <a:ext cx="630301" cy="461665"/>
          </a:xfrm>
          <a:prstGeom prst="rect">
            <a:avLst/>
          </a:prstGeom>
          <a:noFill/>
        </p:spPr>
        <p:txBody>
          <a:bodyPr wrap="none" rtlCol="0">
            <a:spAutoFit/>
          </a:bodyPr>
          <a:lstStyle/>
          <a:p>
            <a:r>
              <a:rPr lang="en-US" sz="2400" b="1" dirty="0"/>
              <a:t>CR</a:t>
            </a:r>
          </a:p>
        </p:txBody>
      </p:sp>
      <p:sp>
        <p:nvSpPr>
          <p:cNvPr id="7" name="TextBox 6">
            <a:extLst>
              <a:ext uri="{FF2B5EF4-FFF2-40B4-BE49-F238E27FC236}">
                <a16:creationId xmlns:a16="http://schemas.microsoft.com/office/drawing/2014/main" id="{C336D27B-EFB7-12A7-C6C2-5A9493BB1217}"/>
              </a:ext>
            </a:extLst>
          </p:cNvPr>
          <p:cNvSpPr txBox="1"/>
          <p:nvPr/>
        </p:nvSpPr>
        <p:spPr>
          <a:xfrm>
            <a:off x="10649107" y="3106522"/>
            <a:ext cx="835485" cy="461665"/>
          </a:xfrm>
          <a:prstGeom prst="rect">
            <a:avLst/>
          </a:prstGeom>
          <a:noFill/>
        </p:spPr>
        <p:txBody>
          <a:bodyPr wrap="none" rtlCol="0">
            <a:spAutoFit/>
          </a:bodyPr>
          <a:lstStyle/>
          <a:p>
            <a:pPr algn="ctr"/>
            <a:r>
              <a:rPr lang="en-US" sz="2400" b="1" dirty="0"/>
              <a:t>SCC</a:t>
            </a:r>
          </a:p>
        </p:txBody>
      </p:sp>
      <p:sp>
        <p:nvSpPr>
          <p:cNvPr id="8" name="TextBox 7">
            <a:extLst>
              <a:ext uri="{FF2B5EF4-FFF2-40B4-BE49-F238E27FC236}">
                <a16:creationId xmlns:a16="http://schemas.microsoft.com/office/drawing/2014/main" id="{597B8BC0-E232-31CE-6B58-E5E8DE76AFB7}"/>
              </a:ext>
            </a:extLst>
          </p:cNvPr>
          <p:cNvSpPr txBox="1"/>
          <p:nvPr/>
        </p:nvSpPr>
        <p:spPr>
          <a:xfrm>
            <a:off x="645224" y="3106522"/>
            <a:ext cx="835485" cy="461665"/>
          </a:xfrm>
          <a:prstGeom prst="rect">
            <a:avLst/>
          </a:prstGeom>
          <a:noFill/>
        </p:spPr>
        <p:txBody>
          <a:bodyPr wrap="none" rtlCol="0">
            <a:spAutoFit/>
          </a:bodyPr>
          <a:lstStyle/>
          <a:p>
            <a:r>
              <a:rPr lang="en-US" sz="2400" b="1" dirty="0"/>
              <a:t>SCC</a:t>
            </a:r>
          </a:p>
        </p:txBody>
      </p:sp>
      <p:sp>
        <p:nvSpPr>
          <p:cNvPr id="12" name="TextBox 11">
            <a:extLst>
              <a:ext uri="{FF2B5EF4-FFF2-40B4-BE49-F238E27FC236}">
                <a16:creationId xmlns:a16="http://schemas.microsoft.com/office/drawing/2014/main" id="{D6314AA9-56FC-C940-2767-C14962FA0B13}"/>
              </a:ext>
            </a:extLst>
          </p:cNvPr>
          <p:cNvSpPr txBox="1"/>
          <p:nvPr/>
        </p:nvSpPr>
        <p:spPr>
          <a:xfrm>
            <a:off x="634397" y="1373278"/>
            <a:ext cx="870751" cy="461665"/>
          </a:xfrm>
          <a:prstGeom prst="rect">
            <a:avLst/>
          </a:prstGeom>
          <a:noFill/>
        </p:spPr>
        <p:txBody>
          <a:bodyPr wrap="none" rtlCol="0">
            <a:spAutoFit/>
          </a:bodyPr>
          <a:lstStyle/>
          <a:p>
            <a:r>
              <a:rPr lang="en-US" sz="2400" b="1" dirty="0"/>
              <a:t>User</a:t>
            </a:r>
          </a:p>
        </p:txBody>
      </p:sp>
      <p:sp>
        <p:nvSpPr>
          <p:cNvPr id="13" name="TextBox 12">
            <a:extLst>
              <a:ext uri="{FF2B5EF4-FFF2-40B4-BE49-F238E27FC236}">
                <a16:creationId xmlns:a16="http://schemas.microsoft.com/office/drawing/2014/main" id="{4F0165EE-57ED-A0E8-CD4D-B3E3E8E9F802}"/>
              </a:ext>
            </a:extLst>
          </p:cNvPr>
          <p:cNvSpPr txBox="1"/>
          <p:nvPr/>
        </p:nvSpPr>
        <p:spPr>
          <a:xfrm>
            <a:off x="10730039" y="1464658"/>
            <a:ext cx="184731" cy="307777"/>
          </a:xfrm>
          <a:prstGeom prst="rect">
            <a:avLst/>
          </a:prstGeom>
          <a:noFill/>
        </p:spPr>
        <p:txBody>
          <a:bodyPr wrap="none" rtlCol="0">
            <a:spAutoFit/>
          </a:bodyPr>
          <a:lstStyle/>
          <a:p>
            <a:endParaRPr lang="en-US" dirty="0"/>
          </a:p>
        </p:txBody>
      </p:sp>
      <p:sp>
        <p:nvSpPr>
          <p:cNvPr id="14" name="TextBox 13">
            <a:extLst>
              <a:ext uri="{FF2B5EF4-FFF2-40B4-BE49-F238E27FC236}">
                <a16:creationId xmlns:a16="http://schemas.microsoft.com/office/drawing/2014/main" id="{6EF6C0B8-01A1-319E-18FD-8DA3D07989CE}"/>
              </a:ext>
            </a:extLst>
          </p:cNvPr>
          <p:cNvSpPr txBox="1"/>
          <p:nvPr/>
        </p:nvSpPr>
        <p:spPr>
          <a:xfrm>
            <a:off x="10675556" y="1373278"/>
            <a:ext cx="782587" cy="461665"/>
          </a:xfrm>
          <a:prstGeom prst="rect">
            <a:avLst/>
          </a:prstGeom>
          <a:noFill/>
        </p:spPr>
        <p:txBody>
          <a:bodyPr wrap="none" rtlCol="0">
            <a:spAutoFit/>
          </a:bodyPr>
          <a:lstStyle/>
          <a:p>
            <a:pPr algn="ctr"/>
            <a:r>
              <a:rPr lang="en-US" sz="2400" b="1" dirty="0"/>
              <a:t>TEE</a:t>
            </a:r>
          </a:p>
        </p:txBody>
      </p:sp>
      <p:grpSp>
        <p:nvGrpSpPr>
          <p:cNvPr id="15" name="Group 14">
            <a:extLst>
              <a:ext uri="{FF2B5EF4-FFF2-40B4-BE49-F238E27FC236}">
                <a16:creationId xmlns:a16="http://schemas.microsoft.com/office/drawing/2014/main" id="{72787C65-23E6-5FD4-E7E5-A367101E8B7A}"/>
              </a:ext>
            </a:extLst>
          </p:cNvPr>
          <p:cNvGrpSpPr/>
          <p:nvPr/>
        </p:nvGrpSpPr>
        <p:grpSpPr>
          <a:xfrm>
            <a:off x="1635773" y="1351960"/>
            <a:ext cx="1113193" cy="1406065"/>
            <a:chOff x="1098042" y="3939313"/>
            <a:chExt cx="2000758" cy="2832931"/>
          </a:xfrm>
        </p:grpSpPr>
        <p:pic>
          <p:nvPicPr>
            <p:cNvPr id="16" name="Picture 15" descr="A paper with a black background&#10;&#10;AI-generated content may be incorrect.">
              <a:extLst>
                <a:ext uri="{FF2B5EF4-FFF2-40B4-BE49-F238E27FC236}">
                  <a16:creationId xmlns:a16="http://schemas.microsoft.com/office/drawing/2014/main" id="{D639E26D-66E7-A137-DD77-D8975360AF8D}"/>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098042" y="3939313"/>
              <a:ext cx="2000758" cy="2832931"/>
            </a:xfrm>
            <a:prstGeom prst="rect">
              <a:avLst/>
            </a:prstGeom>
          </p:spPr>
        </p:pic>
        <p:sp>
          <p:nvSpPr>
            <p:cNvPr id="17" name="TextBox 16">
              <a:extLst>
                <a:ext uri="{FF2B5EF4-FFF2-40B4-BE49-F238E27FC236}">
                  <a16:creationId xmlns:a16="http://schemas.microsoft.com/office/drawing/2014/main" id="{BD9AB282-2CBE-FEEB-BF53-05A7E864F529}"/>
                </a:ext>
              </a:extLst>
            </p:cNvPr>
            <p:cNvSpPr txBox="1"/>
            <p:nvPr/>
          </p:nvSpPr>
          <p:spPr>
            <a:xfrm>
              <a:off x="1326497" y="4340116"/>
              <a:ext cx="1555951" cy="2139367"/>
            </a:xfrm>
            <a:prstGeom prst="rect">
              <a:avLst/>
            </a:prstGeom>
            <a:noFill/>
          </p:spPr>
          <p:txBody>
            <a:bodyPr wrap="square" rtlCol="0">
              <a:spAutoFit/>
            </a:bodyPr>
            <a:lstStyle/>
            <a:p>
              <a:pPr algn="ctr"/>
              <a:r>
                <a:rPr lang="en-US" sz="900" b="1" dirty="0"/>
                <a:t>BU METİNDEN TEK BİR KELİME BİLE ANLAMIYO-</a:t>
              </a:r>
            </a:p>
            <a:p>
              <a:pPr algn="ctr"/>
              <a:r>
                <a:rPr lang="en-US" sz="900" b="1" dirty="0"/>
                <a:t>-RUM.</a:t>
              </a:r>
            </a:p>
          </p:txBody>
        </p:sp>
      </p:grpSp>
    </p:spTree>
    <p:extLst>
      <p:ext uri="{BB962C8B-B14F-4D97-AF65-F5344CB8AC3E}">
        <p14:creationId xmlns:p14="http://schemas.microsoft.com/office/powerpoint/2010/main" val="1006723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0"/>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12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7"/>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13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nodeType="clickEffect">
                                  <p:stCondLst>
                                    <p:cond delay="0"/>
                                  </p:stCondLst>
                                  <p:childTnLst>
                                    <p:animMotion origin="layout" path="M -0.00221 0.00254 L 0.06055 0.2787 " pathEditMode="relative" ptsTypes="AA">
                                      <p:cBhvr>
                                        <p:cTn id="26" dur="2000" fill="hold"/>
                                        <p:tgtEl>
                                          <p:spTgt spid="127"/>
                                        </p:tgtEl>
                                        <p:attrNameLst>
                                          <p:attrName>ppt_x</p:attrName>
                                          <p:attrName>ppt_y</p:attrName>
                                        </p:attrNameLst>
                                      </p:cBhvr>
                                    </p:animMotion>
                                  </p:childTnLst>
                                </p:cTn>
                              </p:par>
                              <p:par>
                                <p:cTn id="27" presetID="0" presetClass="path" presetSubtype="0" accel="50000" decel="50000" fill="hold" nodeType="withEffect">
                                  <p:stCondLst>
                                    <p:cond delay="0"/>
                                  </p:stCondLst>
                                  <p:childTnLst>
                                    <p:animMotion origin="layout" path="M -2.08333E-7 0 L -0.08867 0.2956 " pathEditMode="relative" rAng="0" ptsTypes="AA">
                                      <p:cBhvr>
                                        <p:cTn id="28" dur="2000" fill="hold"/>
                                        <p:tgtEl>
                                          <p:spTgt spid="126"/>
                                        </p:tgtEl>
                                        <p:attrNameLst>
                                          <p:attrName>ppt_x</p:attrName>
                                          <p:attrName>ppt_y</p:attrName>
                                        </p:attrNameLst>
                                      </p:cBhvr>
                                      <p:rCtr x="-4440" y="14769"/>
                                    </p:animMotion>
                                  </p:childTnLst>
                                </p:cTn>
                              </p:par>
                              <p:par>
                                <p:cTn id="29" presetID="6" presetClass="emph" presetSubtype="0" fill="hold" nodeType="withEffect">
                                  <p:stCondLst>
                                    <p:cond delay="0"/>
                                  </p:stCondLst>
                                  <p:childTnLst>
                                    <p:animScale>
                                      <p:cBhvr>
                                        <p:cTn id="30" dur="2000" fill="hold"/>
                                        <p:tgtEl>
                                          <p:spTgt spid="127"/>
                                        </p:tgtEl>
                                      </p:cBhvr>
                                      <p:by x="50000" y="50000"/>
                                    </p:animScale>
                                  </p:childTnLst>
                                </p:cTn>
                              </p:par>
                              <p:par>
                                <p:cTn id="31" presetID="6" presetClass="emph" presetSubtype="0" fill="hold" nodeType="withEffect">
                                  <p:stCondLst>
                                    <p:cond delay="0"/>
                                  </p:stCondLst>
                                  <p:childTnLst>
                                    <p:animScale>
                                      <p:cBhvr>
                                        <p:cTn id="32" dur="2000" fill="hold"/>
                                        <p:tgtEl>
                                          <p:spTgt spid="126"/>
                                        </p:tgtEl>
                                      </p:cBhvr>
                                      <p:by x="50000" y="50000"/>
                                    </p:animScale>
                                  </p:childTnLst>
                                </p:cTn>
                              </p:par>
                            </p:childTnLst>
                          </p:cTn>
                        </p:par>
                        <p:par>
                          <p:cTn id="33" fill="hold">
                            <p:stCondLst>
                              <p:cond delay="2000"/>
                            </p:stCondLst>
                            <p:childTnLst>
                              <p:par>
                                <p:cTn id="34" presetID="1" presetClass="exit" presetSubtype="0" fill="hold" nodeType="afterEffect">
                                  <p:stCondLst>
                                    <p:cond delay="0"/>
                                  </p:stCondLst>
                                  <p:childTnLst>
                                    <p:set>
                                      <p:cBhvr>
                                        <p:cTn id="35" dur="1" fill="hold">
                                          <p:stCondLst>
                                            <p:cond delay="0"/>
                                          </p:stCondLst>
                                        </p:cTn>
                                        <p:tgtEl>
                                          <p:spTgt spid="127"/>
                                        </p:tgtEl>
                                        <p:attrNameLst>
                                          <p:attrName>style.visibility</p:attrName>
                                        </p:attrNameLst>
                                      </p:cBhvr>
                                      <p:to>
                                        <p:strVal val="hidden"/>
                                      </p:to>
                                    </p:set>
                                  </p:childTnLst>
                                </p:cTn>
                              </p:par>
                              <p:par>
                                <p:cTn id="36" presetID="1" presetClass="exit" presetSubtype="0" fill="hold" nodeType="withEffect">
                                  <p:stCondLst>
                                    <p:cond delay="0"/>
                                  </p:stCondLst>
                                  <p:childTnLst>
                                    <p:set>
                                      <p:cBhvr>
                                        <p:cTn id="37" dur="1" fill="hold">
                                          <p:stCondLst>
                                            <p:cond delay="0"/>
                                          </p:stCondLst>
                                        </p:cTn>
                                        <p:tgtEl>
                                          <p:spTgt spid="126"/>
                                        </p:tgtEl>
                                        <p:attrNameLst>
                                          <p:attrName>style.visibility</p:attrName>
                                        </p:attrNameLst>
                                      </p:cBhvr>
                                      <p:to>
                                        <p:strVal val="hidden"/>
                                      </p:to>
                                    </p:set>
                                  </p:childTnLst>
                                </p:cTn>
                              </p:par>
                            </p:childTnLst>
                          </p:cTn>
                        </p:par>
                        <p:par>
                          <p:cTn id="38" fill="hold">
                            <p:stCondLst>
                              <p:cond delay="2000"/>
                            </p:stCondLst>
                            <p:childTnLst>
                              <p:par>
                                <p:cTn id="39" presetID="1" presetClass="entr" presetSubtype="0" fill="hold" nodeType="after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par>
                                <p:cTn id="45" presetID="42" presetClass="path" presetSubtype="0" accel="50000" decel="50000" fill="hold" nodeType="withEffect">
                                  <p:stCondLst>
                                    <p:cond delay="0"/>
                                  </p:stCondLst>
                                  <p:childTnLst>
                                    <p:animMotion origin="layout" path="M -3.125E-6 -2.96296E-6 L 1.45833E-6 -0.34514 " pathEditMode="relative" rAng="0" ptsTypes="AA">
                                      <p:cBhvr>
                                        <p:cTn id="46" dur="2000" fill="hold"/>
                                        <p:tgtEl>
                                          <p:spTgt spid="6"/>
                                        </p:tgtEl>
                                        <p:attrNameLst>
                                          <p:attrName>ppt_x</p:attrName>
                                          <p:attrName>ppt_y</p:attrName>
                                        </p:attrNameLst>
                                      </p:cBhvr>
                                      <p:rCtr x="-143" y="-17222"/>
                                    </p:animMotion>
                                  </p:childTnLst>
                                </p:cTn>
                              </p:par>
                            </p:childTnLst>
                          </p:cTn>
                        </p:par>
                        <p:par>
                          <p:cTn id="47" fill="hold">
                            <p:stCondLst>
                              <p:cond delay="2000"/>
                            </p:stCondLst>
                            <p:childTnLst>
                              <p:par>
                                <p:cTn id="48" presetID="1" presetClass="entr" presetSubtype="0" fill="hold" nodeType="afterEffect">
                                  <p:stCondLst>
                                    <p:cond delay="0"/>
                                  </p:stCondLst>
                                  <p:childTnLst>
                                    <p:set>
                                      <p:cBhvr>
                                        <p:cTn id="49" dur="1" fill="hold">
                                          <p:stCondLst>
                                            <p:cond delay="0"/>
                                          </p:stCondLst>
                                        </p:cTn>
                                        <p:tgtEl>
                                          <p:spTgt spid="9"/>
                                        </p:tgtEl>
                                        <p:attrNameLst>
                                          <p:attrName>style.visibility</p:attrName>
                                        </p:attrNameLst>
                                      </p:cBhvr>
                                      <p:to>
                                        <p:strVal val="visible"/>
                                      </p:to>
                                    </p:set>
                                  </p:childTnLst>
                                </p:cTn>
                              </p:par>
                              <p:par>
                                <p:cTn id="50" presetID="9" presetClass="entr" presetSubtype="0" fill="hold" grpId="0" nodeType="with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dissolve">
                                      <p:cBhvr>
                                        <p:cTn id="52" dur="500"/>
                                        <p:tgtEl>
                                          <p:spTgt spid="7"/>
                                        </p:tgtEl>
                                      </p:cBhvr>
                                    </p:animEffect>
                                  </p:childTnLst>
                                </p:cTn>
                              </p:par>
                              <p:par>
                                <p:cTn id="53" presetID="1" presetClass="exit" presetSubtype="0" fill="hold" nodeType="withEffect">
                                  <p:stCondLst>
                                    <p:cond delay="0"/>
                                  </p:stCondLst>
                                  <p:childTnLst>
                                    <p:set>
                                      <p:cBhvr>
                                        <p:cTn id="54" dur="1" fill="hold">
                                          <p:stCondLst>
                                            <p:cond delay="0"/>
                                          </p:stCondLst>
                                        </p:cTn>
                                        <p:tgtEl>
                                          <p:spTgt spid="6"/>
                                        </p:tgtEl>
                                        <p:attrNameLst>
                                          <p:attrName>style.visibility</p:attrName>
                                        </p:attrNameLst>
                                      </p:cBhvr>
                                      <p:to>
                                        <p:strVal val="hidden"/>
                                      </p:to>
                                    </p:set>
                                  </p:childTnLst>
                                </p:cTn>
                              </p:par>
                              <p:par>
                                <p:cTn id="55" presetID="1" presetClass="entr" presetSubtype="0" fill="hold" nodeType="with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
                                        </p:tgtEl>
                                        <p:attrNameLst>
                                          <p:attrName>style.visibility</p:attrName>
                                        </p:attrNameLst>
                                      </p:cBhvr>
                                      <p:to>
                                        <p:strVal val="visible"/>
                                      </p:to>
                                    </p:set>
                                  </p:childTnLst>
                                </p:cTn>
                              </p:par>
                              <p:par>
                                <p:cTn id="59" presetID="1" presetClass="exit" presetSubtype="0" fill="hold" nodeType="withEffect">
                                  <p:stCondLst>
                                    <p:cond delay="0"/>
                                  </p:stCondLst>
                                  <p:childTnLst>
                                    <p:set>
                                      <p:cBhvr>
                                        <p:cTn id="60" dur="1" fill="hold">
                                          <p:stCondLst>
                                            <p:cond delay="0"/>
                                          </p:stCondLst>
                                        </p:cTn>
                                        <p:tgtEl>
                                          <p:spTgt spid="9"/>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42" presetClass="path" presetSubtype="0" accel="50000" decel="50000" fill="hold" nodeType="clickEffect">
                                  <p:stCondLst>
                                    <p:cond delay="0"/>
                                  </p:stCondLst>
                                  <p:childTnLst>
                                    <p:animMotion origin="layout" path="M -3.125E-6 -4.07407E-6 L -0.547 -0.00138 " pathEditMode="relative" rAng="0" ptsTypes="AA">
                                      <p:cBhvr>
                                        <p:cTn id="64" dur="2000" fill="hold"/>
                                        <p:tgtEl>
                                          <p:spTgt spid="10"/>
                                        </p:tgtEl>
                                        <p:attrNameLst>
                                          <p:attrName>ppt_x</p:attrName>
                                          <p:attrName>ppt_y</p:attrName>
                                        </p:attrNameLst>
                                      </p:cBhvr>
                                      <p:rCtr x="-27357" y="-69"/>
                                    </p:animMotion>
                                  </p:childTnLst>
                                </p:cTn>
                              </p:par>
                            </p:childTnLst>
                          </p:cTn>
                        </p:par>
                        <p:par>
                          <p:cTn id="65" fill="hold">
                            <p:stCondLst>
                              <p:cond delay="2000"/>
                            </p:stCondLst>
                            <p:childTnLst>
                              <p:par>
                                <p:cTn id="66" presetID="1" presetClass="entr" presetSubtype="0" fill="hold" nodeType="afterEffect">
                                  <p:stCondLst>
                                    <p:cond delay="0"/>
                                  </p:stCondLst>
                                  <p:childTnLst>
                                    <p:set>
                                      <p:cBhvr>
                                        <p:cTn id="67" dur="1" fill="hold">
                                          <p:stCondLst>
                                            <p:cond delay="0"/>
                                          </p:stCondLst>
                                        </p:cTn>
                                        <p:tgtEl>
                                          <p:spTgt spid="11"/>
                                        </p:tgtEl>
                                        <p:attrNameLst>
                                          <p:attrName>style.visibility</p:attrName>
                                        </p:attrNameLst>
                                      </p:cBhvr>
                                      <p:to>
                                        <p:strVal val="visible"/>
                                      </p:to>
                                    </p:set>
                                  </p:childTnLst>
                                </p:cTn>
                              </p:par>
                              <p:par>
                                <p:cTn id="68" presetID="9" presetClass="exit" presetSubtype="0" fill="hold" grpId="1" nodeType="withEffect">
                                  <p:stCondLst>
                                    <p:cond delay="0"/>
                                  </p:stCondLst>
                                  <p:childTnLst>
                                    <p:animEffect transition="out" filter="dissolve">
                                      <p:cBhvr>
                                        <p:cTn id="69" dur="500"/>
                                        <p:tgtEl>
                                          <p:spTgt spid="7"/>
                                        </p:tgtEl>
                                      </p:cBhvr>
                                    </p:animEffect>
                                    <p:set>
                                      <p:cBhvr>
                                        <p:cTn id="70" dur="1" fill="hold">
                                          <p:stCondLst>
                                            <p:cond delay="499"/>
                                          </p:stCondLst>
                                        </p:cTn>
                                        <p:tgtEl>
                                          <p:spTgt spid="7"/>
                                        </p:tgtEl>
                                        <p:attrNameLst>
                                          <p:attrName>style.visibility</p:attrName>
                                        </p:attrNameLst>
                                      </p:cBhvr>
                                      <p:to>
                                        <p:strVal val="hidden"/>
                                      </p:to>
                                    </p:set>
                                  </p:childTnLst>
                                </p:cTn>
                              </p:par>
                              <p:par>
                                <p:cTn id="71" presetID="1" presetClass="entr" presetSubtype="0" fill="hold" nodeType="withEffect">
                                  <p:stCondLst>
                                    <p:cond delay="0"/>
                                  </p:stCondLst>
                                  <p:childTnLst>
                                    <p:set>
                                      <p:cBhvr>
                                        <p:cTn id="72" dur="1" fill="hold">
                                          <p:stCondLst>
                                            <p:cond delay="0"/>
                                          </p:stCondLst>
                                        </p:cTn>
                                        <p:tgtEl>
                                          <p:spTgt spid="11"/>
                                        </p:tgtEl>
                                        <p:attrNameLst>
                                          <p:attrName>style.visibility</p:attrName>
                                        </p:attrNameLst>
                                      </p:cBhvr>
                                      <p:to>
                                        <p:strVal val="visible"/>
                                      </p:to>
                                    </p:set>
                                  </p:childTnLst>
                                </p:cTn>
                              </p:par>
                              <p:par>
                                <p:cTn id="73" presetID="9" presetClass="entr" presetSubtype="0" fill="hold" grpId="0" nodeType="withEffect">
                                  <p:stCondLst>
                                    <p:cond delay="0"/>
                                  </p:stCondLst>
                                  <p:childTnLst>
                                    <p:set>
                                      <p:cBhvr>
                                        <p:cTn id="74" dur="1" fill="hold">
                                          <p:stCondLst>
                                            <p:cond delay="0"/>
                                          </p:stCondLst>
                                        </p:cTn>
                                        <p:tgtEl>
                                          <p:spTgt spid="8"/>
                                        </p:tgtEl>
                                        <p:attrNameLst>
                                          <p:attrName>style.visibility</p:attrName>
                                        </p:attrNameLst>
                                      </p:cBhvr>
                                      <p:to>
                                        <p:strVal val="visible"/>
                                      </p:to>
                                    </p:set>
                                    <p:animEffect transition="in" filter="dissolve">
                                      <p:cBhvr>
                                        <p:cTn id="75" dur="500"/>
                                        <p:tgtEl>
                                          <p:spTgt spid="8"/>
                                        </p:tgtEl>
                                      </p:cBhvr>
                                    </p:animEffect>
                                  </p:childTnLst>
                                </p:cTn>
                              </p:par>
                            </p:childTnLst>
                          </p:cTn>
                        </p:par>
                      </p:childTnLst>
                    </p:cTn>
                  </p:par>
                  <p:par>
                    <p:cTn id="76" fill="hold">
                      <p:stCondLst>
                        <p:cond delay="indefinite"/>
                      </p:stCondLst>
                      <p:childTnLst>
                        <p:par>
                          <p:cTn id="77" fill="hold">
                            <p:stCondLst>
                              <p:cond delay="0"/>
                            </p:stCondLst>
                            <p:childTnLst>
                              <p:par>
                                <p:cTn id="78" presetID="42" presetClass="path" presetSubtype="0" accel="50000" decel="50000" fill="hold" nodeType="clickEffect">
                                  <p:stCondLst>
                                    <p:cond delay="0"/>
                                  </p:stCondLst>
                                  <p:childTnLst>
                                    <p:animMotion origin="layout" path="M 1.45833E-6 7.40741E-7 L 0.00026 0.30972 " pathEditMode="relative" rAng="0" ptsTypes="AA">
                                      <p:cBhvr>
                                        <p:cTn id="79" dur="2000" fill="hold"/>
                                        <p:tgtEl>
                                          <p:spTgt spid="11"/>
                                        </p:tgtEl>
                                        <p:attrNameLst>
                                          <p:attrName>ppt_x</p:attrName>
                                          <p:attrName>ppt_y</p:attrName>
                                        </p:attrNameLst>
                                      </p:cBhvr>
                                      <p:rCtr x="13" y="15486"/>
                                    </p:animMotion>
                                  </p:childTnLst>
                                </p:cTn>
                              </p:par>
                              <p:par>
                                <p:cTn id="80" presetID="1" presetClass="exit" presetSubtype="0" fill="hold" nodeType="withEffect">
                                  <p:stCondLst>
                                    <p:cond delay="0"/>
                                  </p:stCondLst>
                                  <p:childTnLst>
                                    <p:set>
                                      <p:cBhvr>
                                        <p:cTn id="81" dur="1" fill="hold">
                                          <p:stCondLst>
                                            <p:cond delay="0"/>
                                          </p:stCondLst>
                                        </p:cTn>
                                        <p:tgtEl>
                                          <p:spTgt spid="10"/>
                                        </p:tgtEl>
                                        <p:attrNameLst>
                                          <p:attrName>style.visibility</p:attrName>
                                        </p:attrNameLst>
                                      </p:cBhvr>
                                      <p:to>
                                        <p:strVal val="hidden"/>
                                      </p:to>
                                    </p:set>
                                  </p:childTnLst>
                                </p:cTn>
                              </p:par>
                              <p:par>
                                <p:cTn id="82" presetID="9" presetClass="exit" presetSubtype="0" fill="hold" grpId="1" nodeType="withEffect">
                                  <p:stCondLst>
                                    <p:cond delay="0"/>
                                  </p:stCondLst>
                                  <p:childTnLst>
                                    <p:animEffect transition="out" filter="dissolve">
                                      <p:cBhvr>
                                        <p:cTn id="83" dur="500"/>
                                        <p:tgtEl>
                                          <p:spTgt spid="8"/>
                                        </p:tgtEl>
                                      </p:cBhvr>
                                    </p:animEffect>
                                    <p:set>
                                      <p:cBhvr>
                                        <p:cTn id="84"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62631-FC90-AC3D-48E9-C5CABB1DC55B}"/>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914B66A9-C129-4D7D-F3D5-6D41C778E0A2}"/>
              </a:ext>
            </a:extLst>
          </p:cNvPr>
          <p:cNvGrpSpPr/>
          <p:nvPr/>
        </p:nvGrpSpPr>
        <p:grpSpPr>
          <a:xfrm>
            <a:off x="5095621" y="2510825"/>
            <a:ext cx="2000758" cy="2832931"/>
            <a:chOff x="8847653" y="2224042"/>
            <a:chExt cx="2000758" cy="2832931"/>
          </a:xfrm>
        </p:grpSpPr>
        <p:pic>
          <p:nvPicPr>
            <p:cNvPr id="14" name="Picture 13" descr="A paper with a black background&#10;&#10;AI-generated content may be incorrect.">
              <a:extLst>
                <a:ext uri="{FF2B5EF4-FFF2-40B4-BE49-F238E27FC236}">
                  <a16:creationId xmlns:a16="http://schemas.microsoft.com/office/drawing/2014/main" id="{10AC70C2-B15A-0718-A132-023443464E0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847653" y="2224042"/>
              <a:ext cx="2000758" cy="2832931"/>
            </a:xfrm>
            <a:prstGeom prst="rect">
              <a:avLst/>
            </a:prstGeom>
          </p:spPr>
        </p:pic>
        <p:sp>
          <p:nvSpPr>
            <p:cNvPr id="15" name="TextBox 14">
              <a:extLst>
                <a:ext uri="{FF2B5EF4-FFF2-40B4-BE49-F238E27FC236}">
                  <a16:creationId xmlns:a16="http://schemas.microsoft.com/office/drawing/2014/main" id="{6FCDF905-1600-B0A6-3EC7-B498DBAA3CA4}"/>
                </a:ext>
              </a:extLst>
            </p:cNvPr>
            <p:cNvSpPr txBox="1"/>
            <p:nvPr/>
          </p:nvSpPr>
          <p:spPr>
            <a:xfrm>
              <a:off x="9013707" y="2833085"/>
              <a:ext cx="1666067" cy="1661993"/>
            </a:xfrm>
            <a:prstGeom prst="rect">
              <a:avLst/>
            </a:prstGeom>
            <a:noFill/>
          </p:spPr>
          <p:txBody>
            <a:bodyPr wrap="square" rtlCol="0">
              <a:spAutoFit/>
            </a:bodyPr>
            <a:lstStyle/>
            <a:p>
              <a:pPr algn="ctr"/>
              <a:r>
                <a:rPr lang="en-US" sz="1700" b="1" dirty="0"/>
                <a:t>I CAN NOW </a:t>
              </a:r>
              <a:r>
                <a:rPr lang="en-US" sz="1600" b="1" dirty="0"/>
                <a:t>UNDERSTAND</a:t>
              </a:r>
              <a:r>
                <a:rPr lang="en-US" sz="1700" b="1" dirty="0"/>
                <a:t> EVERY SINGLE WORD OF THIS TEXT.</a:t>
              </a:r>
            </a:p>
          </p:txBody>
        </p:sp>
      </p:grpSp>
      <p:grpSp>
        <p:nvGrpSpPr>
          <p:cNvPr id="10" name="Group 9">
            <a:extLst>
              <a:ext uri="{FF2B5EF4-FFF2-40B4-BE49-F238E27FC236}">
                <a16:creationId xmlns:a16="http://schemas.microsoft.com/office/drawing/2014/main" id="{4CFA2D54-39EB-FC9D-7374-CDBC744732B2}"/>
              </a:ext>
            </a:extLst>
          </p:cNvPr>
          <p:cNvGrpSpPr/>
          <p:nvPr/>
        </p:nvGrpSpPr>
        <p:grpSpPr>
          <a:xfrm>
            <a:off x="1614509" y="3802577"/>
            <a:ext cx="2000758" cy="2832931"/>
            <a:chOff x="1098042" y="3939313"/>
            <a:chExt cx="2000758" cy="2832931"/>
          </a:xfrm>
        </p:grpSpPr>
        <p:pic>
          <p:nvPicPr>
            <p:cNvPr id="11" name="Picture 10" descr="A paper with a black background&#10;&#10;AI-generated content may be incorrect.">
              <a:extLst>
                <a:ext uri="{FF2B5EF4-FFF2-40B4-BE49-F238E27FC236}">
                  <a16:creationId xmlns:a16="http://schemas.microsoft.com/office/drawing/2014/main" id="{4AA28A7C-B690-CADE-C111-DE38EF2F72B6}"/>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98042" y="3939313"/>
              <a:ext cx="2000758" cy="2832931"/>
            </a:xfrm>
            <a:prstGeom prst="rect">
              <a:avLst/>
            </a:prstGeom>
          </p:spPr>
        </p:pic>
        <p:sp>
          <p:nvSpPr>
            <p:cNvPr id="12" name="TextBox 11">
              <a:extLst>
                <a:ext uri="{FF2B5EF4-FFF2-40B4-BE49-F238E27FC236}">
                  <a16:creationId xmlns:a16="http://schemas.microsoft.com/office/drawing/2014/main" id="{CD3DE74C-F33D-2631-7C36-A114A69F44F5}"/>
                </a:ext>
              </a:extLst>
            </p:cNvPr>
            <p:cNvSpPr txBox="1"/>
            <p:nvPr/>
          </p:nvSpPr>
          <p:spPr>
            <a:xfrm>
              <a:off x="1326497" y="4340116"/>
              <a:ext cx="1555952" cy="2031325"/>
            </a:xfrm>
            <a:prstGeom prst="rect">
              <a:avLst/>
            </a:prstGeom>
            <a:noFill/>
          </p:spPr>
          <p:txBody>
            <a:bodyPr wrap="square" rtlCol="0">
              <a:spAutoFit/>
            </a:bodyPr>
            <a:lstStyle/>
            <a:p>
              <a:pPr algn="ctr"/>
              <a:r>
                <a:rPr lang="en-US" sz="1800" b="1" dirty="0"/>
                <a:t>BU METİNDEN TEK BİR KELİME BİLE ANLAMIYO-</a:t>
              </a:r>
            </a:p>
            <a:p>
              <a:pPr algn="ctr"/>
              <a:r>
                <a:rPr lang="en-US" sz="1800" b="1" dirty="0"/>
                <a:t>-RUM.</a:t>
              </a:r>
            </a:p>
          </p:txBody>
        </p:sp>
      </p:grpSp>
      <p:pic>
        <p:nvPicPr>
          <p:cNvPr id="9" name="Graphic 2">
            <a:extLst>
              <a:ext uri="{FF2B5EF4-FFF2-40B4-BE49-F238E27FC236}">
                <a16:creationId xmlns:a16="http://schemas.microsoft.com/office/drawing/2014/main" id="{0C8CD9EE-8CCC-16D1-3E8E-4B4D44BE2BC3}"/>
              </a:ext>
            </a:extLst>
          </p:cNvPr>
          <p:cNvPicPr>
            <a:picLocks noChangeAspect="1"/>
          </p:cNvPicPr>
          <p:nvPr/>
        </p:nvPicPr>
        <p:blipFill>
          <a:blip r:embed="rId6" cstate="email">
            <a:extLst>
              <a:ext uri="{28A0092B-C50C-407E-A947-70E740481C1C}">
                <a14:useLocalDpi xmlns:a14="http://schemas.microsoft.com/office/drawing/2010/main"/>
              </a:ext>
            </a:extLst>
          </a:blip>
          <a:srcRect/>
          <a:stretch/>
        </p:blipFill>
        <p:spPr>
          <a:xfrm>
            <a:off x="1445756" y="1062424"/>
            <a:ext cx="2338264" cy="2740153"/>
          </a:xfrm>
          <a:prstGeom prst="rect">
            <a:avLst/>
          </a:prstGeom>
        </p:spPr>
      </p:pic>
      <p:sp>
        <p:nvSpPr>
          <p:cNvPr id="2" name="Title 1">
            <a:extLst>
              <a:ext uri="{FF2B5EF4-FFF2-40B4-BE49-F238E27FC236}">
                <a16:creationId xmlns:a16="http://schemas.microsoft.com/office/drawing/2014/main" id="{9FEB5416-825E-4C22-44B1-13604461DC05}"/>
              </a:ext>
            </a:extLst>
          </p:cNvPr>
          <p:cNvSpPr>
            <a:spLocks noGrp="1"/>
          </p:cNvSpPr>
          <p:nvPr>
            <p:ph type="title"/>
          </p:nvPr>
        </p:nvSpPr>
        <p:spPr/>
        <p:txBody>
          <a:bodyPr/>
          <a:lstStyle/>
          <a:p>
            <a:r>
              <a:rPr lang="en-US" dirty="0"/>
              <a:t>How the User decrypts stuff in ACE</a:t>
            </a:r>
          </a:p>
        </p:txBody>
      </p:sp>
      <p:sp>
        <p:nvSpPr>
          <p:cNvPr id="4" name="TextBox 3">
            <a:extLst>
              <a:ext uri="{FF2B5EF4-FFF2-40B4-BE49-F238E27FC236}">
                <a16:creationId xmlns:a16="http://schemas.microsoft.com/office/drawing/2014/main" id="{0BC3A911-6105-C314-3682-CA03E6B5CADE}"/>
              </a:ext>
            </a:extLst>
          </p:cNvPr>
          <p:cNvSpPr txBox="1"/>
          <p:nvPr/>
        </p:nvSpPr>
        <p:spPr>
          <a:xfrm>
            <a:off x="551977" y="2077481"/>
            <a:ext cx="630301" cy="461665"/>
          </a:xfrm>
          <a:prstGeom prst="rect">
            <a:avLst/>
          </a:prstGeom>
          <a:noFill/>
        </p:spPr>
        <p:txBody>
          <a:bodyPr wrap="none" rtlCol="0">
            <a:spAutoFit/>
          </a:bodyPr>
          <a:lstStyle/>
          <a:p>
            <a:r>
              <a:rPr lang="en-US" sz="2400" b="1" dirty="0"/>
              <a:t>CR</a:t>
            </a:r>
          </a:p>
        </p:txBody>
      </p:sp>
      <p:sp>
        <p:nvSpPr>
          <p:cNvPr id="6" name="TextBox 5">
            <a:extLst>
              <a:ext uri="{FF2B5EF4-FFF2-40B4-BE49-F238E27FC236}">
                <a16:creationId xmlns:a16="http://schemas.microsoft.com/office/drawing/2014/main" id="{49D5789F-C36A-4BF6-9D74-8989F456AC12}"/>
              </a:ext>
            </a:extLst>
          </p:cNvPr>
          <p:cNvSpPr txBox="1"/>
          <p:nvPr/>
        </p:nvSpPr>
        <p:spPr>
          <a:xfrm rot="16200000">
            <a:off x="-199469" y="4728203"/>
            <a:ext cx="2082621" cy="830997"/>
          </a:xfrm>
          <a:prstGeom prst="rect">
            <a:avLst/>
          </a:prstGeom>
          <a:noFill/>
        </p:spPr>
        <p:txBody>
          <a:bodyPr wrap="none" rtlCol="0">
            <a:spAutoFit/>
          </a:bodyPr>
          <a:lstStyle/>
          <a:p>
            <a:pPr algn="ctr"/>
            <a:r>
              <a:rPr lang="en-US" sz="2400" b="1" dirty="0"/>
              <a:t>Single Block</a:t>
            </a:r>
          </a:p>
          <a:p>
            <a:pPr algn="ctr"/>
            <a:r>
              <a:rPr lang="en-US" sz="2400" b="1" dirty="0"/>
              <a:t>of Ciphertext</a:t>
            </a:r>
          </a:p>
        </p:txBody>
      </p:sp>
      <p:sp>
        <p:nvSpPr>
          <p:cNvPr id="16" name="TextBox 15">
            <a:extLst>
              <a:ext uri="{FF2B5EF4-FFF2-40B4-BE49-F238E27FC236}">
                <a16:creationId xmlns:a16="http://schemas.microsoft.com/office/drawing/2014/main" id="{12798C8E-4FA8-2347-5FDD-9243D1130D4B}"/>
              </a:ext>
            </a:extLst>
          </p:cNvPr>
          <p:cNvSpPr txBox="1"/>
          <p:nvPr/>
        </p:nvSpPr>
        <p:spPr>
          <a:xfrm rot="5400000">
            <a:off x="9978128" y="3505862"/>
            <a:ext cx="2029723" cy="830997"/>
          </a:xfrm>
          <a:prstGeom prst="rect">
            <a:avLst/>
          </a:prstGeom>
          <a:noFill/>
        </p:spPr>
        <p:txBody>
          <a:bodyPr wrap="none" rtlCol="0">
            <a:spAutoFit/>
          </a:bodyPr>
          <a:lstStyle/>
          <a:p>
            <a:pPr algn="ctr"/>
            <a:r>
              <a:rPr lang="en-US" sz="2400" b="1" dirty="0"/>
              <a:t>Single Block</a:t>
            </a:r>
          </a:p>
          <a:p>
            <a:pPr algn="ctr"/>
            <a:r>
              <a:rPr lang="en-US" sz="2400" b="1" dirty="0"/>
              <a:t>of Plaintext</a:t>
            </a:r>
          </a:p>
        </p:txBody>
      </p:sp>
      <p:sp>
        <p:nvSpPr>
          <p:cNvPr id="17" name="TextBox 16">
            <a:extLst>
              <a:ext uri="{FF2B5EF4-FFF2-40B4-BE49-F238E27FC236}">
                <a16:creationId xmlns:a16="http://schemas.microsoft.com/office/drawing/2014/main" id="{66D1C3FF-43D2-CA91-DEA3-7A7E3C15EECC}"/>
              </a:ext>
            </a:extLst>
          </p:cNvPr>
          <p:cNvSpPr txBox="1"/>
          <p:nvPr/>
        </p:nvSpPr>
        <p:spPr>
          <a:xfrm>
            <a:off x="4550893" y="6098603"/>
            <a:ext cx="3073277" cy="461665"/>
          </a:xfrm>
          <a:prstGeom prst="rect">
            <a:avLst/>
          </a:prstGeom>
          <a:noFill/>
        </p:spPr>
        <p:txBody>
          <a:bodyPr wrap="none" rtlCol="0">
            <a:spAutoFit/>
          </a:bodyPr>
          <a:lstStyle/>
          <a:p>
            <a:pPr algn="ctr"/>
            <a:r>
              <a:rPr lang="en-US" sz="2400" b="1" dirty="0"/>
              <a:t>ACE Execution Unit</a:t>
            </a:r>
          </a:p>
        </p:txBody>
      </p:sp>
      <p:pic>
        <p:nvPicPr>
          <p:cNvPr id="3" name="Gears3">
            <a:hlinkClick r:id="" action="ppaction://media"/>
            <a:extLst>
              <a:ext uri="{FF2B5EF4-FFF2-40B4-BE49-F238E27FC236}">
                <a16:creationId xmlns:a16="http://schemas.microsoft.com/office/drawing/2014/main" id="{247D76E5-E739-D6C9-109B-DE12D86C1D9F}"/>
              </a:ext>
            </a:extLst>
          </p:cNvPr>
          <p:cNvPicPr>
            <a:picLocks noChangeAspect="1"/>
          </p:cNvPicPr>
          <p:nvPr>
            <a:videoFile r:link="rId2"/>
            <p:extLst>
              <p:ext uri="{DAA4B4D4-6D71-4841-9C94-3DE7FCFB9230}">
                <p14:media xmlns:p14="http://schemas.microsoft.com/office/powerpoint/2010/main" r:embed="rId1"/>
              </p:ext>
            </p:extLst>
          </p:nvPr>
        </p:nvPicPr>
        <p:blipFill>
          <a:blip r:embed="rId7"/>
          <a:srcRect t="9386" b="11409"/>
          <a:stretch>
            <a:fillRect/>
          </a:stretch>
        </p:blipFill>
        <p:spPr>
          <a:xfrm>
            <a:off x="4605599" y="1656276"/>
            <a:ext cx="2980801" cy="4292601"/>
          </a:xfrm>
          <a:prstGeom prst="rect">
            <a:avLst/>
          </a:prstGeom>
        </p:spPr>
      </p:pic>
    </p:spTree>
    <p:extLst>
      <p:ext uri="{BB962C8B-B14F-4D97-AF65-F5344CB8AC3E}">
        <p14:creationId xmlns:p14="http://schemas.microsoft.com/office/powerpoint/2010/main" val="1308349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3.125E-6 3.7037E-7 L 0.26459 0.21134 " pathEditMode="relative" rAng="0" ptsTypes="AA">
                                      <p:cBhvr>
                                        <p:cTn id="6" dur="2000" fill="hold"/>
                                        <p:tgtEl>
                                          <p:spTgt spid="9"/>
                                        </p:tgtEl>
                                        <p:attrNameLst>
                                          <p:attrName>ppt_x</p:attrName>
                                          <p:attrName>ppt_y</p:attrName>
                                        </p:attrNameLst>
                                      </p:cBhvr>
                                      <p:rCtr x="13229" y="10556"/>
                                    </p:animMotion>
                                  </p:childTnLst>
                                </p:cTn>
                              </p:par>
                              <p:par>
                                <p:cTn id="7" presetID="9" presetClass="exit" presetSubtype="0" fill="hold" grpId="0" nodeType="withEffect">
                                  <p:stCondLst>
                                    <p:cond delay="0"/>
                                  </p:stCondLst>
                                  <p:childTnLst>
                                    <p:animEffect transition="out" filter="dissolve">
                                      <p:cBhvr>
                                        <p:cTn id="8" dur="1000"/>
                                        <p:tgtEl>
                                          <p:spTgt spid="4"/>
                                        </p:tgtEl>
                                      </p:cBhvr>
                                    </p:animEffect>
                                    <p:set>
                                      <p:cBhvr>
                                        <p:cTn id="9" dur="1" fill="hold">
                                          <p:stCondLst>
                                            <p:cond delay="999"/>
                                          </p:stCondLst>
                                        </p:cTn>
                                        <p:tgtEl>
                                          <p:spTgt spid="4"/>
                                        </p:tgtEl>
                                        <p:attrNameLst>
                                          <p:attrName>style.visibility</p:attrName>
                                        </p:attrNameLst>
                                      </p:cBhvr>
                                      <p:to>
                                        <p:strVal val="hidden"/>
                                      </p:to>
                                    </p:set>
                                  </p:childTnLst>
                                </p:cTn>
                              </p:par>
                              <p:par>
                                <p:cTn id="10" presetID="0" presetClass="path" presetSubtype="0" accel="50000" decel="50000" fill="hold" nodeType="withEffect">
                                  <p:stCondLst>
                                    <p:cond delay="0"/>
                                  </p:stCondLst>
                                  <p:childTnLst>
                                    <p:animMotion origin="layout" path="M -3.125E-6 3.7037E-7 L 0.26459 -0.19491 " pathEditMode="relative" rAng="0" ptsTypes="AA">
                                      <p:cBhvr>
                                        <p:cTn id="11" dur="2000" fill="hold"/>
                                        <p:tgtEl>
                                          <p:spTgt spid="10"/>
                                        </p:tgtEl>
                                        <p:attrNameLst>
                                          <p:attrName>ppt_x</p:attrName>
                                          <p:attrName>ppt_y</p:attrName>
                                        </p:attrNameLst>
                                      </p:cBhvr>
                                      <p:rCtr x="13229" y="-9745"/>
                                    </p:animMotion>
                                  </p:childTnLst>
                                </p:cTn>
                              </p:par>
                              <p:par>
                                <p:cTn id="12" presetID="9" presetClass="exit" presetSubtype="0" fill="hold" grpId="0" nodeType="withEffect">
                                  <p:stCondLst>
                                    <p:cond delay="0"/>
                                  </p:stCondLst>
                                  <p:childTnLst>
                                    <p:animEffect transition="out" filter="dissolve">
                                      <p:cBhvr>
                                        <p:cTn id="13" dur="1000"/>
                                        <p:tgtEl>
                                          <p:spTgt spid="6"/>
                                        </p:tgtEl>
                                      </p:cBhvr>
                                    </p:animEffect>
                                    <p:set>
                                      <p:cBhvr>
                                        <p:cTn id="14" dur="1" fill="hold">
                                          <p:stCondLst>
                                            <p:cond delay="999"/>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3903" fill="hold"/>
                                        <p:tgtEl>
                                          <p:spTgt spid="3"/>
                                        </p:tgtEl>
                                      </p:cBhvr>
                                    </p:cmd>
                                  </p:childTnLst>
                                </p:cTn>
                              </p:par>
                            </p:childTnLst>
                          </p:cTn>
                        </p:par>
                        <p:par>
                          <p:cTn id="19" fill="hold">
                            <p:stCondLst>
                              <p:cond delay="3903"/>
                            </p:stCondLst>
                            <p:childTnLst>
                              <p:par>
                                <p:cTn id="20" presetID="0" presetClass="path" presetSubtype="0" accel="50000" decel="50000" fill="hold" nodeType="afterEffect">
                                  <p:stCondLst>
                                    <p:cond delay="0"/>
                                  </p:stCondLst>
                                  <p:childTnLst>
                                    <p:animMotion origin="layout" path="M 0 -0.00487 L 0.26732 -0.00602 " pathEditMode="relative" rAng="0" ptsTypes="AA">
                                      <p:cBhvr>
                                        <p:cTn id="21" dur="2000" fill="hold"/>
                                        <p:tgtEl>
                                          <p:spTgt spid="13"/>
                                        </p:tgtEl>
                                        <p:attrNameLst>
                                          <p:attrName>ppt_x</p:attrName>
                                          <p:attrName>ppt_y</p:attrName>
                                        </p:attrNameLst>
                                      </p:cBhvr>
                                      <p:rCtr x="13359" y="-69"/>
                                    </p:animMotion>
                                  </p:childTnLst>
                                </p:cTn>
                              </p:par>
                              <p:par>
                                <p:cTn id="22" presetID="9" presetClass="entr" presetSubtype="0" fill="hold" grpId="0" nodeType="withEffect">
                                  <p:stCondLst>
                                    <p:cond delay="1000"/>
                                  </p:stCondLst>
                                  <p:childTnLst>
                                    <p:set>
                                      <p:cBhvr>
                                        <p:cTn id="23" dur="1" fill="hold">
                                          <p:stCondLst>
                                            <p:cond delay="0"/>
                                          </p:stCondLst>
                                        </p:cTn>
                                        <p:tgtEl>
                                          <p:spTgt spid="16"/>
                                        </p:tgtEl>
                                        <p:attrNameLst>
                                          <p:attrName>style.visibility</p:attrName>
                                        </p:attrNameLst>
                                      </p:cBhvr>
                                      <p:to>
                                        <p:strVal val="visible"/>
                                      </p:to>
                                    </p:set>
                                    <p:animEffect transition="in" filter="dissolve">
                                      <p:cBhvr>
                                        <p:cTn id="24"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5" fill="hold" display="0">
                  <p:stCondLst>
                    <p:cond delay="indefinite"/>
                  </p:stCondLst>
                </p:cTn>
                <p:tgtEl>
                  <p:spTgt spid="3"/>
                </p:tgtEl>
              </p:cMediaNode>
            </p:video>
            <p:seq concurrent="1" nextAc="seek">
              <p:cTn id="26" restart="whenNotActive" fill="hold" evtFilter="cancelBubble" nodeType="interactiveSeq">
                <p:stCondLst>
                  <p:cond evt="onClick" delay="0">
                    <p:tgtEl>
                      <p:spTgt spid="3"/>
                    </p:tgtEl>
                  </p:cond>
                </p:stCondLst>
                <p:endSync evt="end" delay="0">
                  <p:rtn val="all"/>
                </p:endSync>
                <p:childTnLst>
                  <p:par>
                    <p:cTn id="27" fill="hold">
                      <p:stCondLst>
                        <p:cond delay="indefinite"/>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3"/>
                                        </p:tgtEl>
                                      </p:cBhvr>
                                    </p:cmd>
                                  </p:childTnLst>
                                </p:cTn>
                              </p:par>
                            </p:childTnLst>
                          </p:cTn>
                        </p:par>
                      </p:childTnLst>
                    </p:cTn>
                  </p:par>
                </p:childTnLst>
              </p:cTn>
              <p:nextCondLst>
                <p:cond evt="onClick" delay="0">
                  <p:tgtEl>
                    <p:spTgt spid="3"/>
                  </p:tgtEl>
                </p:cond>
              </p:nextCondLst>
            </p:seq>
          </p:childTnLst>
        </p:cTn>
      </p:par>
    </p:tnLst>
    <p:bldLst>
      <p:bldP spid="4" grpId="0"/>
      <p:bldP spid="6"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0"/>
          <p:cNvSpPr txBox="1">
            <a:spLocks noGrp="1"/>
          </p:cNvSpPr>
          <p:nvPr>
            <p:ph type="body" idx="1"/>
          </p:nvPr>
        </p:nvSpPr>
        <p:spPr>
          <a:xfrm>
            <a:off x="515925" y="1368056"/>
            <a:ext cx="11160000" cy="451500"/>
          </a:xfrm>
          <a:prstGeom prst="rect">
            <a:avLst/>
          </a:prstGeom>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US" sz="2000" dirty="0">
                <a:solidFill>
                  <a:srgbClr val="000C3F"/>
                </a:solidFill>
              </a:rPr>
              <a:t>The most important (</a:t>
            </a:r>
            <a:r>
              <a:rPr lang="en-US" sz="2000" i="1" dirty="0">
                <a:solidFill>
                  <a:srgbClr val="000C3F"/>
                </a:solidFill>
              </a:rPr>
              <a:t>pseudo–</a:t>
            </a:r>
            <a:r>
              <a:rPr lang="en-US" sz="2000" dirty="0">
                <a:solidFill>
                  <a:srgbClr val="000C3F"/>
                </a:solidFill>
              </a:rPr>
              <a:t>)instructions are:</a:t>
            </a:r>
            <a:endParaRPr sz="2000" dirty="0"/>
          </a:p>
        </p:txBody>
      </p:sp>
      <p:sp>
        <p:nvSpPr>
          <p:cNvPr id="116" name="Google Shape;116;p20"/>
          <p:cNvSpPr txBox="1">
            <a:spLocks noGrp="1"/>
          </p:cNvSpPr>
          <p:nvPr>
            <p:ph type="title"/>
          </p:nvPr>
        </p:nvSpPr>
        <p:spPr>
          <a:xfrm>
            <a:off x="515937" y="618238"/>
            <a:ext cx="11160000" cy="647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US" b="1">
                <a:solidFill>
                  <a:schemeClr val="lt1"/>
                </a:solidFill>
              </a:rPr>
              <a:t>What</a:t>
            </a:r>
            <a:r>
              <a:rPr lang="en-US">
                <a:solidFill>
                  <a:schemeClr val="lt1"/>
                </a:solidFill>
              </a:rPr>
              <a:t> — High Level View of the Solution</a:t>
            </a:r>
            <a:endParaRPr/>
          </a:p>
        </p:txBody>
      </p:sp>
      <p:graphicFrame>
        <p:nvGraphicFramePr>
          <p:cNvPr id="117" name="Google Shape;117;p20"/>
          <p:cNvGraphicFramePr/>
          <p:nvPr>
            <p:extLst>
              <p:ext uri="{D42A27DB-BD31-4B8C-83A1-F6EECF244321}">
                <p14:modId xmlns:p14="http://schemas.microsoft.com/office/powerpoint/2010/main" val="1871676050"/>
              </p:ext>
            </p:extLst>
          </p:nvPr>
        </p:nvGraphicFramePr>
        <p:xfrm>
          <a:off x="515925" y="1961274"/>
          <a:ext cx="11277271" cy="3312299"/>
        </p:xfrm>
        <a:graphic>
          <a:graphicData uri="http://schemas.openxmlformats.org/drawingml/2006/table">
            <a:tbl>
              <a:tblPr>
                <a:noFill/>
                <a:tableStyleId>{5973D75A-92D6-40BF-BCF4-29441B680379}</a:tableStyleId>
              </a:tblPr>
              <a:tblGrid>
                <a:gridCol w="3309841">
                  <a:extLst>
                    <a:ext uri="{9D8B030D-6E8A-4147-A177-3AD203B41FA5}">
                      <a16:colId xmlns:a16="http://schemas.microsoft.com/office/drawing/2014/main" val="20000"/>
                    </a:ext>
                  </a:extLst>
                </a:gridCol>
                <a:gridCol w="7967430">
                  <a:extLst>
                    <a:ext uri="{9D8B030D-6E8A-4147-A177-3AD203B41FA5}">
                      <a16:colId xmlns:a16="http://schemas.microsoft.com/office/drawing/2014/main" val="20001"/>
                    </a:ext>
                  </a:extLst>
                </a:gridCol>
              </a:tblGrid>
              <a:tr h="416699">
                <a:tc>
                  <a:txBody>
                    <a:bodyPr/>
                    <a:lstStyle/>
                    <a:p>
                      <a:pPr marL="0" lvl="0" indent="0" algn="l" rtl="0">
                        <a:spcBef>
                          <a:spcPts val="0"/>
                        </a:spcBef>
                        <a:spcAft>
                          <a:spcPts val="0"/>
                        </a:spcAft>
                        <a:buNone/>
                      </a:pPr>
                      <a:r>
                        <a:rPr lang="en-US" sz="1800" b="1" i="0" dirty="0">
                          <a:solidFill>
                            <a:srgbClr val="FF0000"/>
                          </a:solidFill>
                        </a:rPr>
                        <a:t>PROVISION  </a:t>
                      </a:r>
                      <a:r>
                        <a:rPr lang="en-US" sz="1800" b="1" dirty="0" err="1">
                          <a:solidFill>
                            <a:srgbClr val="FF0000"/>
                          </a:solidFill>
                        </a:rPr>
                        <a:t>Kn</a:t>
                      </a:r>
                      <a:r>
                        <a:rPr lang="en-US" sz="1800" b="1" dirty="0">
                          <a:solidFill>
                            <a:srgbClr val="FF0000"/>
                          </a:solidFill>
                        </a:rPr>
                        <a:t>, %offset(</a:t>
                      </a:r>
                      <a:r>
                        <a:rPr lang="en-US" sz="1800" b="1" dirty="0" err="1">
                          <a:solidFill>
                            <a:srgbClr val="FF0000"/>
                          </a:solidFill>
                        </a:rPr>
                        <a:t>Xs</a:t>
                      </a:r>
                      <a:r>
                        <a:rPr lang="en-US" sz="1800" b="1" dirty="0">
                          <a:solidFill>
                            <a:srgbClr val="FF0000"/>
                          </a:solidFill>
                        </a:rPr>
                        <a:t>) </a:t>
                      </a:r>
                      <a:endParaRPr sz="1800" b="1" dirty="0">
                        <a:solidFill>
                          <a:srgbClr val="FF0000"/>
                        </a:solidFill>
                      </a:endParaRPr>
                    </a:p>
                  </a:txBody>
                  <a:tcPr marL="91425" marR="91425" marT="64000" marB="64000">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noFill/>
                  </a:tcPr>
                </a:tc>
                <a:tc>
                  <a:txBody>
                    <a:bodyPr/>
                    <a:lstStyle/>
                    <a:p>
                      <a:pPr marL="0" lvl="0" indent="0" algn="l" rtl="0">
                        <a:spcBef>
                          <a:spcPts val="0"/>
                        </a:spcBef>
                        <a:spcAft>
                          <a:spcPts val="0"/>
                        </a:spcAft>
                        <a:buNone/>
                      </a:pPr>
                      <a:r>
                        <a:rPr lang="en-US" sz="1700" dirty="0">
                          <a:solidFill>
                            <a:schemeClr val="lt1"/>
                          </a:solidFill>
                        </a:rPr>
                        <a:t>Loads { metadata, key(s) } from memory and places them in a CR;</a:t>
                      </a:r>
                      <a:endParaRPr sz="1700" dirty="0"/>
                    </a:p>
                  </a:txBody>
                  <a:tcPr marL="91425" marR="91425" marT="64000" marB="64000">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noFill/>
                  </a:tcPr>
                </a:tc>
                <a:extLst>
                  <a:ext uri="{0D108BD9-81ED-4DB2-BD59-A6C34878D82A}">
                    <a16:rowId xmlns:a16="http://schemas.microsoft.com/office/drawing/2014/main" val="10000"/>
                  </a:ext>
                </a:extLst>
              </a:tr>
              <a:tr h="416699">
                <a:tc>
                  <a:txBody>
                    <a:bodyPr/>
                    <a:lstStyle/>
                    <a:p>
                      <a:pPr marL="0" lvl="0" indent="0" algn="l" rtl="0">
                        <a:spcBef>
                          <a:spcPts val="0"/>
                        </a:spcBef>
                        <a:spcAft>
                          <a:spcPts val="0"/>
                        </a:spcAft>
                        <a:buNone/>
                      </a:pPr>
                      <a:r>
                        <a:rPr lang="en-US" sz="1800" b="1" i="0" dirty="0">
                          <a:solidFill>
                            <a:srgbClr val="FF0000"/>
                          </a:solidFill>
                        </a:rPr>
                        <a:t>CLEAR</a:t>
                      </a:r>
                      <a:r>
                        <a:rPr lang="en-US" sz="1800" b="1" dirty="0">
                          <a:solidFill>
                            <a:srgbClr val="FF0000"/>
                          </a:solidFill>
                        </a:rPr>
                        <a:t>  </a:t>
                      </a:r>
                      <a:r>
                        <a:rPr lang="en-US" sz="1800" b="1" dirty="0" err="1">
                          <a:solidFill>
                            <a:srgbClr val="FF0000"/>
                          </a:solidFill>
                        </a:rPr>
                        <a:t>Kn</a:t>
                      </a:r>
                      <a:endParaRPr sz="1800" b="1" dirty="0">
                        <a:solidFill>
                          <a:srgbClr val="FF0000"/>
                        </a:solidFill>
                      </a:endParaRPr>
                    </a:p>
                  </a:txBody>
                  <a:tcPr marL="91425" marR="91425" marT="64000" marB="64000">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noFill/>
                  </a:tcPr>
                </a:tc>
                <a:tc>
                  <a:txBody>
                    <a:bodyPr/>
                    <a:lstStyle/>
                    <a:p>
                      <a:pPr marL="0" lvl="0" indent="0" algn="l" rtl="0">
                        <a:spcBef>
                          <a:spcPts val="0"/>
                        </a:spcBef>
                        <a:spcAft>
                          <a:spcPts val="0"/>
                        </a:spcAft>
                        <a:buClr>
                          <a:schemeClr val="dk1"/>
                        </a:buClr>
                        <a:buSzPts val="1100"/>
                        <a:buFont typeface="Arial"/>
                        <a:buNone/>
                      </a:pPr>
                      <a:r>
                        <a:rPr lang="en-US" sz="1700" dirty="0">
                          <a:solidFill>
                            <a:schemeClr val="lt1"/>
                          </a:solidFill>
                        </a:rPr>
                        <a:t>Erases/invalidates the content of a CR; (pseudo-</a:t>
                      </a:r>
                      <a:r>
                        <a:rPr lang="en-US" sz="1700" dirty="0" err="1">
                          <a:solidFill>
                            <a:schemeClr val="lt1"/>
                          </a:solidFill>
                        </a:rPr>
                        <a:t>insn</a:t>
                      </a:r>
                      <a:r>
                        <a:rPr lang="en-US" sz="1700" dirty="0">
                          <a:solidFill>
                            <a:schemeClr val="lt1"/>
                          </a:solidFill>
                        </a:rPr>
                        <a:t> using </a:t>
                      </a:r>
                      <a:r>
                        <a:rPr lang="en-US" sz="1700" dirty="0" err="1">
                          <a:solidFill>
                            <a:schemeClr val="lt1"/>
                          </a:solidFill>
                        </a:rPr>
                        <a:t>ace.setst</a:t>
                      </a:r>
                      <a:r>
                        <a:rPr lang="en-US" sz="1700" dirty="0">
                          <a:solidFill>
                            <a:schemeClr val="lt1"/>
                          </a:solidFill>
                        </a:rPr>
                        <a:t>)</a:t>
                      </a:r>
                      <a:endParaRPr sz="1700" dirty="0">
                        <a:solidFill>
                          <a:schemeClr val="lt1"/>
                        </a:solidFill>
                      </a:endParaRPr>
                    </a:p>
                  </a:txBody>
                  <a:tcPr marL="91425" marR="91425" marT="64000" marB="64000">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416699">
                <a:tc>
                  <a:txBody>
                    <a:bodyPr/>
                    <a:lstStyle/>
                    <a:p>
                      <a:pPr marL="0" lvl="0" indent="0" algn="l" rtl="0">
                        <a:spcBef>
                          <a:spcPts val="0"/>
                        </a:spcBef>
                        <a:spcAft>
                          <a:spcPts val="0"/>
                        </a:spcAft>
                        <a:buNone/>
                      </a:pPr>
                      <a:r>
                        <a:rPr lang="en-US" sz="1800" b="1" i="0" dirty="0">
                          <a:solidFill>
                            <a:srgbClr val="FF0000"/>
                          </a:solidFill>
                        </a:rPr>
                        <a:t>EXPORT  </a:t>
                      </a:r>
                      <a:r>
                        <a:rPr lang="en-US" sz="1800" b="1" dirty="0">
                          <a:solidFill>
                            <a:srgbClr val="FF0000"/>
                          </a:solidFill>
                        </a:rPr>
                        <a:t>%offset (Xd), Ks</a:t>
                      </a:r>
                      <a:endParaRPr sz="1800" b="1" dirty="0">
                        <a:solidFill>
                          <a:srgbClr val="FF0000"/>
                        </a:solidFill>
                      </a:endParaRPr>
                    </a:p>
                  </a:txBody>
                  <a:tcPr marL="91425" marR="91425" marT="64000" marB="64000">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noFill/>
                  </a:tcPr>
                </a:tc>
                <a:tc>
                  <a:txBody>
                    <a:bodyPr/>
                    <a:lstStyle/>
                    <a:p>
                      <a:pPr marL="0" lvl="0" indent="0" algn="l" rtl="0">
                        <a:spcBef>
                          <a:spcPts val="0"/>
                        </a:spcBef>
                        <a:spcAft>
                          <a:spcPts val="0"/>
                        </a:spcAft>
                        <a:buNone/>
                      </a:pPr>
                      <a:r>
                        <a:rPr lang="en-US" sz="1700" dirty="0">
                          <a:solidFill>
                            <a:schemeClr val="lt1"/>
                          </a:solidFill>
                        </a:rPr>
                        <a:t>Encrypt +authenticates the </a:t>
                      </a:r>
                      <a:r>
                        <a:rPr lang="en-US" sz="1700" dirty="0" err="1">
                          <a:solidFill>
                            <a:schemeClr val="lt1"/>
                          </a:solidFill>
                        </a:rPr>
                        <a:t>contentsof</a:t>
                      </a:r>
                      <a:r>
                        <a:rPr lang="en-US" sz="1700" dirty="0">
                          <a:solidFill>
                            <a:schemeClr val="lt1"/>
                          </a:solidFill>
                        </a:rPr>
                        <a:t> a CR, stores it in memory as an SCC;</a:t>
                      </a:r>
                    </a:p>
                  </a:txBody>
                  <a:tcPr marL="91425" marR="91425" marT="64000" marB="64000">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5108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i="0" dirty="0">
                          <a:solidFill>
                            <a:srgbClr val="FF0000"/>
                          </a:solidFill>
                        </a:rPr>
                        <a:t>IMPORT  </a:t>
                      </a:r>
                      <a:r>
                        <a:rPr lang="en-US" sz="1800" b="1" dirty="0" err="1">
                          <a:solidFill>
                            <a:srgbClr val="FF0000"/>
                          </a:solidFill>
                        </a:rPr>
                        <a:t>Kd</a:t>
                      </a:r>
                      <a:r>
                        <a:rPr lang="en-US" sz="1800" b="1" dirty="0">
                          <a:solidFill>
                            <a:srgbClr val="FF0000"/>
                          </a:solidFill>
                        </a:rPr>
                        <a:t>, %offset(</a:t>
                      </a:r>
                      <a:r>
                        <a:rPr lang="en-US" sz="1800" b="1" dirty="0" err="1">
                          <a:solidFill>
                            <a:srgbClr val="FF0000"/>
                          </a:solidFill>
                        </a:rPr>
                        <a:t>Xs</a:t>
                      </a:r>
                      <a:r>
                        <a:rPr lang="en-US" sz="1800" b="1" dirty="0">
                          <a:solidFill>
                            <a:srgbClr val="FF0000"/>
                          </a:solidFill>
                        </a:rPr>
                        <a:t>)</a:t>
                      </a:r>
                      <a:endParaRPr sz="1800" b="1" dirty="0">
                        <a:solidFill>
                          <a:srgbClr val="FF0000"/>
                        </a:solidFill>
                      </a:endParaRPr>
                    </a:p>
                  </a:txBody>
                  <a:tcPr marL="91425" marR="91425" marT="64000" marB="64000">
                    <a:lnL w="9525" cap="flat" cmpd="sng">
                      <a:solidFill>
                        <a:srgbClr val="FFFFFF">
                          <a:alpha val="0"/>
                        </a:srgbClr>
                      </a:solidFill>
                      <a:prstDash val="solid"/>
                      <a:round/>
                      <a:headEnd type="none" w="sm" len="sm"/>
                      <a:tailEnd type="none" w="sm" len="sm"/>
                    </a:lnL>
                    <a:lnR w="9525" cap="flat" cmpd="sng" algn="ctr">
                      <a:solidFill>
                        <a:srgbClr val="FFFFFF">
                          <a:alpha val="0"/>
                        </a:srgbClr>
                      </a:solidFill>
                      <a:prstDash val="solid"/>
                      <a:round/>
                      <a:headEnd type="none" w="sm" len="sm"/>
                      <a:tailEnd type="none" w="sm" len="sm"/>
                    </a:lnR>
                    <a:lnT w="9525" cap="flat" cmpd="sng" algn="ctr">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700" dirty="0">
                          <a:solidFill>
                            <a:schemeClr val="lt1"/>
                          </a:solidFill>
                        </a:rPr>
                        <a:t>Authenticates, decrypts and loads an SCC back into the system.</a:t>
                      </a:r>
                    </a:p>
                  </a:txBody>
                  <a:tcPr marL="91425" marR="91425" marT="64000" marB="64000">
                    <a:lnL w="9525" cap="flat" cmpd="sng" algn="ctr">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lgn="ctr">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noFill/>
                  </a:tcPr>
                </a:tc>
                <a:extLst>
                  <a:ext uri="{0D108BD9-81ED-4DB2-BD59-A6C34878D82A}">
                    <a16:rowId xmlns:a16="http://schemas.microsoft.com/office/drawing/2014/main" val="3547785591"/>
                  </a:ext>
                </a:extLst>
              </a:tr>
              <a:tr h="595919">
                <a:tc>
                  <a:txBody>
                    <a:bodyPr/>
                    <a:lstStyle/>
                    <a:p>
                      <a:pPr marL="0" lvl="0" indent="0" algn="l" rtl="0">
                        <a:spcBef>
                          <a:spcPts val="0"/>
                        </a:spcBef>
                        <a:spcAft>
                          <a:spcPts val="0"/>
                        </a:spcAft>
                        <a:buNone/>
                      </a:pPr>
                      <a:r>
                        <a:rPr lang="en-US" sz="1800" b="1" dirty="0" err="1">
                          <a:solidFill>
                            <a:srgbClr val="FF0000"/>
                          </a:solidFill>
                        </a:rPr>
                        <a:t>ace.exec</a:t>
                      </a:r>
                      <a:r>
                        <a:rPr lang="en-US" sz="1800" b="1" dirty="0">
                          <a:solidFill>
                            <a:srgbClr val="FF0000"/>
                          </a:solidFill>
                        </a:rPr>
                        <a:t>  </a:t>
                      </a:r>
                      <a:r>
                        <a:rPr lang="en-US" sz="1800" b="1" dirty="0" err="1">
                          <a:solidFill>
                            <a:srgbClr val="FF0000"/>
                          </a:solidFill>
                        </a:rPr>
                        <a:t>Vd</a:t>
                      </a:r>
                      <a:r>
                        <a:rPr lang="en-US" sz="1800" b="1" dirty="0">
                          <a:solidFill>
                            <a:srgbClr val="FF0000"/>
                          </a:solidFill>
                        </a:rPr>
                        <a:t>, </a:t>
                      </a:r>
                      <a:r>
                        <a:rPr lang="en-US" sz="1800" b="1" dirty="0" err="1">
                          <a:solidFill>
                            <a:srgbClr val="FF0000"/>
                          </a:solidFill>
                        </a:rPr>
                        <a:t>Kn</a:t>
                      </a:r>
                      <a:r>
                        <a:rPr lang="en-US" sz="1800" b="1" dirty="0">
                          <a:solidFill>
                            <a:srgbClr val="FF0000"/>
                          </a:solidFill>
                        </a:rPr>
                        <a:t>, Vs</a:t>
                      </a:r>
                      <a:endParaRPr sz="1800" b="1" dirty="0">
                        <a:solidFill>
                          <a:srgbClr val="FF0000"/>
                        </a:solidFill>
                      </a:endParaRPr>
                    </a:p>
                  </a:txBody>
                  <a:tcPr marL="91425" marR="91425" marT="64000" marB="64000">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noFill/>
                  </a:tcPr>
                </a:tc>
                <a:tc>
                  <a:txBody>
                    <a:bodyPr/>
                    <a:lstStyle/>
                    <a:p>
                      <a:pPr marL="0" lvl="0" indent="0" algn="l" rtl="0">
                        <a:spcBef>
                          <a:spcPts val="0"/>
                        </a:spcBef>
                        <a:spcAft>
                          <a:spcPts val="0"/>
                        </a:spcAft>
                        <a:buNone/>
                      </a:pPr>
                      <a:r>
                        <a:rPr lang="en-US" sz="1700" dirty="0">
                          <a:solidFill>
                            <a:schemeClr val="lt1"/>
                          </a:solidFill>
                        </a:rPr>
                        <a:t>Performs a cryptographic operation on a block (e.g., 128 bits) of the input </a:t>
                      </a:r>
                      <a:br>
                        <a:rPr lang="en-US" sz="1700" dirty="0">
                          <a:solidFill>
                            <a:schemeClr val="lt1"/>
                          </a:solidFill>
                        </a:rPr>
                      </a:br>
                      <a:r>
                        <a:rPr lang="en-US" sz="1700" b="1" i="1" dirty="0">
                          <a:solidFill>
                            <a:schemeClr val="lt1"/>
                          </a:solidFill>
                        </a:rPr>
                        <a:t>according to the algorithm configured in the CR and its current state.</a:t>
                      </a:r>
                    </a:p>
                  </a:txBody>
                  <a:tcPr marL="91425" marR="91425" marT="64000" marB="64000">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834855">
                <a:tc>
                  <a:txBody>
                    <a:bodyPr/>
                    <a:lstStyle/>
                    <a:p>
                      <a:pPr marL="0" lvl="0" indent="0" algn="l" rtl="0">
                        <a:spcBef>
                          <a:spcPts val="0"/>
                        </a:spcBef>
                        <a:spcAft>
                          <a:spcPts val="0"/>
                        </a:spcAft>
                        <a:buNone/>
                      </a:pPr>
                      <a:r>
                        <a:rPr lang="en-US" sz="1800" b="1" dirty="0" err="1">
                          <a:solidFill>
                            <a:srgbClr val="FF0000"/>
                          </a:solidFill>
                        </a:rPr>
                        <a:t>ace.setst</a:t>
                      </a:r>
                      <a:r>
                        <a:rPr lang="en-US" sz="1800" b="1" dirty="0">
                          <a:solidFill>
                            <a:srgbClr val="FF0000"/>
                          </a:solidFill>
                        </a:rPr>
                        <a:t>  </a:t>
                      </a:r>
                      <a:r>
                        <a:rPr lang="en-US" sz="1800" b="1" dirty="0" err="1">
                          <a:solidFill>
                            <a:srgbClr val="FF0000"/>
                          </a:solidFill>
                        </a:rPr>
                        <a:t>Kd</a:t>
                      </a:r>
                      <a:r>
                        <a:rPr lang="en-US" sz="1800" b="1" dirty="0">
                          <a:solidFill>
                            <a:srgbClr val="FF0000"/>
                          </a:solidFill>
                        </a:rPr>
                        <a:t>, #</a:t>
                      </a:r>
                      <a:r>
                        <a:rPr lang="en-US" sz="1800" b="1" dirty="0" err="1">
                          <a:solidFill>
                            <a:srgbClr val="FF0000"/>
                          </a:solidFill>
                        </a:rPr>
                        <a:t>imm</a:t>
                      </a:r>
                      <a:endParaRPr sz="1800" b="1" dirty="0">
                        <a:solidFill>
                          <a:srgbClr val="FF0000"/>
                        </a:solidFill>
                      </a:endParaRPr>
                    </a:p>
                  </a:txBody>
                  <a:tcPr marL="91425" marR="91425" marT="64000" marB="64000">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noFill/>
                  </a:tcPr>
                </a:tc>
                <a:tc>
                  <a:txBody>
                    <a:bodyPr/>
                    <a:lstStyle/>
                    <a:p>
                      <a:pPr marL="0" lvl="0" indent="0" algn="l" rtl="0">
                        <a:spcBef>
                          <a:spcPts val="0"/>
                        </a:spcBef>
                        <a:spcAft>
                          <a:spcPts val="0"/>
                        </a:spcAft>
                        <a:buNone/>
                      </a:pPr>
                      <a:r>
                        <a:rPr lang="en-US" sz="1700" dirty="0">
                          <a:solidFill>
                            <a:schemeClr val="lt1"/>
                          </a:solidFill>
                        </a:rPr>
                        <a:t>Determines whether we encrypt or decrypt, selects the stage of an algorithm, etc.</a:t>
                      </a:r>
                    </a:p>
                    <a:p>
                      <a:pPr marL="0" lvl="0" indent="0" algn="l" rtl="0">
                        <a:spcBef>
                          <a:spcPts val="0"/>
                        </a:spcBef>
                        <a:spcAft>
                          <a:spcPts val="0"/>
                        </a:spcAft>
                        <a:buNone/>
                      </a:pPr>
                      <a:r>
                        <a:rPr lang="en-US" sz="1700" dirty="0">
                          <a:solidFill>
                            <a:schemeClr val="lt1"/>
                          </a:solidFill>
                        </a:rPr>
                        <a:t>prepares CRs for provisioning/import/export–or terminates the procedure.</a:t>
                      </a:r>
                    </a:p>
                    <a:p>
                      <a:pPr marL="0" lvl="0" indent="0" algn="l" rtl="0">
                        <a:spcBef>
                          <a:spcPts val="0"/>
                        </a:spcBef>
                        <a:spcAft>
                          <a:spcPts val="0"/>
                        </a:spcAft>
                        <a:buNone/>
                      </a:pPr>
                      <a:r>
                        <a:rPr lang="en-US" sz="1700" dirty="0">
                          <a:solidFill>
                            <a:schemeClr val="lt1"/>
                          </a:solidFill>
                        </a:rPr>
                        <a:t>This is the most important </a:t>
                      </a:r>
                      <a:r>
                        <a:rPr lang="en-US" sz="1700" dirty="0" err="1">
                          <a:solidFill>
                            <a:schemeClr val="lt1"/>
                          </a:solidFill>
                        </a:rPr>
                        <a:t>insn</a:t>
                      </a:r>
                      <a:r>
                        <a:rPr lang="en-US" sz="1700" dirty="0">
                          <a:solidFill>
                            <a:schemeClr val="lt1"/>
                          </a:solidFill>
                        </a:rPr>
                        <a:t> for CR management.</a:t>
                      </a:r>
                      <a:endParaRPr sz="1700" dirty="0">
                        <a:solidFill>
                          <a:schemeClr val="lt1"/>
                        </a:solidFill>
                      </a:endParaRPr>
                    </a:p>
                  </a:txBody>
                  <a:tcPr marL="91425" marR="91425" marT="64000" marB="64000">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noFill/>
                  </a:tcPr>
                </a:tc>
                <a:extLst>
                  <a:ext uri="{0D108BD9-81ED-4DB2-BD59-A6C34878D82A}">
                    <a16:rowId xmlns:a16="http://schemas.microsoft.com/office/drawing/2014/main" val="10004"/>
                  </a:ext>
                </a:extLst>
              </a:tr>
            </a:tbl>
          </a:graphicData>
        </a:graphic>
      </p:graphicFrame>
      <p:sp>
        <p:nvSpPr>
          <p:cNvPr id="118" name="Google Shape;118;p20"/>
          <p:cNvSpPr txBox="1">
            <a:spLocks noGrp="1"/>
          </p:cNvSpPr>
          <p:nvPr>
            <p:ph type="body" idx="1"/>
          </p:nvPr>
        </p:nvSpPr>
        <p:spPr>
          <a:xfrm>
            <a:off x="515900" y="5415291"/>
            <a:ext cx="11054400" cy="806834"/>
          </a:xfrm>
          <a:prstGeom prst="rect">
            <a:avLst/>
          </a:prstGeom>
        </p:spPr>
        <p:txBody>
          <a:bodyPr spcFirstLastPara="1" wrap="square" lIns="0" tIns="0" rIns="0" bIns="0" anchor="t" anchorCtr="0">
            <a:noAutofit/>
          </a:bodyPr>
          <a:lstStyle/>
          <a:p>
            <a:pPr marL="0" lvl="0" indent="0" algn="l" rtl="0">
              <a:lnSpc>
                <a:spcPct val="115000"/>
              </a:lnSpc>
              <a:spcBef>
                <a:spcPts val="0"/>
              </a:spcBef>
              <a:spcAft>
                <a:spcPts val="0"/>
              </a:spcAft>
              <a:buNone/>
            </a:pPr>
            <a:r>
              <a:rPr lang="en-US" sz="1800" dirty="0">
                <a:solidFill>
                  <a:srgbClr val="000C3F"/>
                </a:solidFill>
              </a:rPr>
              <a:t>The inputs/outputs of the ACE instructions are: </a:t>
            </a:r>
            <a:r>
              <a:rPr lang="en-US" sz="1800" dirty="0">
                <a:solidFill>
                  <a:schemeClr val="lt1"/>
                </a:solidFill>
              </a:rPr>
              <a:t>Crypto Registers, </a:t>
            </a:r>
            <a:r>
              <a:rPr lang="en-US" sz="1800" dirty="0">
                <a:solidFill>
                  <a:srgbClr val="000C3F"/>
                </a:solidFill>
              </a:rPr>
              <a:t>Vector Registers, an internal buffer/closely coupled memory called the ACEIOBUF, and memory.</a:t>
            </a:r>
            <a:endParaRPr sz="1800" dirty="0">
              <a:solidFill>
                <a:srgbClr val="000C3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txBox="1">
            <a:spLocks noGrp="1"/>
          </p:cNvSpPr>
          <p:nvPr>
            <p:ph type="title"/>
          </p:nvPr>
        </p:nvSpPr>
        <p:spPr>
          <a:xfrm>
            <a:off x="515937" y="628015"/>
            <a:ext cx="11160000" cy="647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US" dirty="0"/>
              <a:t>Life of a CC (example)</a:t>
            </a:r>
            <a:endParaRPr dirty="0"/>
          </a:p>
        </p:txBody>
      </p:sp>
      <p:sp>
        <p:nvSpPr>
          <p:cNvPr id="124" name="Google Shape;124;p21"/>
          <p:cNvSpPr txBox="1">
            <a:spLocks noGrp="1"/>
          </p:cNvSpPr>
          <p:nvPr>
            <p:ph type="body" idx="1"/>
          </p:nvPr>
        </p:nvSpPr>
        <p:spPr>
          <a:xfrm>
            <a:off x="515937" y="1506219"/>
            <a:ext cx="11160000" cy="4672200"/>
          </a:xfrm>
          <a:prstGeom prst="rect">
            <a:avLst/>
          </a:prstGeom>
        </p:spPr>
        <p:txBody>
          <a:bodyPr spcFirstLastPara="1" wrap="square" lIns="0" tIns="0" rIns="0" bIns="0" anchor="t" anchorCtr="0">
            <a:normAutofit/>
          </a:bodyPr>
          <a:lstStyle/>
          <a:p>
            <a:pPr marL="457200" lvl="0" indent="-355600" algn="l" rtl="0">
              <a:lnSpc>
                <a:spcPct val="115000"/>
              </a:lnSpc>
              <a:spcBef>
                <a:spcPts val="900"/>
              </a:spcBef>
              <a:spcAft>
                <a:spcPts val="0"/>
              </a:spcAft>
              <a:buClr>
                <a:schemeClr val="lt1"/>
              </a:buClr>
              <a:buSzPts val="2000"/>
              <a:buAutoNum type="arabicPeriod"/>
            </a:pPr>
            <a:r>
              <a:rPr lang="en-US" sz="2000" dirty="0">
                <a:solidFill>
                  <a:schemeClr val="lt1"/>
                </a:solidFill>
              </a:rPr>
              <a:t>Requester SW needs a CC to process some payload.</a:t>
            </a:r>
            <a:endParaRPr sz="2000" dirty="0">
              <a:solidFill>
                <a:schemeClr val="lt1"/>
              </a:solidFill>
            </a:endParaRPr>
          </a:p>
          <a:p>
            <a:pPr marL="457200" lvl="0" indent="-355600" algn="l" rtl="0">
              <a:lnSpc>
                <a:spcPct val="115000"/>
              </a:lnSpc>
              <a:spcBef>
                <a:spcPts val="1000"/>
              </a:spcBef>
              <a:spcAft>
                <a:spcPts val="0"/>
              </a:spcAft>
              <a:buClr>
                <a:schemeClr val="lt1"/>
              </a:buClr>
              <a:buSzPts val="2000"/>
              <a:buAutoNum type="arabicPeriod"/>
            </a:pPr>
            <a:r>
              <a:rPr lang="en-US" sz="2000" dirty="0">
                <a:solidFill>
                  <a:schemeClr val="lt1"/>
                </a:solidFill>
              </a:rPr>
              <a:t>A Secure Completer sets up </a:t>
            </a:r>
            <a:r>
              <a:rPr lang="en-US" sz="2000" b="1" dirty="0">
                <a:solidFill>
                  <a:schemeClr val="lt1"/>
                </a:solidFill>
              </a:rPr>
              <a:t>metadata</a:t>
            </a:r>
            <a:r>
              <a:rPr lang="en-US" sz="2000" dirty="0">
                <a:solidFill>
                  <a:schemeClr val="lt1"/>
                </a:solidFill>
              </a:rPr>
              <a:t> (64-bit field with: Algorithm, Side-Channel Protection Level, Key Type, Access / Usage Policies) followed by the </a:t>
            </a:r>
            <a:r>
              <a:rPr lang="en-US" sz="2000" b="1" dirty="0">
                <a:solidFill>
                  <a:schemeClr val="lt1"/>
                </a:solidFill>
              </a:rPr>
              <a:t>key(s)</a:t>
            </a:r>
            <a:r>
              <a:rPr lang="en-US" sz="2000" dirty="0">
                <a:solidFill>
                  <a:schemeClr val="lt1"/>
                </a:solidFill>
              </a:rPr>
              <a:t> in memory at *X1.</a:t>
            </a:r>
          </a:p>
          <a:p>
            <a:pPr marL="457200" lvl="0" indent="-355600" algn="l" rtl="0">
              <a:lnSpc>
                <a:spcPct val="115000"/>
              </a:lnSpc>
              <a:spcBef>
                <a:spcPts val="1000"/>
              </a:spcBef>
              <a:spcAft>
                <a:spcPts val="0"/>
              </a:spcAft>
              <a:buClr>
                <a:schemeClr val="lt1"/>
              </a:buClr>
              <a:buSzPts val="2000"/>
              <a:buAutoNum type="arabicPeriod"/>
            </a:pPr>
            <a:r>
              <a:rPr lang="en-US" sz="2000" dirty="0">
                <a:solidFill>
                  <a:schemeClr val="lt1"/>
                </a:solidFill>
              </a:rPr>
              <a:t>Then,</a:t>
            </a:r>
            <a:r>
              <a:rPr lang="en-US" sz="2000" b="1" dirty="0">
                <a:solidFill>
                  <a:srgbClr val="FF0000"/>
                </a:solidFill>
              </a:rPr>
              <a:t> PROVISION K0,0(X1)</a:t>
            </a:r>
            <a:r>
              <a:rPr lang="en-US" sz="2000" dirty="0">
                <a:solidFill>
                  <a:schemeClr val="lt1"/>
                </a:solidFill>
              </a:rPr>
              <a:t>  configures CC K0 with the metadata and the keys.</a:t>
            </a:r>
            <a:endParaRPr sz="2000" dirty="0">
              <a:solidFill>
                <a:schemeClr val="lt1"/>
              </a:solidFill>
            </a:endParaRPr>
          </a:p>
          <a:p>
            <a:pPr marL="457200" lvl="0" indent="-355600" algn="l" rtl="0">
              <a:lnSpc>
                <a:spcPct val="115000"/>
              </a:lnSpc>
              <a:spcBef>
                <a:spcPts val="1000"/>
              </a:spcBef>
              <a:spcAft>
                <a:spcPts val="0"/>
              </a:spcAft>
              <a:buSzPts val="2000"/>
              <a:buAutoNum type="arabicPeriod"/>
            </a:pPr>
            <a:r>
              <a:rPr lang="en-US" sz="2000" dirty="0">
                <a:solidFill>
                  <a:schemeClr val="lt1"/>
                </a:solidFill>
              </a:rPr>
              <a:t>Completer uses </a:t>
            </a:r>
            <a:r>
              <a:rPr lang="en-US" sz="2000" b="1" dirty="0">
                <a:solidFill>
                  <a:srgbClr val="FF0000"/>
                </a:solidFill>
              </a:rPr>
              <a:t>EXPORT 0(X2),K0</a:t>
            </a:r>
            <a:r>
              <a:rPr lang="en-US" sz="2000" dirty="0">
                <a:solidFill>
                  <a:schemeClr val="lt1"/>
                </a:solidFill>
              </a:rPr>
              <a:t> to write the SCC to memory (at, say, *X2, shared buffer).</a:t>
            </a:r>
            <a:endParaRPr sz="2000" dirty="0">
              <a:solidFill>
                <a:schemeClr val="lt1"/>
              </a:solidFill>
            </a:endParaRPr>
          </a:p>
          <a:p>
            <a:pPr marL="457200" lvl="0" indent="-355600" algn="l" rtl="0">
              <a:lnSpc>
                <a:spcPct val="115000"/>
              </a:lnSpc>
              <a:spcBef>
                <a:spcPts val="1000"/>
              </a:spcBef>
              <a:spcAft>
                <a:spcPts val="0"/>
              </a:spcAft>
              <a:buSzPts val="2000"/>
              <a:buAutoNum type="arabicPeriod"/>
            </a:pPr>
            <a:r>
              <a:rPr lang="en-US" sz="2000" dirty="0">
                <a:solidFill>
                  <a:schemeClr val="lt1"/>
                </a:solidFill>
              </a:rPr>
              <a:t>The Requester can </a:t>
            </a:r>
            <a:r>
              <a:rPr lang="en-US" sz="2000" b="1" dirty="0">
                <a:solidFill>
                  <a:srgbClr val="FF0000"/>
                </a:solidFill>
              </a:rPr>
              <a:t>IMPORT</a:t>
            </a:r>
            <a:r>
              <a:rPr lang="en-US" sz="2000" i="1" dirty="0">
                <a:solidFill>
                  <a:schemeClr val="lt1"/>
                </a:solidFill>
              </a:rPr>
              <a:t> </a:t>
            </a:r>
            <a:r>
              <a:rPr lang="en-US" sz="2000" dirty="0">
                <a:solidFill>
                  <a:schemeClr val="lt1"/>
                </a:solidFill>
              </a:rPr>
              <a:t>it to the context number of choice.</a:t>
            </a:r>
            <a:endParaRPr sz="2000" dirty="0">
              <a:solidFill>
                <a:schemeClr val="lt1"/>
              </a:solidFill>
            </a:endParaRPr>
          </a:p>
          <a:p>
            <a:pPr marL="457200" lvl="0" indent="-355600" algn="l" rtl="0">
              <a:lnSpc>
                <a:spcPct val="115000"/>
              </a:lnSpc>
              <a:spcBef>
                <a:spcPts val="1000"/>
              </a:spcBef>
              <a:spcAft>
                <a:spcPts val="0"/>
              </a:spcAft>
              <a:buSzPts val="2000"/>
              <a:buAutoNum type="arabicPeriod"/>
            </a:pPr>
            <a:r>
              <a:rPr lang="en-US" sz="2000" dirty="0">
                <a:solidFill>
                  <a:schemeClr val="lt1"/>
                </a:solidFill>
              </a:rPr>
              <a:t>Requester now can use </a:t>
            </a:r>
            <a:r>
              <a:rPr lang="en-US" sz="2000" b="1" dirty="0" err="1">
                <a:solidFill>
                  <a:srgbClr val="FF0000"/>
                </a:solidFill>
              </a:rPr>
              <a:t>ace.exec</a:t>
            </a:r>
            <a:r>
              <a:rPr lang="en-US" sz="2000" dirty="0">
                <a:solidFill>
                  <a:schemeClr val="lt1"/>
                </a:solidFill>
              </a:rPr>
              <a:t> and </a:t>
            </a:r>
            <a:r>
              <a:rPr lang="en-US" sz="2000" b="1" dirty="0" err="1">
                <a:solidFill>
                  <a:srgbClr val="FF0000"/>
                </a:solidFill>
              </a:rPr>
              <a:t>ace.setst</a:t>
            </a:r>
            <a:r>
              <a:rPr lang="en-US" sz="2000" dirty="0">
                <a:solidFill>
                  <a:schemeClr val="lt1"/>
                </a:solidFill>
              </a:rPr>
              <a:t> to perform cryptography!</a:t>
            </a:r>
            <a:endParaRPr sz="2000" dirty="0">
              <a:solidFill>
                <a:schemeClr val="lt1"/>
              </a:solidFill>
            </a:endParaRPr>
          </a:p>
          <a:p>
            <a:pPr marL="0" lvl="0" indent="0" algn="l" rtl="0">
              <a:lnSpc>
                <a:spcPct val="115000"/>
              </a:lnSpc>
              <a:spcBef>
                <a:spcPts val="1000"/>
              </a:spcBef>
              <a:spcAft>
                <a:spcPts val="0"/>
              </a:spcAft>
              <a:buNone/>
            </a:pPr>
            <a:endParaRPr sz="2000" dirty="0">
              <a:solidFill>
                <a:schemeClr val="lt1"/>
              </a:solidFill>
            </a:endParaRPr>
          </a:p>
          <a:p>
            <a:pPr marL="0" lvl="0" indent="0" algn="l" rtl="0">
              <a:lnSpc>
                <a:spcPct val="115000"/>
              </a:lnSpc>
              <a:spcBef>
                <a:spcPts val="1000"/>
              </a:spcBef>
              <a:spcAft>
                <a:spcPts val="0"/>
              </a:spcAft>
              <a:buNone/>
            </a:pPr>
            <a:r>
              <a:rPr lang="en-US" sz="2000" dirty="0">
                <a:solidFill>
                  <a:schemeClr val="lt1"/>
                </a:solidFill>
              </a:rPr>
              <a:t>A process can also configure CCs for itself to reduce exposure of keys in the memory, or to take advantage of performance, share code with libraries that also use CCs provisioned from outside…</a:t>
            </a:r>
            <a:endParaRPr sz="2000" dirty="0">
              <a:solidFill>
                <a:schemeClr val="lt1"/>
              </a:solidFill>
            </a:endParaRPr>
          </a:p>
          <a:p>
            <a:pPr marL="0" lvl="0" indent="0" algn="l" rtl="0">
              <a:lnSpc>
                <a:spcPct val="115000"/>
              </a:lnSpc>
              <a:spcBef>
                <a:spcPts val="1000"/>
              </a:spcBef>
              <a:spcAft>
                <a:spcPts val="1000"/>
              </a:spcAft>
              <a:buNone/>
            </a:pPr>
            <a:endParaRPr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2"/>
          <p:cNvSpPr txBox="1">
            <a:spLocks noGrp="1"/>
          </p:cNvSpPr>
          <p:nvPr>
            <p:ph type="body" idx="1"/>
          </p:nvPr>
        </p:nvSpPr>
        <p:spPr>
          <a:xfrm>
            <a:off x="515925" y="1493525"/>
            <a:ext cx="11160000" cy="4944900"/>
          </a:xfrm>
          <a:prstGeom prst="rect">
            <a:avLst/>
          </a:prstGeom>
        </p:spPr>
        <p:txBody>
          <a:bodyPr spcFirstLastPara="1" wrap="square" lIns="0" tIns="0" rIns="0" bIns="0" anchor="t" anchorCtr="0">
            <a:noAutofit/>
          </a:bodyPr>
          <a:lstStyle/>
          <a:p>
            <a:pPr marL="457200" lvl="0" indent="-368300" algn="l" rtl="0">
              <a:lnSpc>
                <a:spcPct val="115000"/>
              </a:lnSpc>
              <a:spcBef>
                <a:spcPts val="0"/>
              </a:spcBef>
              <a:spcAft>
                <a:spcPts val="0"/>
              </a:spcAft>
              <a:buClr>
                <a:schemeClr val="lt1"/>
              </a:buClr>
              <a:buSzPts val="2200"/>
              <a:buChar char="•"/>
            </a:pPr>
            <a:r>
              <a:rPr lang="en-US" dirty="0">
                <a:solidFill>
                  <a:schemeClr val="lt1"/>
                </a:solidFill>
              </a:rPr>
              <a:t>Directly interfacing to external key providers</a:t>
            </a:r>
            <a:br>
              <a:rPr lang="en-US" dirty="0">
                <a:solidFill>
                  <a:schemeClr val="lt1"/>
                </a:solidFill>
              </a:rPr>
            </a:br>
            <a:r>
              <a:rPr lang="en-US" dirty="0">
                <a:solidFill>
                  <a:schemeClr val="lt1"/>
                </a:solidFill>
              </a:rPr>
              <a:t>	secure SW/HW can do it and deliver keys to us.</a:t>
            </a:r>
            <a:endParaRPr dirty="0">
              <a:solidFill>
                <a:schemeClr val="lt1"/>
              </a:solidFill>
            </a:endParaRPr>
          </a:p>
          <a:p>
            <a:pPr marL="457200" lvl="0" indent="-368300" algn="l" rtl="0">
              <a:lnSpc>
                <a:spcPct val="115000"/>
              </a:lnSpc>
              <a:spcBef>
                <a:spcPts val="1000"/>
              </a:spcBef>
              <a:spcAft>
                <a:spcPts val="0"/>
              </a:spcAft>
              <a:buClr>
                <a:schemeClr val="lt1"/>
              </a:buClr>
              <a:buSzPts val="2200"/>
              <a:buChar char="•"/>
            </a:pPr>
            <a:r>
              <a:rPr lang="en-US" dirty="0">
                <a:solidFill>
                  <a:schemeClr val="lt1"/>
                </a:solidFill>
              </a:rPr>
              <a:t>Revocation. This is a deliberate Non-goal.</a:t>
            </a:r>
            <a:endParaRPr b="1" dirty="0">
              <a:solidFill>
                <a:schemeClr val="lt1"/>
              </a:solidFill>
            </a:endParaRPr>
          </a:p>
          <a:p>
            <a:pPr marL="457200" lvl="0" indent="0" algn="l" rtl="0">
              <a:lnSpc>
                <a:spcPct val="115000"/>
              </a:lnSpc>
              <a:spcBef>
                <a:spcPts val="1000"/>
              </a:spcBef>
              <a:spcAft>
                <a:spcPts val="1000"/>
              </a:spcAft>
              <a:buNone/>
            </a:pPr>
            <a:endParaRPr b="1" dirty="0">
              <a:solidFill>
                <a:schemeClr val="lt1"/>
              </a:solidFill>
            </a:endParaRPr>
          </a:p>
        </p:txBody>
      </p:sp>
      <p:sp>
        <p:nvSpPr>
          <p:cNvPr id="130" name="Google Shape;130;p22"/>
          <p:cNvSpPr txBox="1">
            <a:spLocks noGrp="1"/>
          </p:cNvSpPr>
          <p:nvPr>
            <p:ph type="title"/>
          </p:nvPr>
        </p:nvSpPr>
        <p:spPr>
          <a:xfrm>
            <a:off x="515937" y="628015"/>
            <a:ext cx="11160000" cy="647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US">
                <a:solidFill>
                  <a:srgbClr val="000C3F"/>
                </a:solidFill>
              </a:rPr>
              <a:t>What we </a:t>
            </a:r>
            <a:r>
              <a:rPr lang="en-US" b="1">
                <a:solidFill>
                  <a:srgbClr val="000C3F"/>
                </a:solidFill>
              </a:rPr>
              <a:t>don’t</a:t>
            </a:r>
            <a:r>
              <a:rPr lang="en-US">
                <a:solidFill>
                  <a:srgbClr val="000C3F"/>
                </a:solidFill>
              </a:rPr>
              <a:t> (want to do)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134"/>
        <p:cNvGrpSpPr/>
        <p:nvPr/>
      </p:nvGrpSpPr>
      <p:grpSpPr>
        <a:xfrm>
          <a:off x="0" y="0"/>
          <a:ext cx="0" cy="0"/>
          <a:chOff x="0" y="0"/>
          <a:chExt cx="0" cy="0"/>
        </a:xfrm>
      </p:grpSpPr>
      <p:sp>
        <p:nvSpPr>
          <p:cNvPr id="135" name="Google Shape;135;p23"/>
          <p:cNvSpPr txBox="1">
            <a:spLocks noGrp="1"/>
          </p:cNvSpPr>
          <p:nvPr>
            <p:ph type="title"/>
          </p:nvPr>
        </p:nvSpPr>
        <p:spPr>
          <a:xfrm>
            <a:off x="505354" y="628015"/>
            <a:ext cx="11160000" cy="647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US"/>
              <a:t>Why revocation is a deliberate Non-goal (skip this slide first time)</a:t>
            </a:r>
            <a:endParaRPr/>
          </a:p>
        </p:txBody>
      </p:sp>
      <p:sp>
        <p:nvSpPr>
          <p:cNvPr id="136" name="Google Shape;136;p23"/>
          <p:cNvSpPr txBox="1">
            <a:spLocks noGrp="1"/>
          </p:cNvSpPr>
          <p:nvPr>
            <p:ph type="body" idx="1"/>
          </p:nvPr>
        </p:nvSpPr>
        <p:spPr>
          <a:xfrm>
            <a:off x="515937" y="1493519"/>
            <a:ext cx="11160000" cy="4672200"/>
          </a:xfrm>
          <a:prstGeom prst="rect">
            <a:avLst/>
          </a:prstGeom>
        </p:spPr>
        <p:txBody>
          <a:bodyPr spcFirstLastPara="1" wrap="square" lIns="0" tIns="0" rIns="0" bIns="0" anchor="t" anchorCtr="0">
            <a:normAutofit/>
          </a:bodyPr>
          <a:lstStyle/>
          <a:p>
            <a:pPr marL="457200" lvl="0" indent="-355600" algn="l" rtl="0">
              <a:lnSpc>
                <a:spcPct val="115000"/>
              </a:lnSpc>
              <a:spcBef>
                <a:spcPts val="0"/>
              </a:spcBef>
              <a:spcAft>
                <a:spcPts val="0"/>
              </a:spcAft>
              <a:buSzPts val="2000"/>
              <a:buChar char="•"/>
            </a:pPr>
            <a:r>
              <a:rPr lang="en-US" sz="2000"/>
              <a:t>It is a very complex feature.</a:t>
            </a:r>
            <a:endParaRPr sz="2000"/>
          </a:p>
          <a:p>
            <a:pPr marL="914400" lvl="1" indent="-355600" algn="l" rtl="0">
              <a:lnSpc>
                <a:spcPct val="115000"/>
              </a:lnSpc>
              <a:spcBef>
                <a:spcPts val="600"/>
              </a:spcBef>
              <a:spcAft>
                <a:spcPts val="0"/>
              </a:spcAft>
              <a:buSzPts val="2000"/>
              <a:buChar char="•"/>
            </a:pPr>
            <a:r>
              <a:rPr lang="en-US" sz="2000"/>
              <a:t>It may require unbounded structures</a:t>
            </a:r>
            <a:endParaRPr sz="2000"/>
          </a:p>
          <a:p>
            <a:pPr marL="914400" lvl="1" indent="-355600" algn="l" rtl="0">
              <a:lnSpc>
                <a:spcPct val="115000"/>
              </a:lnSpc>
              <a:spcBef>
                <a:spcPts val="600"/>
              </a:spcBef>
              <a:spcAft>
                <a:spcPts val="0"/>
              </a:spcAft>
              <a:buSzPts val="2000"/>
              <a:buChar char="•"/>
            </a:pPr>
            <a:r>
              <a:rPr lang="en-US" sz="2000"/>
              <a:t>Needs co-mgmt of secure memory with host stack.</a:t>
            </a:r>
            <a:endParaRPr sz="2000"/>
          </a:p>
          <a:p>
            <a:pPr marL="457200" lvl="0" indent="-355600" algn="l" rtl="0">
              <a:lnSpc>
                <a:spcPct val="115000"/>
              </a:lnSpc>
              <a:spcBef>
                <a:spcPts val="600"/>
              </a:spcBef>
              <a:spcAft>
                <a:spcPts val="0"/>
              </a:spcAft>
              <a:buSzPts val="2000"/>
              <a:buChar char="•"/>
            </a:pPr>
            <a:r>
              <a:rPr lang="en-US" sz="2000"/>
              <a:t>Also, user SW in the use cases that require revocation use derived (session) keys.</a:t>
            </a:r>
            <a:endParaRPr sz="2000"/>
          </a:p>
          <a:p>
            <a:pPr marL="914400" lvl="1" indent="-355600" algn="l" rtl="0">
              <a:lnSpc>
                <a:spcPct val="115000"/>
              </a:lnSpc>
              <a:spcBef>
                <a:spcPts val="600"/>
              </a:spcBef>
              <a:spcAft>
                <a:spcPts val="0"/>
              </a:spcAft>
              <a:buSzPts val="2000"/>
              <a:buChar char="•"/>
            </a:pPr>
            <a:r>
              <a:rPr lang="en-US" sz="2000"/>
              <a:t>But, in these protocols only root keys get revoked</a:t>
            </a:r>
            <a:endParaRPr sz="2000"/>
          </a:p>
          <a:p>
            <a:pPr marL="457200" lvl="0" indent="-355600" algn="l" rtl="0">
              <a:lnSpc>
                <a:spcPct val="115000"/>
              </a:lnSpc>
              <a:spcBef>
                <a:spcPts val="600"/>
              </a:spcBef>
              <a:spcAft>
                <a:spcPts val="0"/>
              </a:spcAft>
              <a:buSzPts val="2000"/>
              <a:buChar char="•"/>
            </a:pPr>
            <a:r>
              <a:rPr lang="en-US" sz="2000"/>
              <a:t>Need to check keys often.</a:t>
            </a:r>
            <a:endParaRPr sz="2000"/>
          </a:p>
          <a:p>
            <a:pPr marL="914400" lvl="1" indent="-355600" algn="l" rtl="0">
              <a:lnSpc>
                <a:spcPct val="115000"/>
              </a:lnSpc>
              <a:spcBef>
                <a:spcPts val="600"/>
              </a:spcBef>
              <a:spcAft>
                <a:spcPts val="0"/>
              </a:spcAft>
              <a:buSzPts val="2000"/>
              <a:buChar char="•"/>
            </a:pPr>
            <a:r>
              <a:rPr lang="en-US" sz="2000"/>
              <a:t>Overhead, and it may deteriorate over time.</a:t>
            </a:r>
            <a:endParaRPr sz="2000"/>
          </a:p>
          <a:p>
            <a:pPr marL="457200" lvl="0" indent="-355600" algn="l" rtl="0">
              <a:lnSpc>
                <a:spcPct val="115000"/>
              </a:lnSpc>
              <a:spcBef>
                <a:spcPts val="600"/>
              </a:spcBef>
              <a:spcAft>
                <a:spcPts val="600"/>
              </a:spcAft>
              <a:buSzPts val="2000"/>
              <a:buChar char="•"/>
            </a:pPr>
            <a:r>
              <a:rPr lang="en-US" sz="2000"/>
              <a:t>So, revocation logic should stay in the same reverse sandboxed environments (enclaves, realms, TZ) used for key delivery, and out of the ACE unit itself.</a:t>
            </a:r>
            <a:endParaRPr sz="2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4"/>
          <p:cNvSpPr txBox="1">
            <a:spLocks noGrp="1"/>
          </p:cNvSpPr>
          <p:nvPr>
            <p:ph type="title"/>
          </p:nvPr>
        </p:nvSpPr>
        <p:spPr>
          <a:xfrm>
            <a:off x="515937" y="628015"/>
            <a:ext cx="11160000" cy="647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US">
                <a:solidFill>
                  <a:schemeClr val="lt1"/>
                </a:solidFill>
              </a:rPr>
              <a:t>What we </a:t>
            </a:r>
            <a:r>
              <a:rPr lang="en-US" b="1">
                <a:solidFill>
                  <a:schemeClr val="lt1"/>
                </a:solidFill>
              </a:rPr>
              <a:t>don’t</a:t>
            </a:r>
            <a:r>
              <a:rPr lang="en-US">
                <a:solidFill>
                  <a:schemeClr val="lt1"/>
                </a:solidFill>
              </a:rPr>
              <a:t> (want to do): </a:t>
            </a:r>
            <a:r>
              <a:rPr lang="en-US"/>
              <a:t>Algorithm-specific instructions</a:t>
            </a:r>
            <a:endParaRPr/>
          </a:p>
        </p:txBody>
      </p:sp>
      <p:sp>
        <p:nvSpPr>
          <p:cNvPr id="142" name="Google Shape;142;p24"/>
          <p:cNvSpPr txBox="1">
            <a:spLocks noGrp="1"/>
          </p:cNvSpPr>
          <p:nvPr>
            <p:ph type="body" idx="1"/>
          </p:nvPr>
        </p:nvSpPr>
        <p:spPr>
          <a:xfrm>
            <a:off x="515925" y="1493525"/>
            <a:ext cx="11160000" cy="4629600"/>
          </a:xfrm>
          <a:prstGeom prst="rect">
            <a:avLst/>
          </a:prstGeom>
        </p:spPr>
        <p:txBody>
          <a:bodyPr spcFirstLastPara="1" wrap="square" lIns="0" tIns="0" rIns="0" bIns="0" anchor="t" anchorCtr="0">
            <a:normAutofit lnSpcReduction="10000"/>
          </a:bodyPr>
          <a:lstStyle/>
          <a:p>
            <a:pPr marL="0" lvl="0" indent="0" algn="l" rtl="0">
              <a:lnSpc>
                <a:spcPct val="115000"/>
              </a:lnSpc>
              <a:spcBef>
                <a:spcPts val="0"/>
              </a:spcBef>
              <a:spcAft>
                <a:spcPts val="0"/>
              </a:spcAft>
              <a:buNone/>
            </a:pPr>
            <a:r>
              <a:rPr lang="en-US" sz="2000"/>
              <a:t>The way of bad ISAs:</a:t>
            </a:r>
            <a:endParaRPr sz="2000"/>
          </a:p>
          <a:p>
            <a:pPr marL="457200" lvl="0" indent="-355600" algn="l" rtl="0">
              <a:lnSpc>
                <a:spcPct val="115000"/>
              </a:lnSpc>
              <a:spcBef>
                <a:spcPts val="1000"/>
              </a:spcBef>
              <a:spcAft>
                <a:spcPts val="0"/>
              </a:spcAft>
              <a:buSzPts val="2000"/>
              <a:buAutoNum type="arabicPeriod"/>
            </a:pPr>
            <a:r>
              <a:rPr lang="en-US" sz="2000"/>
              <a:t>Let us introduce a keybox and a one shot-AES instruction.</a:t>
            </a:r>
            <a:endParaRPr sz="2000">
              <a:solidFill>
                <a:schemeClr val="lt1"/>
              </a:solidFill>
            </a:endParaRPr>
          </a:p>
          <a:p>
            <a:pPr marL="457200" lvl="0" indent="-355600" algn="l" rtl="0">
              <a:lnSpc>
                <a:spcPct val="115000"/>
              </a:lnSpc>
              <a:spcBef>
                <a:spcPts val="1000"/>
              </a:spcBef>
              <a:spcAft>
                <a:spcPts val="0"/>
              </a:spcAft>
              <a:buClr>
                <a:schemeClr val="lt1"/>
              </a:buClr>
              <a:buSzPts val="2000"/>
              <a:buAutoNum type="arabicPeriod"/>
            </a:pPr>
            <a:r>
              <a:rPr lang="en-US" sz="2000">
                <a:solidFill>
                  <a:schemeClr val="lt1"/>
                </a:solidFill>
              </a:rPr>
              <a:t>Let us add caching of keyboxes!</a:t>
            </a:r>
            <a:endParaRPr sz="2000">
              <a:solidFill>
                <a:schemeClr val="lt1"/>
              </a:solidFill>
            </a:endParaRPr>
          </a:p>
          <a:p>
            <a:pPr marL="457200" lvl="0" indent="-355600" algn="l" rtl="0">
              <a:lnSpc>
                <a:spcPct val="115000"/>
              </a:lnSpc>
              <a:spcBef>
                <a:spcPts val="1000"/>
              </a:spcBef>
              <a:spcAft>
                <a:spcPts val="0"/>
              </a:spcAft>
              <a:buClr>
                <a:schemeClr val="lt1"/>
              </a:buClr>
              <a:buSzPts val="2000"/>
              <a:buAutoNum type="arabicPeriod"/>
            </a:pPr>
            <a:r>
              <a:rPr lang="en-US" sz="2000">
                <a:solidFill>
                  <a:schemeClr val="lt1"/>
                </a:solidFill>
              </a:rPr>
              <a:t>Let us add an AES-XEX instruction to avoid leaking the intermediate mask while computing AES-XTS and AES-OCB…</a:t>
            </a:r>
            <a:endParaRPr sz="2000">
              <a:solidFill>
                <a:schemeClr val="lt1"/>
              </a:solidFill>
            </a:endParaRPr>
          </a:p>
          <a:p>
            <a:pPr marL="457200" lvl="0" indent="-355600" algn="l" rtl="0">
              <a:lnSpc>
                <a:spcPct val="115000"/>
              </a:lnSpc>
              <a:spcBef>
                <a:spcPts val="1000"/>
              </a:spcBef>
              <a:spcAft>
                <a:spcPts val="0"/>
              </a:spcAft>
              <a:buClr>
                <a:schemeClr val="lt1"/>
              </a:buClr>
              <a:buSzPts val="2000"/>
              <a:buAutoNum type="arabicPeriod"/>
            </a:pPr>
            <a:r>
              <a:rPr lang="en-US" sz="2000">
                <a:solidFill>
                  <a:schemeClr val="lt1"/>
                </a:solidFill>
              </a:rPr>
              <a:t>Let us add an SM4 instruction.</a:t>
            </a:r>
            <a:endParaRPr sz="2000">
              <a:solidFill>
                <a:schemeClr val="lt1"/>
              </a:solidFill>
            </a:endParaRPr>
          </a:p>
          <a:p>
            <a:pPr marL="457200" lvl="0" indent="-355600" algn="l" rtl="0">
              <a:lnSpc>
                <a:spcPct val="115000"/>
              </a:lnSpc>
              <a:spcBef>
                <a:spcPts val="1000"/>
              </a:spcBef>
              <a:spcAft>
                <a:spcPts val="0"/>
              </a:spcAft>
              <a:buClr>
                <a:schemeClr val="lt1"/>
              </a:buClr>
              <a:buSzPts val="2000"/>
              <a:buAutoNum type="arabicPeriod"/>
            </a:pPr>
            <a:r>
              <a:rPr lang="en-US" sz="2000">
                <a:solidFill>
                  <a:schemeClr val="lt1"/>
                </a:solidFill>
              </a:rPr>
              <a:t>Let us add an SM4-XEX instruction.</a:t>
            </a:r>
            <a:endParaRPr sz="2000">
              <a:solidFill>
                <a:schemeClr val="lt1"/>
              </a:solidFill>
            </a:endParaRPr>
          </a:p>
          <a:p>
            <a:pPr marL="457200" lvl="0" indent="-355600" algn="l" rtl="0">
              <a:lnSpc>
                <a:spcPct val="115000"/>
              </a:lnSpc>
              <a:spcBef>
                <a:spcPts val="1000"/>
              </a:spcBef>
              <a:spcAft>
                <a:spcPts val="0"/>
              </a:spcAft>
              <a:buClr>
                <a:schemeClr val="lt1"/>
              </a:buClr>
              <a:buSzPts val="2000"/>
              <a:buAutoNum type="arabicPeriod"/>
            </a:pPr>
            <a:r>
              <a:rPr lang="en-US" sz="2000">
                <a:solidFill>
                  <a:schemeClr val="lt1"/>
                </a:solidFill>
              </a:rPr>
              <a:t>In the EU, the CRA is going to introduce several approved algorithms.</a:t>
            </a:r>
            <a:endParaRPr sz="2000">
              <a:solidFill>
                <a:schemeClr val="lt1"/>
              </a:solidFill>
            </a:endParaRPr>
          </a:p>
          <a:p>
            <a:pPr marL="457200" lvl="0" indent="-355600" algn="l" rtl="0">
              <a:lnSpc>
                <a:spcPct val="115000"/>
              </a:lnSpc>
              <a:spcBef>
                <a:spcPts val="1000"/>
              </a:spcBef>
              <a:spcAft>
                <a:spcPts val="0"/>
              </a:spcAft>
              <a:buClr>
                <a:schemeClr val="lt1"/>
              </a:buClr>
              <a:buSzPts val="2000"/>
              <a:buAutoNum type="arabicPeriod"/>
            </a:pPr>
            <a:r>
              <a:rPr lang="en-US" sz="2000">
                <a:solidFill>
                  <a:schemeClr val="lt1"/>
                </a:solidFill>
              </a:rPr>
              <a:t>…</a:t>
            </a:r>
            <a:endParaRPr sz="2000">
              <a:solidFill>
                <a:schemeClr val="lt1"/>
              </a:solidFill>
            </a:endParaRPr>
          </a:p>
          <a:p>
            <a:pPr marL="0" lvl="0" indent="0" algn="l" rtl="0">
              <a:lnSpc>
                <a:spcPct val="115000"/>
              </a:lnSpc>
              <a:spcBef>
                <a:spcPts val="1000"/>
              </a:spcBef>
              <a:spcAft>
                <a:spcPts val="1000"/>
              </a:spcAft>
              <a:buNone/>
            </a:pPr>
            <a:r>
              <a:rPr lang="en-US" sz="2000">
                <a:solidFill>
                  <a:schemeClr val="lt1"/>
                </a:solidFill>
              </a:rPr>
              <a:t>Instead, in ACE the algorithm is expressed by the CC, and the algorithms are discoverable.</a:t>
            </a:r>
            <a:endParaRPr sz="2000">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7"/>
          <p:cNvSpPr txBox="1">
            <a:spLocks noGrp="1"/>
          </p:cNvSpPr>
          <p:nvPr>
            <p:ph type="body" idx="1"/>
          </p:nvPr>
        </p:nvSpPr>
        <p:spPr>
          <a:xfrm>
            <a:off x="515937" y="1244185"/>
            <a:ext cx="11160000" cy="2111529"/>
          </a:xfrm>
          <a:prstGeom prst="rect">
            <a:avLst/>
          </a:prstGeom>
        </p:spPr>
        <p:txBody>
          <a:bodyPr spcFirstLastPara="1" wrap="square" lIns="0" tIns="0" rIns="0" bIns="0" anchor="t" anchorCtr="0">
            <a:normAutofit/>
          </a:bodyPr>
          <a:lstStyle/>
          <a:p>
            <a:pPr marL="0" lvl="0" indent="0" algn="l" rtl="0">
              <a:lnSpc>
                <a:spcPct val="115000"/>
              </a:lnSpc>
              <a:spcBef>
                <a:spcPts val="0"/>
              </a:spcBef>
              <a:spcAft>
                <a:spcPts val="0"/>
              </a:spcAft>
              <a:buNone/>
            </a:pPr>
            <a:r>
              <a:rPr lang="en-US" dirty="0">
                <a:solidFill>
                  <a:srgbClr val="FF0000"/>
                </a:solidFill>
              </a:rPr>
              <a:t>The </a:t>
            </a:r>
            <a:r>
              <a:rPr lang="en-US" b="1" dirty="0">
                <a:solidFill>
                  <a:srgbClr val="FF0000"/>
                </a:solidFill>
              </a:rPr>
              <a:t>metadata</a:t>
            </a:r>
            <a:r>
              <a:rPr lang="en-US" dirty="0">
                <a:solidFill>
                  <a:srgbClr val="FF0000"/>
                </a:solidFill>
              </a:rPr>
              <a:t> in a CC</a:t>
            </a:r>
            <a:endParaRPr dirty="0">
              <a:solidFill>
                <a:srgbClr val="FF0000"/>
              </a:solidFill>
            </a:endParaRPr>
          </a:p>
          <a:p>
            <a:pPr marL="914400" lvl="1" indent="-355600" algn="l" rtl="0">
              <a:lnSpc>
                <a:spcPct val="115000"/>
              </a:lnSpc>
              <a:spcBef>
                <a:spcPts val="1000"/>
              </a:spcBef>
              <a:spcAft>
                <a:spcPts val="0"/>
              </a:spcAft>
              <a:buClr>
                <a:schemeClr val="lt1"/>
              </a:buClr>
              <a:buSzPts val="2000"/>
              <a:buChar char="•"/>
            </a:pPr>
            <a:r>
              <a:rPr lang="en-US" sz="2000" dirty="0">
                <a:solidFill>
                  <a:schemeClr val="lt1"/>
                </a:solidFill>
              </a:rPr>
              <a:t>Selects a </a:t>
            </a:r>
            <a:r>
              <a:rPr lang="en-US" sz="2000" i="1" dirty="0">
                <a:solidFill>
                  <a:schemeClr val="lt1"/>
                </a:solidFill>
              </a:rPr>
              <a:t>specific</a:t>
            </a:r>
            <a:r>
              <a:rPr lang="en-US" sz="2000" dirty="0">
                <a:solidFill>
                  <a:schemeClr val="lt1"/>
                </a:solidFill>
              </a:rPr>
              <a:t> algorithm, e.g. AES and some modes (ECB, XEX, GCM, GCM-SIV).</a:t>
            </a:r>
            <a:endParaRPr sz="2000" dirty="0">
              <a:solidFill>
                <a:schemeClr val="lt1"/>
              </a:solidFill>
            </a:endParaRPr>
          </a:p>
          <a:p>
            <a:pPr marL="914400" lvl="1" indent="-355600" algn="l" rtl="0">
              <a:lnSpc>
                <a:spcPct val="115000"/>
              </a:lnSpc>
              <a:spcBef>
                <a:spcPts val="1000"/>
              </a:spcBef>
              <a:spcAft>
                <a:spcPts val="0"/>
              </a:spcAft>
              <a:buClr>
                <a:schemeClr val="lt1"/>
              </a:buClr>
              <a:buSzPts val="2000"/>
              <a:buChar char="•"/>
            </a:pPr>
            <a:r>
              <a:rPr lang="en-US" sz="2000" dirty="0">
                <a:solidFill>
                  <a:schemeClr val="lt1"/>
                </a:solidFill>
              </a:rPr>
              <a:t>Can limit a confidentiality algorithm to only encryption or decryption.</a:t>
            </a:r>
            <a:endParaRPr sz="2000" dirty="0">
              <a:solidFill>
                <a:schemeClr val="lt1"/>
              </a:solidFill>
            </a:endParaRPr>
          </a:p>
          <a:p>
            <a:pPr marL="914400" lvl="1" indent="-355600" algn="l" rtl="0">
              <a:lnSpc>
                <a:spcPct val="115000"/>
              </a:lnSpc>
              <a:spcBef>
                <a:spcPts val="1000"/>
              </a:spcBef>
              <a:spcAft>
                <a:spcPts val="0"/>
              </a:spcAft>
              <a:buClr>
                <a:schemeClr val="lt1"/>
              </a:buClr>
              <a:buSzPts val="2000"/>
              <a:buChar char="•"/>
            </a:pPr>
            <a:r>
              <a:rPr lang="en-US" sz="2000" dirty="0">
                <a:solidFill>
                  <a:schemeClr val="lt1"/>
                </a:solidFill>
              </a:rPr>
              <a:t>Limits which process / EL / VM / Device / Boot Cycle can use the keys.</a:t>
            </a:r>
            <a:endParaRPr sz="2000" dirty="0">
              <a:solidFill>
                <a:schemeClr val="lt1"/>
              </a:solidFill>
            </a:endParaRPr>
          </a:p>
          <a:p>
            <a:pPr marL="0" lvl="0" indent="0" algn="l" rtl="0">
              <a:lnSpc>
                <a:spcPct val="115000"/>
              </a:lnSpc>
              <a:spcBef>
                <a:spcPts val="1000"/>
              </a:spcBef>
              <a:spcAft>
                <a:spcPts val="1000"/>
              </a:spcAft>
              <a:buNone/>
            </a:pPr>
            <a:endParaRPr sz="2000" dirty="0">
              <a:solidFill>
                <a:schemeClr val="lt1"/>
              </a:solidFill>
            </a:endParaRPr>
          </a:p>
        </p:txBody>
      </p:sp>
      <p:sp>
        <p:nvSpPr>
          <p:cNvPr id="98" name="Google Shape;98;p17"/>
          <p:cNvSpPr txBox="1">
            <a:spLocks noGrp="1"/>
          </p:cNvSpPr>
          <p:nvPr>
            <p:ph type="title"/>
          </p:nvPr>
        </p:nvSpPr>
        <p:spPr>
          <a:xfrm>
            <a:off x="515937" y="628015"/>
            <a:ext cx="11160000" cy="647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US"/>
              <a:t>Metadata</a:t>
            </a:r>
            <a:endParaRPr/>
          </a:p>
        </p:txBody>
      </p:sp>
      <p:sp>
        <p:nvSpPr>
          <p:cNvPr id="2" name="Google Shape;98;p17">
            <a:extLst>
              <a:ext uri="{FF2B5EF4-FFF2-40B4-BE49-F238E27FC236}">
                <a16:creationId xmlns:a16="http://schemas.microsoft.com/office/drawing/2014/main" id="{AA381A1F-8111-8F93-45EA-210EA1A73AE5}"/>
              </a:ext>
            </a:extLst>
          </p:cNvPr>
          <p:cNvSpPr txBox="1">
            <a:spLocks/>
          </p:cNvSpPr>
          <p:nvPr/>
        </p:nvSpPr>
        <p:spPr>
          <a:xfrm>
            <a:off x="515937" y="3670757"/>
            <a:ext cx="11160000" cy="647700"/>
          </a:xfrm>
          <a:prstGeom prst="rect">
            <a:avLst/>
          </a:prstGeom>
          <a:noFill/>
          <a:ln>
            <a:noFill/>
          </a:ln>
        </p:spPr>
        <p:txBody>
          <a:bodyPr spcFirstLastPara="1" wrap="square" lIns="0" tIns="0" rIns="0" bIns="0" anchor="t" anchorCtr="0">
            <a:normAutofit/>
          </a:bodyPr>
          <a:lstStyle>
            <a:defPPr marR="0" lvl="0" algn="l" rtl="0">
              <a:lnSpc>
                <a:spcPct val="100000"/>
              </a:lnSpc>
              <a:spcBef>
                <a:spcPts val="0"/>
              </a:spcBef>
              <a:spcAft>
                <a:spcPts val="0"/>
              </a:spcAft>
            </a:defPPr>
            <a:lvl1pPr marR="0" lvl="0" algn="l" rtl="0">
              <a:lnSpc>
                <a:spcPct val="84000"/>
              </a:lnSpc>
              <a:spcBef>
                <a:spcPts val="0"/>
              </a:spcBef>
              <a:spcAft>
                <a:spcPts val="0"/>
              </a:spcAft>
              <a:buClr>
                <a:schemeClr val="accent2"/>
              </a:buClr>
              <a:buSzPts val="1800"/>
              <a:buFont typeface="Arial"/>
              <a:buNone/>
              <a:defRPr sz="2800" b="0" i="0" u="none" strike="noStrike" cap="none">
                <a:solidFill>
                  <a:schemeClr val="accent2"/>
                </a:solidFill>
                <a:latin typeface="Arial"/>
                <a:ea typeface="Arial"/>
                <a:cs typeface="Arial"/>
                <a:sym typeface="Arial"/>
              </a:defRPr>
            </a:lvl1pPr>
            <a:lvl2pPr marR="0" lvl="1" algn="l" rtl="0">
              <a:lnSpc>
                <a:spcPct val="84000"/>
              </a:lnSpc>
              <a:spcBef>
                <a:spcPts val="0"/>
              </a:spcBef>
              <a:spcAft>
                <a:spcPts val="0"/>
              </a:spcAft>
              <a:buClr>
                <a:schemeClr val="accent2"/>
              </a:buClr>
              <a:buSzPts val="1800"/>
              <a:buFont typeface="Play"/>
              <a:buNone/>
              <a:defRPr sz="2800" b="0" i="0" u="none" strike="noStrike" cap="none">
                <a:solidFill>
                  <a:schemeClr val="accent2"/>
                </a:solidFill>
                <a:latin typeface="Play"/>
                <a:ea typeface="Play"/>
                <a:cs typeface="Play"/>
                <a:sym typeface="Play"/>
              </a:defRPr>
            </a:lvl2pPr>
            <a:lvl3pPr marR="0" lvl="2" algn="l" rtl="0">
              <a:lnSpc>
                <a:spcPct val="84000"/>
              </a:lnSpc>
              <a:spcBef>
                <a:spcPts val="0"/>
              </a:spcBef>
              <a:spcAft>
                <a:spcPts val="0"/>
              </a:spcAft>
              <a:buClr>
                <a:schemeClr val="accent2"/>
              </a:buClr>
              <a:buSzPts val="1800"/>
              <a:buFont typeface="Play"/>
              <a:buNone/>
              <a:defRPr sz="2800" b="0" i="0" u="none" strike="noStrike" cap="none">
                <a:solidFill>
                  <a:schemeClr val="accent2"/>
                </a:solidFill>
                <a:latin typeface="Play"/>
                <a:ea typeface="Play"/>
                <a:cs typeface="Play"/>
                <a:sym typeface="Play"/>
              </a:defRPr>
            </a:lvl3pPr>
            <a:lvl4pPr marR="0" lvl="3" algn="l" rtl="0">
              <a:lnSpc>
                <a:spcPct val="84000"/>
              </a:lnSpc>
              <a:spcBef>
                <a:spcPts val="0"/>
              </a:spcBef>
              <a:spcAft>
                <a:spcPts val="0"/>
              </a:spcAft>
              <a:buClr>
                <a:schemeClr val="accent2"/>
              </a:buClr>
              <a:buSzPts val="1800"/>
              <a:buFont typeface="Play"/>
              <a:buNone/>
              <a:defRPr sz="2800" b="0" i="0" u="none" strike="noStrike" cap="none">
                <a:solidFill>
                  <a:schemeClr val="accent2"/>
                </a:solidFill>
                <a:latin typeface="Play"/>
                <a:ea typeface="Play"/>
                <a:cs typeface="Play"/>
                <a:sym typeface="Play"/>
              </a:defRPr>
            </a:lvl4pPr>
            <a:lvl5pPr marR="0" lvl="4" algn="l" rtl="0">
              <a:lnSpc>
                <a:spcPct val="84000"/>
              </a:lnSpc>
              <a:spcBef>
                <a:spcPts val="0"/>
              </a:spcBef>
              <a:spcAft>
                <a:spcPts val="0"/>
              </a:spcAft>
              <a:buClr>
                <a:schemeClr val="accent2"/>
              </a:buClr>
              <a:buSzPts val="1800"/>
              <a:buFont typeface="Play"/>
              <a:buNone/>
              <a:defRPr sz="2800" b="0" i="0" u="none" strike="noStrike" cap="none">
                <a:solidFill>
                  <a:schemeClr val="accent2"/>
                </a:solidFill>
                <a:latin typeface="Play"/>
                <a:ea typeface="Play"/>
                <a:cs typeface="Play"/>
                <a:sym typeface="Play"/>
              </a:defRPr>
            </a:lvl5pPr>
            <a:lvl6pPr marR="0" lvl="5" algn="l" rtl="0">
              <a:lnSpc>
                <a:spcPct val="84000"/>
              </a:lnSpc>
              <a:spcBef>
                <a:spcPts val="0"/>
              </a:spcBef>
              <a:spcAft>
                <a:spcPts val="0"/>
              </a:spcAft>
              <a:buClr>
                <a:schemeClr val="accent2"/>
              </a:buClr>
              <a:buSzPts val="1800"/>
              <a:buFont typeface="Play"/>
              <a:buNone/>
              <a:defRPr sz="2800" b="0" i="0" u="none" strike="noStrike" cap="none">
                <a:solidFill>
                  <a:schemeClr val="accent2"/>
                </a:solidFill>
                <a:latin typeface="Play"/>
                <a:ea typeface="Play"/>
                <a:cs typeface="Play"/>
                <a:sym typeface="Play"/>
              </a:defRPr>
            </a:lvl6pPr>
            <a:lvl7pPr marR="0" lvl="6" algn="l" rtl="0">
              <a:lnSpc>
                <a:spcPct val="84000"/>
              </a:lnSpc>
              <a:spcBef>
                <a:spcPts val="0"/>
              </a:spcBef>
              <a:spcAft>
                <a:spcPts val="0"/>
              </a:spcAft>
              <a:buClr>
                <a:schemeClr val="accent2"/>
              </a:buClr>
              <a:buSzPts val="1800"/>
              <a:buFont typeface="Play"/>
              <a:buNone/>
              <a:defRPr sz="2800" b="0" i="0" u="none" strike="noStrike" cap="none">
                <a:solidFill>
                  <a:schemeClr val="accent2"/>
                </a:solidFill>
                <a:latin typeface="Play"/>
                <a:ea typeface="Play"/>
                <a:cs typeface="Play"/>
                <a:sym typeface="Play"/>
              </a:defRPr>
            </a:lvl7pPr>
            <a:lvl8pPr marR="0" lvl="7" algn="l" rtl="0">
              <a:lnSpc>
                <a:spcPct val="84000"/>
              </a:lnSpc>
              <a:spcBef>
                <a:spcPts val="0"/>
              </a:spcBef>
              <a:spcAft>
                <a:spcPts val="0"/>
              </a:spcAft>
              <a:buClr>
                <a:schemeClr val="accent2"/>
              </a:buClr>
              <a:buSzPts val="1800"/>
              <a:buFont typeface="Play"/>
              <a:buNone/>
              <a:defRPr sz="2800" b="0" i="0" u="none" strike="noStrike" cap="none">
                <a:solidFill>
                  <a:schemeClr val="accent2"/>
                </a:solidFill>
                <a:latin typeface="Play"/>
                <a:ea typeface="Play"/>
                <a:cs typeface="Play"/>
                <a:sym typeface="Play"/>
              </a:defRPr>
            </a:lvl8pPr>
            <a:lvl9pPr marR="0" lvl="8" algn="l" rtl="0">
              <a:lnSpc>
                <a:spcPct val="84000"/>
              </a:lnSpc>
              <a:spcBef>
                <a:spcPts val="0"/>
              </a:spcBef>
              <a:spcAft>
                <a:spcPts val="0"/>
              </a:spcAft>
              <a:buClr>
                <a:schemeClr val="accent2"/>
              </a:buClr>
              <a:buSzPts val="1800"/>
              <a:buFont typeface="Play"/>
              <a:buNone/>
              <a:defRPr sz="2800" b="0" i="0" u="none" strike="noStrike" cap="none">
                <a:solidFill>
                  <a:schemeClr val="accent2"/>
                </a:solidFill>
                <a:latin typeface="Play"/>
                <a:ea typeface="Play"/>
                <a:cs typeface="Play"/>
                <a:sym typeface="Play"/>
              </a:defRPr>
            </a:lvl9pPr>
          </a:lstStyle>
          <a:p>
            <a:r>
              <a:rPr lang="en-US" dirty="0"/>
              <a:t>State embedded in CC (CR inside ACE unit; SCC in memory)</a:t>
            </a:r>
          </a:p>
        </p:txBody>
      </p:sp>
      <p:sp>
        <p:nvSpPr>
          <p:cNvPr id="3" name="Google Shape;97;p17">
            <a:extLst>
              <a:ext uri="{FF2B5EF4-FFF2-40B4-BE49-F238E27FC236}">
                <a16:creationId xmlns:a16="http://schemas.microsoft.com/office/drawing/2014/main" id="{663451EC-E451-E75C-C828-4C457A905770}"/>
              </a:ext>
            </a:extLst>
          </p:cNvPr>
          <p:cNvSpPr txBox="1">
            <a:spLocks/>
          </p:cNvSpPr>
          <p:nvPr/>
        </p:nvSpPr>
        <p:spPr>
          <a:xfrm>
            <a:off x="515937" y="4276106"/>
            <a:ext cx="11160000" cy="2111529"/>
          </a:xfrm>
          <a:prstGeom prst="rect">
            <a:avLst/>
          </a:prstGeom>
          <a:noFill/>
          <a:ln>
            <a:noFill/>
          </a:ln>
        </p:spPr>
        <p:txBody>
          <a:bodyPr spcFirstLastPara="1" wrap="square" lIns="0" tIns="0" rIns="0" bIns="0" anchor="t" anchorCtr="0">
            <a:normAutofit/>
          </a:bodyPr>
          <a:lstStyle>
            <a:defPPr marR="0" lvl="0" algn="l" rtl="0">
              <a:lnSpc>
                <a:spcPct val="100000"/>
              </a:lnSpc>
              <a:spcBef>
                <a:spcPts val="0"/>
              </a:spcBef>
              <a:spcAft>
                <a:spcPts val="0"/>
              </a:spcAft>
            </a:defPPr>
            <a:lvl1pPr marL="457200" marR="0" lvl="0" indent="-342900" algn="l" rtl="0">
              <a:lnSpc>
                <a:spcPct val="95000"/>
              </a:lnSpc>
              <a:spcBef>
                <a:spcPts val="900"/>
              </a:spcBef>
              <a:spcAft>
                <a:spcPts val="0"/>
              </a:spcAft>
              <a:buClr>
                <a:schemeClr val="accent2"/>
              </a:buClr>
              <a:buSzPts val="1800"/>
              <a:buFont typeface="Arial"/>
              <a:buChar char="•"/>
              <a:defRPr sz="2200" b="0" i="0" u="none" strike="noStrike" cap="none">
                <a:solidFill>
                  <a:schemeClr val="accent2"/>
                </a:solidFill>
                <a:latin typeface="Arial"/>
                <a:ea typeface="Arial"/>
                <a:cs typeface="Arial"/>
                <a:sym typeface="Arial"/>
              </a:defRPr>
            </a:lvl1pPr>
            <a:lvl2pPr marL="914400" marR="0" lvl="1" indent="-342900" algn="l" rtl="0">
              <a:lnSpc>
                <a:spcPct val="95000"/>
              </a:lnSpc>
              <a:spcBef>
                <a:spcPts val="900"/>
              </a:spcBef>
              <a:spcAft>
                <a:spcPts val="0"/>
              </a:spcAft>
              <a:buClr>
                <a:schemeClr val="accent2"/>
              </a:buClr>
              <a:buSzPts val="1800"/>
              <a:buFont typeface="Arial"/>
              <a:buChar char="•"/>
              <a:defRPr sz="2200" b="0" i="0" u="none" strike="noStrike" cap="none">
                <a:solidFill>
                  <a:schemeClr val="accent2"/>
                </a:solidFill>
                <a:latin typeface="Arial"/>
                <a:ea typeface="Arial"/>
                <a:cs typeface="Arial"/>
                <a:sym typeface="Arial"/>
              </a:defRPr>
            </a:lvl2pPr>
            <a:lvl3pPr marL="1371600" marR="0" lvl="2" indent="-342900" algn="l" rtl="0">
              <a:lnSpc>
                <a:spcPct val="95000"/>
              </a:lnSpc>
              <a:spcBef>
                <a:spcPts val="900"/>
              </a:spcBef>
              <a:spcAft>
                <a:spcPts val="0"/>
              </a:spcAft>
              <a:buClr>
                <a:schemeClr val="accent2"/>
              </a:buClr>
              <a:buSzPts val="1800"/>
              <a:buFont typeface="Arial"/>
              <a:buChar char="•"/>
              <a:defRPr sz="2200" b="0" i="0" u="none" strike="noStrike" cap="none">
                <a:solidFill>
                  <a:schemeClr val="accent2"/>
                </a:solidFill>
                <a:latin typeface="Arial"/>
                <a:ea typeface="Arial"/>
                <a:cs typeface="Arial"/>
                <a:sym typeface="Arial"/>
              </a:defRPr>
            </a:lvl3pPr>
            <a:lvl4pPr marL="1828800" marR="0" lvl="3" indent="-342900" algn="l" rtl="0">
              <a:lnSpc>
                <a:spcPct val="95000"/>
              </a:lnSpc>
              <a:spcBef>
                <a:spcPts val="900"/>
              </a:spcBef>
              <a:spcAft>
                <a:spcPts val="0"/>
              </a:spcAft>
              <a:buClr>
                <a:schemeClr val="accent2"/>
              </a:buClr>
              <a:buSzPts val="1800"/>
              <a:buFont typeface="Arial"/>
              <a:buChar char="•"/>
              <a:defRPr sz="2200" b="0" i="0" u="none" strike="noStrike" cap="none">
                <a:solidFill>
                  <a:schemeClr val="accent2"/>
                </a:solidFill>
                <a:latin typeface="Arial"/>
                <a:ea typeface="Arial"/>
                <a:cs typeface="Arial"/>
                <a:sym typeface="Arial"/>
              </a:defRPr>
            </a:lvl4pPr>
            <a:lvl5pPr marL="2286000" marR="0" lvl="4" indent="-342900" algn="l" rtl="0">
              <a:lnSpc>
                <a:spcPct val="95000"/>
              </a:lnSpc>
              <a:spcBef>
                <a:spcPts val="900"/>
              </a:spcBef>
              <a:spcAft>
                <a:spcPts val="0"/>
              </a:spcAft>
              <a:buClr>
                <a:schemeClr val="accent2"/>
              </a:buClr>
              <a:buSzPts val="1800"/>
              <a:buFont typeface="Arial"/>
              <a:buChar char="•"/>
              <a:defRPr sz="2200" b="0" i="0" u="none" strike="noStrike" cap="none">
                <a:solidFill>
                  <a:schemeClr val="accent2"/>
                </a:solidFill>
                <a:latin typeface="Arial"/>
                <a:ea typeface="Arial"/>
                <a:cs typeface="Arial"/>
                <a:sym typeface="Arial"/>
              </a:defRPr>
            </a:lvl5pPr>
            <a:lvl6pPr marL="2743200" marR="0" lvl="5" indent="-342900" algn="l" rtl="0">
              <a:lnSpc>
                <a:spcPct val="95000"/>
              </a:lnSpc>
              <a:spcBef>
                <a:spcPts val="900"/>
              </a:spcBef>
              <a:spcAft>
                <a:spcPts val="0"/>
              </a:spcAft>
              <a:buClr>
                <a:schemeClr val="accent2"/>
              </a:buClr>
              <a:buSzPts val="1800"/>
              <a:buFont typeface="Arial"/>
              <a:buChar char="•"/>
              <a:defRPr sz="2200" b="0" i="0" u="none" strike="noStrike" cap="none">
                <a:solidFill>
                  <a:schemeClr val="accent2"/>
                </a:solidFill>
                <a:latin typeface="Arial"/>
                <a:ea typeface="Arial"/>
                <a:cs typeface="Arial"/>
                <a:sym typeface="Arial"/>
              </a:defRPr>
            </a:lvl6pPr>
            <a:lvl7pPr marL="3200400" marR="0" lvl="6" indent="-342900" algn="l" rtl="0">
              <a:lnSpc>
                <a:spcPct val="95000"/>
              </a:lnSpc>
              <a:spcBef>
                <a:spcPts val="900"/>
              </a:spcBef>
              <a:spcAft>
                <a:spcPts val="0"/>
              </a:spcAft>
              <a:buClr>
                <a:schemeClr val="accent2"/>
              </a:buClr>
              <a:buSzPts val="1800"/>
              <a:buFont typeface="Arial"/>
              <a:buChar char="•"/>
              <a:defRPr sz="2200" b="0" i="0" u="none" strike="noStrike" cap="none">
                <a:solidFill>
                  <a:schemeClr val="accent2"/>
                </a:solidFill>
                <a:latin typeface="Arial"/>
                <a:ea typeface="Arial"/>
                <a:cs typeface="Arial"/>
                <a:sym typeface="Arial"/>
              </a:defRPr>
            </a:lvl7pPr>
            <a:lvl8pPr marL="3657600" marR="0" lvl="7" indent="-342900" algn="l" rtl="0">
              <a:lnSpc>
                <a:spcPct val="95000"/>
              </a:lnSpc>
              <a:spcBef>
                <a:spcPts val="900"/>
              </a:spcBef>
              <a:spcAft>
                <a:spcPts val="0"/>
              </a:spcAft>
              <a:buClr>
                <a:schemeClr val="accent2"/>
              </a:buClr>
              <a:buSzPts val="1800"/>
              <a:buFont typeface="Arial"/>
              <a:buChar char="•"/>
              <a:defRPr sz="2200" b="0" i="0" u="none" strike="noStrike" cap="none">
                <a:solidFill>
                  <a:schemeClr val="accent2"/>
                </a:solidFill>
                <a:latin typeface="Arial"/>
                <a:ea typeface="Arial"/>
                <a:cs typeface="Arial"/>
                <a:sym typeface="Arial"/>
              </a:defRPr>
            </a:lvl8pPr>
            <a:lvl9pPr marL="4114800" marR="0" lvl="8" indent="-342900" algn="l" rtl="0">
              <a:lnSpc>
                <a:spcPct val="95000"/>
              </a:lnSpc>
              <a:spcBef>
                <a:spcPts val="900"/>
              </a:spcBef>
              <a:spcAft>
                <a:spcPts val="0"/>
              </a:spcAft>
              <a:buClr>
                <a:schemeClr val="accent2"/>
              </a:buClr>
              <a:buSzPts val="1800"/>
              <a:buFont typeface="Arial"/>
              <a:buChar char="•"/>
              <a:defRPr sz="2200" b="0" i="0" u="none" strike="noStrike" cap="none">
                <a:solidFill>
                  <a:schemeClr val="accent2"/>
                </a:solidFill>
                <a:latin typeface="Arial"/>
                <a:ea typeface="Arial"/>
                <a:cs typeface="Arial"/>
                <a:sym typeface="Arial"/>
              </a:defRPr>
            </a:lvl9pPr>
          </a:lstStyle>
          <a:p>
            <a:pPr marL="0" indent="0">
              <a:lnSpc>
                <a:spcPct val="115000"/>
              </a:lnSpc>
              <a:spcBef>
                <a:spcPts val="0"/>
              </a:spcBef>
              <a:buFont typeface="Arial"/>
              <a:buNone/>
            </a:pPr>
            <a:r>
              <a:rPr lang="en-US" dirty="0">
                <a:solidFill>
                  <a:srgbClr val="FF0000"/>
                </a:solidFill>
              </a:rPr>
              <a:t>The </a:t>
            </a:r>
            <a:r>
              <a:rPr lang="en-US" b="1" dirty="0">
                <a:solidFill>
                  <a:srgbClr val="FF0000"/>
                </a:solidFill>
              </a:rPr>
              <a:t>rules</a:t>
            </a:r>
            <a:r>
              <a:rPr lang="en-US" dirty="0">
                <a:solidFill>
                  <a:srgbClr val="FF0000"/>
                </a:solidFill>
              </a:rPr>
              <a:t> of the </a:t>
            </a:r>
            <a:r>
              <a:rPr lang="en-US" b="1" dirty="0">
                <a:solidFill>
                  <a:srgbClr val="FF0000"/>
                </a:solidFill>
              </a:rPr>
              <a:t>architecture</a:t>
            </a:r>
            <a:r>
              <a:rPr lang="en-US" dirty="0">
                <a:solidFill>
                  <a:srgbClr val="FF0000"/>
                </a:solidFill>
              </a:rPr>
              <a:t> and of the </a:t>
            </a:r>
            <a:r>
              <a:rPr lang="en-US" b="1" dirty="0">
                <a:solidFill>
                  <a:srgbClr val="FF0000"/>
                </a:solidFill>
              </a:rPr>
              <a:t>algorithm</a:t>
            </a:r>
            <a:r>
              <a:rPr lang="en-US" dirty="0">
                <a:solidFill>
                  <a:srgbClr val="FF0000"/>
                </a:solidFill>
              </a:rPr>
              <a:t> in a CC</a:t>
            </a:r>
          </a:p>
          <a:p>
            <a:pPr lvl="1" indent="-355600">
              <a:lnSpc>
                <a:spcPct val="115000"/>
              </a:lnSpc>
              <a:spcBef>
                <a:spcPts val="1000"/>
              </a:spcBef>
              <a:buClr>
                <a:schemeClr val="lt1"/>
              </a:buClr>
              <a:buSzPts val="2000"/>
            </a:pPr>
            <a:r>
              <a:rPr lang="en-US" sz="2000" dirty="0">
                <a:solidFill>
                  <a:schemeClr val="lt1"/>
                </a:solidFill>
              </a:rPr>
              <a:t>Determine the current state and the states one can </a:t>
            </a:r>
            <a:r>
              <a:rPr lang="en-US" sz="2000" b="1" dirty="0">
                <a:solidFill>
                  <a:schemeClr val="lt1"/>
                </a:solidFill>
              </a:rPr>
              <a:t>transition</a:t>
            </a:r>
            <a:r>
              <a:rPr lang="en-US" sz="2000" dirty="0">
                <a:solidFill>
                  <a:schemeClr val="lt1"/>
                </a:solidFill>
              </a:rPr>
              <a:t> to.</a:t>
            </a:r>
          </a:p>
          <a:p>
            <a:pPr lvl="1" indent="-355600">
              <a:lnSpc>
                <a:spcPct val="115000"/>
              </a:lnSpc>
              <a:spcBef>
                <a:spcPts val="1000"/>
              </a:spcBef>
              <a:buClr>
                <a:schemeClr val="lt1"/>
              </a:buClr>
              <a:buSzPts val="2000"/>
            </a:pPr>
            <a:r>
              <a:rPr lang="en-US" sz="2000" dirty="0">
                <a:solidFill>
                  <a:schemeClr val="lt1"/>
                </a:solidFill>
              </a:rPr>
              <a:t>The semantics of the operations performed in any given state by </a:t>
            </a:r>
            <a:r>
              <a:rPr lang="en-US" sz="2000" b="1" dirty="0" err="1">
                <a:solidFill>
                  <a:schemeClr val="lt1"/>
                </a:solidFill>
              </a:rPr>
              <a:t>ace.exec</a:t>
            </a:r>
            <a:r>
              <a:rPr lang="en-US" sz="2000" b="1" dirty="0">
                <a:solidFill>
                  <a:schemeClr val="lt1"/>
                </a:solidFill>
              </a:rPr>
              <a:t> </a:t>
            </a:r>
            <a:r>
              <a:rPr lang="en-US" sz="2000" dirty="0">
                <a:solidFill>
                  <a:schemeClr val="lt1"/>
                </a:solidFill>
              </a:rPr>
              <a:t>/ </a:t>
            </a:r>
            <a:r>
              <a:rPr lang="en-US" sz="2000" b="1" dirty="0" err="1">
                <a:solidFill>
                  <a:schemeClr val="lt1"/>
                </a:solidFill>
              </a:rPr>
              <a:t>ace.setst</a:t>
            </a:r>
            <a:r>
              <a:rPr lang="en-US" sz="2000" dirty="0">
                <a:solidFill>
                  <a:schemeClr val="lt1"/>
                </a:solidFill>
              </a:rPr>
              <a:t>.</a:t>
            </a:r>
          </a:p>
          <a:p>
            <a:pPr lvl="1" indent="-355600">
              <a:lnSpc>
                <a:spcPct val="115000"/>
              </a:lnSpc>
              <a:spcBef>
                <a:spcPts val="1000"/>
              </a:spcBef>
              <a:buClr>
                <a:schemeClr val="lt1"/>
              </a:buClr>
              <a:buSzPts val="2000"/>
            </a:pPr>
            <a:r>
              <a:rPr lang="en-US" sz="2000" dirty="0">
                <a:solidFill>
                  <a:schemeClr val="lt1"/>
                </a:solidFill>
              </a:rPr>
              <a:t>Define </a:t>
            </a:r>
            <a:r>
              <a:rPr lang="en-US" sz="2000" b="1" dirty="0">
                <a:solidFill>
                  <a:schemeClr val="lt1"/>
                </a:solidFill>
              </a:rPr>
              <a:t>Error States</a:t>
            </a:r>
            <a:r>
              <a:rPr lang="en-US" sz="2000" dirty="0">
                <a:solidFill>
                  <a:schemeClr val="lt1"/>
                </a:solidFill>
              </a:rPr>
              <a:t> as well.</a:t>
            </a:r>
          </a:p>
          <a:p>
            <a:pPr marL="0" indent="0">
              <a:lnSpc>
                <a:spcPct val="115000"/>
              </a:lnSpc>
              <a:spcBef>
                <a:spcPts val="1000"/>
              </a:spcBef>
              <a:spcAft>
                <a:spcPts val="1000"/>
              </a:spcAft>
              <a:buFont typeface="Arial"/>
              <a:buNone/>
            </a:pPr>
            <a:endParaRPr lang="en-US" sz="2000" dirty="0">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73144-5C9C-F7DD-0145-81626F952068}"/>
              </a:ext>
            </a:extLst>
          </p:cNvPr>
          <p:cNvSpPr>
            <a:spLocks noGrp="1"/>
          </p:cNvSpPr>
          <p:nvPr>
            <p:ph type="title"/>
          </p:nvPr>
        </p:nvSpPr>
        <p:spPr/>
        <p:txBody>
          <a:bodyPr/>
          <a:lstStyle/>
          <a:p>
            <a:r>
              <a:rPr lang="en-US" dirty="0"/>
              <a:t>Metadata</a:t>
            </a:r>
          </a:p>
        </p:txBody>
      </p:sp>
      <p:graphicFrame>
        <p:nvGraphicFramePr>
          <p:cNvPr id="4" name="Table 3">
            <a:extLst>
              <a:ext uri="{FF2B5EF4-FFF2-40B4-BE49-F238E27FC236}">
                <a16:creationId xmlns:a16="http://schemas.microsoft.com/office/drawing/2014/main" id="{B9E18580-C98C-BD12-73FA-C85622D0D746}"/>
              </a:ext>
            </a:extLst>
          </p:cNvPr>
          <p:cNvGraphicFramePr>
            <a:graphicFrameLocks noGrp="1"/>
          </p:cNvGraphicFramePr>
          <p:nvPr>
            <p:extLst>
              <p:ext uri="{D42A27DB-BD31-4B8C-83A1-F6EECF244321}">
                <p14:modId xmlns:p14="http://schemas.microsoft.com/office/powerpoint/2010/main" val="1660419700"/>
              </p:ext>
            </p:extLst>
          </p:nvPr>
        </p:nvGraphicFramePr>
        <p:xfrm>
          <a:off x="515935" y="1275716"/>
          <a:ext cx="11287182" cy="4767734"/>
        </p:xfrm>
        <a:graphic>
          <a:graphicData uri="http://schemas.openxmlformats.org/drawingml/2006/table">
            <a:tbl>
              <a:tblPr firstRow="1" bandRow="1">
                <a:tableStyleId>{F73B02A6-C515-4EDC-8851-2E6CCCF6EC13}</a:tableStyleId>
              </a:tblPr>
              <a:tblGrid>
                <a:gridCol w="3194217">
                  <a:extLst>
                    <a:ext uri="{9D8B030D-6E8A-4147-A177-3AD203B41FA5}">
                      <a16:colId xmlns:a16="http://schemas.microsoft.com/office/drawing/2014/main" val="391431148"/>
                    </a:ext>
                  </a:extLst>
                </a:gridCol>
                <a:gridCol w="8092965">
                  <a:extLst>
                    <a:ext uri="{9D8B030D-6E8A-4147-A177-3AD203B41FA5}">
                      <a16:colId xmlns:a16="http://schemas.microsoft.com/office/drawing/2014/main" val="1583403993"/>
                    </a:ext>
                  </a:extLst>
                </a:gridCol>
              </a:tblGrid>
              <a:tr h="416321">
                <a:tc>
                  <a:txBody>
                    <a:bodyPr/>
                    <a:lstStyle/>
                    <a:p>
                      <a:r>
                        <a:rPr lang="en-US" sz="1800" b="1" dirty="0"/>
                        <a:t>Name           </a:t>
                      </a:r>
                    </a:p>
                  </a:txBody>
                  <a:tcPr/>
                </a:tc>
                <a:tc>
                  <a:txBody>
                    <a:bodyPr/>
                    <a:lstStyle/>
                    <a:p>
                      <a:r>
                        <a:rPr lang="en-US" sz="1800" b="1" dirty="0"/>
                        <a:t>Description</a:t>
                      </a:r>
                    </a:p>
                  </a:txBody>
                  <a:tcPr/>
                </a:tc>
                <a:extLst>
                  <a:ext uri="{0D108BD9-81ED-4DB2-BD59-A6C34878D82A}">
                    <a16:rowId xmlns:a16="http://schemas.microsoft.com/office/drawing/2014/main" val="2851310513"/>
                  </a:ext>
                </a:extLst>
              </a:tr>
              <a:tr h="7185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t>Algorithm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err="1"/>
                        <a:t>AlgorithmPolicy</a:t>
                      </a:r>
                      <a:endParaRPr lang="en-US" sz="1800" b="1" dirty="0"/>
                    </a:p>
                  </a:txBody>
                  <a:tcPr/>
                </a:tc>
                <a:tc>
                  <a:txBody>
                    <a:bodyPr/>
                    <a:lstStyle/>
                    <a:p>
                      <a:r>
                        <a:rPr lang="en-US" sz="1800" b="0" dirty="0"/>
                        <a:t>Algorithm and Allowed Variants</a:t>
                      </a:r>
                    </a:p>
                  </a:txBody>
                  <a:tcPr/>
                </a:tc>
                <a:extLst>
                  <a:ext uri="{0D108BD9-81ED-4DB2-BD59-A6C34878D82A}">
                    <a16:rowId xmlns:a16="http://schemas.microsoft.com/office/drawing/2014/main" val="4163051720"/>
                  </a:ext>
                </a:extLst>
              </a:tr>
              <a:tr h="41632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err="1"/>
                        <a:t>SCProtection</a:t>
                      </a:r>
                      <a:endParaRPr lang="en-US" sz="1800" b="1" dirty="0"/>
                    </a:p>
                  </a:txBody>
                  <a:tcPr/>
                </a:tc>
                <a:tc>
                  <a:txBody>
                    <a:bodyPr/>
                    <a:lstStyle/>
                    <a:p>
                      <a:r>
                        <a:rPr lang="en-US" sz="1800" b="0" dirty="0"/>
                        <a:t>Side Channel Protection</a:t>
                      </a:r>
                    </a:p>
                  </a:txBody>
                  <a:tcPr/>
                </a:tc>
                <a:extLst>
                  <a:ext uri="{0D108BD9-81ED-4DB2-BD59-A6C34878D82A}">
                    <a16:rowId xmlns:a16="http://schemas.microsoft.com/office/drawing/2014/main" val="3986479243"/>
                  </a:ext>
                </a:extLst>
              </a:tr>
              <a:tr h="7185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t>State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err="1"/>
                        <a:t>StateExtension</a:t>
                      </a:r>
                      <a:endParaRPr lang="en-US" sz="1800" b="1" dirty="0"/>
                    </a:p>
                  </a:txBody>
                  <a:tcPr/>
                </a:tc>
                <a:tc>
                  <a:txBody>
                    <a:bodyPr/>
                    <a:lstStyle/>
                    <a:p>
                      <a:r>
                        <a:rPr lang="en-US" sz="1800" b="0" dirty="0"/>
                        <a:t>State of the State Machine</a:t>
                      </a:r>
                    </a:p>
                  </a:txBody>
                  <a:tcPr/>
                </a:tc>
                <a:extLst>
                  <a:ext uri="{0D108BD9-81ED-4DB2-BD59-A6C34878D82A}">
                    <a16:rowId xmlns:a16="http://schemas.microsoft.com/office/drawing/2014/main" val="1998381203"/>
                  </a:ext>
                </a:extLst>
              </a:tr>
              <a:tr h="416321">
                <a:tc>
                  <a:txBody>
                    <a:bodyPr/>
                    <a:lstStyle/>
                    <a:p>
                      <a:r>
                        <a:rPr lang="en-US" sz="1800" b="1" dirty="0" err="1"/>
                        <a:t>ConfigStatus</a:t>
                      </a:r>
                      <a:endParaRPr lang="en-US" sz="1800" b="1" dirty="0"/>
                    </a:p>
                  </a:txBody>
                  <a:tcPr/>
                </a:tc>
                <a:tc>
                  <a:txBody>
                    <a:bodyPr/>
                    <a:lstStyle/>
                    <a:p>
                      <a:r>
                        <a:rPr lang="en-US" sz="1800" b="0" dirty="0"/>
                        <a:t>Is the CR fully provisioned or being provisioned / exported / imported ?</a:t>
                      </a:r>
                    </a:p>
                  </a:txBody>
                  <a:tcPr/>
                </a:tc>
                <a:extLst>
                  <a:ext uri="{0D108BD9-81ED-4DB2-BD59-A6C34878D82A}">
                    <a16:rowId xmlns:a16="http://schemas.microsoft.com/office/drawing/2014/main" val="1838850043"/>
                  </a:ext>
                </a:extLst>
              </a:tr>
              <a:tr h="416321">
                <a:tc>
                  <a:txBody>
                    <a:bodyPr/>
                    <a:lstStyle/>
                    <a:p>
                      <a:r>
                        <a:rPr lang="en-US" sz="1800" b="1" dirty="0" err="1"/>
                        <a:t>ImpDataLen</a:t>
                      </a:r>
                      <a:endParaRPr lang="en-US" sz="1800" b="1" dirty="0"/>
                    </a:p>
                  </a:txBody>
                  <a:tcPr/>
                </a:tc>
                <a:tc>
                  <a:txBody>
                    <a:bodyPr/>
                    <a:lstStyle/>
                    <a:p>
                      <a:r>
                        <a:rPr lang="en-US" sz="1800" b="0" dirty="0"/>
                        <a:t>Length of an optional implementation dependent information block</a:t>
                      </a:r>
                    </a:p>
                  </a:txBody>
                  <a:tcPr/>
                </a:tc>
                <a:extLst>
                  <a:ext uri="{0D108BD9-81ED-4DB2-BD59-A6C34878D82A}">
                    <a16:rowId xmlns:a16="http://schemas.microsoft.com/office/drawing/2014/main" val="1364922372"/>
                  </a:ext>
                </a:extLst>
              </a:tr>
              <a:tr h="416321">
                <a:tc>
                  <a:txBody>
                    <a:bodyPr/>
                    <a:lstStyle/>
                    <a:p>
                      <a:r>
                        <a:rPr lang="en-US" sz="1800" b="1" dirty="0" err="1"/>
                        <a:t>UsagePolicy</a:t>
                      </a:r>
                      <a:endParaRPr lang="en-US" sz="1800" b="1" dirty="0"/>
                    </a:p>
                  </a:txBody>
                  <a:tcPr/>
                </a:tc>
                <a:tc>
                  <a:txBody>
                    <a:bodyPr/>
                    <a:lstStyle/>
                    <a:p>
                      <a:r>
                        <a:rPr lang="en-US" sz="1800" b="0" dirty="0"/>
                        <a:t>Can M / HS / VS / U / Debug perform cryptography with this CR?</a:t>
                      </a:r>
                    </a:p>
                  </a:txBody>
                  <a:tcPr/>
                </a:tc>
                <a:extLst>
                  <a:ext uri="{0D108BD9-81ED-4DB2-BD59-A6C34878D82A}">
                    <a16:rowId xmlns:a16="http://schemas.microsoft.com/office/drawing/2014/main" val="3101621312"/>
                  </a:ext>
                </a:extLst>
              </a:tr>
              <a:tr h="416321">
                <a:tc>
                  <a:txBody>
                    <a:bodyPr/>
                    <a:lstStyle/>
                    <a:p>
                      <a:r>
                        <a:rPr lang="en-US" sz="1800" b="1" dirty="0"/>
                        <a:t>Locality</a:t>
                      </a:r>
                    </a:p>
                  </a:txBody>
                  <a:tcPr/>
                </a:tc>
                <a:tc>
                  <a:txBody>
                    <a:bodyPr/>
                    <a:lstStyle/>
                    <a:p>
                      <a:r>
                        <a:rPr lang="en-US" sz="1800" b="0" dirty="0"/>
                        <a:t>Restrictions</a:t>
                      </a:r>
                    </a:p>
                  </a:txBody>
                  <a:tcPr/>
                </a:tc>
                <a:extLst>
                  <a:ext uri="{0D108BD9-81ED-4DB2-BD59-A6C34878D82A}">
                    <a16:rowId xmlns:a16="http://schemas.microsoft.com/office/drawing/2014/main" val="2394907667"/>
                  </a:ext>
                </a:extLst>
              </a:tr>
              <a:tr h="416321">
                <a:tc>
                  <a:txBody>
                    <a:bodyPr/>
                    <a:lstStyle/>
                    <a:p>
                      <a:r>
                        <a:rPr lang="en-US" sz="1800" b="1" dirty="0" err="1"/>
                        <a:t>AlgorithmUse</a:t>
                      </a:r>
                      <a:endParaRPr lang="en-US" sz="1800" b="1" dirty="0"/>
                    </a:p>
                  </a:txBody>
                  <a:tcPr/>
                </a:tc>
                <a:tc>
                  <a:txBody>
                    <a:bodyPr/>
                    <a:lstStyle/>
                    <a:p>
                      <a:r>
                        <a:rPr lang="en-US" sz="1800" b="0" dirty="0"/>
                        <a:t>Useable by the Algorithm (not the implementation)</a:t>
                      </a:r>
                    </a:p>
                  </a:txBody>
                  <a:tcPr/>
                </a:tc>
                <a:extLst>
                  <a:ext uri="{0D108BD9-81ED-4DB2-BD59-A6C34878D82A}">
                    <a16:rowId xmlns:a16="http://schemas.microsoft.com/office/drawing/2014/main" val="1479674246"/>
                  </a:ext>
                </a:extLst>
              </a:tr>
              <a:tr h="416321">
                <a:tc>
                  <a:txBody>
                    <a:bodyPr/>
                    <a:lstStyle/>
                    <a:p>
                      <a:r>
                        <a:rPr lang="en-US" sz="1800" b="1" dirty="0" err="1"/>
                        <a:t>ExpirationDate</a:t>
                      </a:r>
                      <a:endParaRPr lang="en-US" sz="1800" b="1" dirty="0"/>
                    </a:p>
                  </a:txBody>
                  <a:tcPr/>
                </a:tc>
                <a:tc>
                  <a:txBody>
                    <a:bodyPr/>
                    <a:lstStyle/>
                    <a:p>
                      <a:r>
                        <a:rPr lang="en-US" sz="1800" b="0" dirty="0"/>
                        <a:t>Expiration Date</a:t>
                      </a:r>
                    </a:p>
                  </a:txBody>
                  <a:tcPr/>
                </a:tc>
                <a:extLst>
                  <a:ext uri="{0D108BD9-81ED-4DB2-BD59-A6C34878D82A}">
                    <a16:rowId xmlns:a16="http://schemas.microsoft.com/office/drawing/2014/main" val="3237039045"/>
                  </a:ext>
                </a:extLst>
              </a:tr>
            </a:tbl>
          </a:graphicData>
        </a:graphic>
      </p:graphicFrame>
    </p:spTree>
    <p:extLst>
      <p:ext uri="{BB962C8B-B14F-4D97-AF65-F5344CB8AC3E}">
        <p14:creationId xmlns:p14="http://schemas.microsoft.com/office/powerpoint/2010/main" val="26364468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7"/>
          <p:cNvSpPr txBox="1">
            <a:spLocks noGrp="1"/>
          </p:cNvSpPr>
          <p:nvPr>
            <p:ph type="title"/>
          </p:nvPr>
        </p:nvSpPr>
        <p:spPr>
          <a:xfrm>
            <a:off x="515937" y="628015"/>
            <a:ext cx="11160000" cy="647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US"/>
              <a:t>Algorithms (choice)</a:t>
            </a:r>
            <a:endParaRPr/>
          </a:p>
        </p:txBody>
      </p:sp>
      <p:sp>
        <p:nvSpPr>
          <p:cNvPr id="160" name="Google Shape;160;p27"/>
          <p:cNvSpPr txBox="1">
            <a:spLocks noGrp="1"/>
          </p:cNvSpPr>
          <p:nvPr>
            <p:ph type="body" idx="1"/>
          </p:nvPr>
        </p:nvSpPr>
        <p:spPr>
          <a:xfrm>
            <a:off x="515937" y="1493519"/>
            <a:ext cx="11160000" cy="4672200"/>
          </a:xfrm>
          <a:prstGeom prst="rect">
            <a:avLst/>
          </a:prstGeom>
        </p:spPr>
        <p:txBody>
          <a:bodyPr spcFirstLastPara="1" wrap="square" lIns="0" tIns="0" rIns="0" bIns="0" anchor="t" anchorCtr="0">
            <a:normAutofit fontScale="92500" lnSpcReduction="10000"/>
          </a:bodyPr>
          <a:lstStyle/>
          <a:p>
            <a:pPr marL="0" lvl="0" indent="0" algn="l" rtl="0">
              <a:lnSpc>
                <a:spcPct val="115000"/>
              </a:lnSpc>
              <a:spcBef>
                <a:spcPts val="0"/>
              </a:spcBef>
              <a:spcAft>
                <a:spcPts val="0"/>
              </a:spcAft>
              <a:buNone/>
            </a:pPr>
            <a:r>
              <a:rPr lang="en-US" sz="1800" dirty="0"/>
              <a:t>We architect several algorithms, and also define a minimal subset–probably a subset of:</a:t>
            </a:r>
            <a:endParaRPr sz="1800" dirty="0"/>
          </a:p>
          <a:p>
            <a:pPr marL="457200" lvl="0" indent="-342900" algn="l" rtl="0">
              <a:lnSpc>
                <a:spcPct val="115000"/>
              </a:lnSpc>
              <a:spcBef>
                <a:spcPts val="600"/>
              </a:spcBef>
              <a:spcAft>
                <a:spcPts val="0"/>
              </a:spcAft>
              <a:buSzPts val="1800"/>
              <a:buChar char="•"/>
            </a:pPr>
            <a:r>
              <a:rPr lang="en-US" sz="1800" dirty="0"/>
              <a:t>AES-128 and </a:t>
            </a:r>
            <a:r>
              <a:rPr lang="en-US" sz="1800" dirty="0">
                <a:solidFill>
                  <a:schemeClr val="lt1"/>
                </a:solidFill>
              </a:rPr>
              <a:t>AES-256 encryption and decryption.</a:t>
            </a:r>
            <a:endParaRPr sz="1800" dirty="0">
              <a:solidFill>
                <a:schemeClr val="lt1"/>
              </a:solidFill>
            </a:endParaRPr>
          </a:p>
          <a:p>
            <a:pPr marL="457200" lvl="0" indent="-342900" algn="l" rtl="0">
              <a:lnSpc>
                <a:spcPct val="115000"/>
              </a:lnSpc>
              <a:spcBef>
                <a:spcPts val="0"/>
              </a:spcBef>
              <a:spcAft>
                <a:spcPts val="0"/>
              </a:spcAft>
              <a:buClr>
                <a:schemeClr val="lt1"/>
              </a:buClr>
              <a:buSzPts val="1800"/>
              <a:buChar char="•"/>
            </a:pPr>
            <a:r>
              <a:rPr lang="en-US" sz="1800" dirty="0">
                <a:solidFill>
                  <a:schemeClr val="lt1"/>
                </a:solidFill>
              </a:rPr>
              <a:t>AES-CTR, AES-GCM, AES-GCM-SIV, AES-XTS, AES-CMAC using AES-128/256.</a:t>
            </a:r>
            <a:endParaRPr sz="1800" dirty="0">
              <a:solidFill>
                <a:schemeClr val="lt1"/>
              </a:solidFill>
            </a:endParaRPr>
          </a:p>
          <a:p>
            <a:pPr marL="457200" lvl="0" indent="-342900" algn="l" rtl="0">
              <a:lnSpc>
                <a:spcPct val="115000"/>
              </a:lnSpc>
              <a:spcBef>
                <a:spcPts val="0"/>
              </a:spcBef>
              <a:spcAft>
                <a:spcPts val="0"/>
              </a:spcAft>
              <a:buClr>
                <a:schemeClr val="lt1"/>
              </a:buClr>
              <a:buSzPts val="1800"/>
              <a:buChar char="•"/>
            </a:pPr>
            <a:r>
              <a:rPr lang="en-US" sz="1800" dirty="0">
                <a:solidFill>
                  <a:schemeClr val="lt1"/>
                </a:solidFill>
              </a:rPr>
              <a:t>SHA-2, SHA-2-HMAC.</a:t>
            </a:r>
          </a:p>
          <a:p>
            <a:pPr marL="114300" lvl="0" indent="0" algn="l" rtl="0">
              <a:lnSpc>
                <a:spcPct val="115000"/>
              </a:lnSpc>
              <a:spcBef>
                <a:spcPts val="0"/>
              </a:spcBef>
              <a:spcAft>
                <a:spcPts val="0"/>
              </a:spcAft>
              <a:buClr>
                <a:schemeClr val="lt1"/>
              </a:buClr>
              <a:buSzPts val="1800"/>
              <a:buNone/>
            </a:pPr>
            <a:endParaRPr lang="en-US" sz="1800" dirty="0">
              <a:solidFill>
                <a:schemeClr val="lt1"/>
              </a:solidFill>
            </a:endParaRPr>
          </a:p>
          <a:p>
            <a:pPr marL="0" indent="0">
              <a:lnSpc>
                <a:spcPct val="115000"/>
              </a:lnSpc>
              <a:spcBef>
                <a:spcPts val="0"/>
              </a:spcBef>
              <a:buNone/>
            </a:pPr>
            <a:r>
              <a:rPr lang="en-US" sz="1800" dirty="0"/>
              <a:t>Also, all (most?) elliptic curves in use. We will define PQ soon.</a:t>
            </a:r>
            <a:endParaRPr sz="1800" dirty="0"/>
          </a:p>
          <a:p>
            <a:pPr marL="0" lvl="0" indent="0" algn="l" rtl="0">
              <a:lnSpc>
                <a:spcPct val="115000"/>
              </a:lnSpc>
              <a:spcBef>
                <a:spcPts val="600"/>
              </a:spcBef>
              <a:spcAft>
                <a:spcPts val="0"/>
              </a:spcAft>
              <a:buNone/>
            </a:pPr>
            <a:endParaRPr sz="1800" dirty="0">
              <a:solidFill>
                <a:schemeClr val="lt1"/>
              </a:solidFill>
            </a:endParaRPr>
          </a:p>
          <a:p>
            <a:pPr marL="0" lvl="0" indent="0" algn="l" rtl="0">
              <a:lnSpc>
                <a:spcPct val="115000"/>
              </a:lnSpc>
              <a:spcBef>
                <a:spcPts val="600"/>
              </a:spcBef>
              <a:spcAft>
                <a:spcPts val="0"/>
              </a:spcAft>
              <a:buNone/>
            </a:pPr>
            <a:r>
              <a:rPr lang="en-US" sz="1800" dirty="0">
                <a:solidFill>
                  <a:schemeClr val="lt1"/>
                </a:solidFill>
              </a:rPr>
              <a:t>The list of other architected algorithms is TBD, but it should include at least</a:t>
            </a:r>
            <a:endParaRPr sz="1800" dirty="0">
              <a:solidFill>
                <a:schemeClr val="lt1"/>
              </a:solidFill>
            </a:endParaRPr>
          </a:p>
          <a:p>
            <a:pPr marL="457200" lvl="0" indent="-342900" algn="l" rtl="0">
              <a:lnSpc>
                <a:spcPct val="115000"/>
              </a:lnSpc>
              <a:spcBef>
                <a:spcPts val="600"/>
              </a:spcBef>
              <a:spcAft>
                <a:spcPts val="0"/>
              </a:spcAft>
              <a:buClr>
                <a:schemeClr val="lt1"/>
              </a:buClr>
              <a:buSzPts val="1800"/>
              <a:buChar char="•"/>
            </a:pPr>
            <a:r>
              <a:rPr lang="en-US" sz="1800" dirty="0">
                <a:solidFill>
                  <a:schemeClr val="lt1"/>
                </a:solidFill>
              </a:rPr>
              <a:t>AES-192, alone and with the above modes.</a:t>
            </a:r>
            <a:endParaRPr sz="1800" dirty="0">
              <a:solidFill>
                <a:schemeClr val="lt1"/>
              </a:solidFill>
            </a:endParaRPr>
          </a:p>
          <a:p>
            <a:pPr marL="457200" lvl="0" indent="-342900" algn="l" rtl="0">
              <a:lnSpc>
                <a:spcPct val="115000"/>
              </a:lnSpc>
              <a:spcBef>
                <a:spcPts val="0"/>
              </a:spcBef>
              <a:spcAft>
                <a:spcPts val="0"/>
              </a:spcAft>
              <a:buClr>
                <a:schemeClr val="lt1"/>
              </a:buClr>
              <a:buSzPts val="1800"/>
              <a:buChar char="•"/>
            </a:pPr>
            <a:r>
              <a:rPr lang="en-US" sz="1800" dirty="0">
                <a:solidFill>
                  <a:schemeClr val="lt1"/>
                </a:solidFill>
              </a:rPr>
              <a:t>SM4 Block Cipher.</a:t>
            </a:r>
            <a:endParaRPr sz="1800" dirty="0">
              <a:solidFill>
                <a:schemeClr val="lt1"/>
              </a:solidFill>
            </a:endParaRPr>
          </a:p>
          <a:p>
            <a:pPr marL="457200" lvl="0" indent="-342900" algn="l" rtl="0">
              <a:lnSpc>
                <a:spcPct val="115000"/>
              </a:lnSpc>
              <a:spcBef>
                <a:spcPts val="0"/>
              </a:spcBef>
              <a:spcAft>
                <a:spcPts val="0"/>
              </a:spcAft>
              <a:buClr>
                <a:schemeClr val="lt1"/>
              </a:buClr>
              <a:buSzPts val="1800"/>
              <a:buChar char="•"/>
            </a:pPr>
            <a:r>
              <a:rPr lang="en-US" sz="1800" dirty="0">
                <a:solidFill>
                  <a:schemeClr val="lt1"/>
                </a:solidFill>
              </a:rPr>
              <a:t>The Ascon suite (Ascon-128/128a-AEAD, Ascon-Hash, Ascon-XOF, Ascon-80pq).</a:t>
            </a:r>
            <a:endParaRPr sz="1800" dirty="0">
              <a:solidFill>
                <a:schemeClr val="lt1"/>
              </a:solidFill>
            </a:endParaRPr>
          </a:p>
          <a:p>
            <a:pPr marL="457200" lvl="0" indent="-342900" algn="l" rtl="0">
              <a:lnSpc>
                <a:spcPct val="115000"/>
              </a:lnSpc>
              <a:spcBef>
                <a:spcPts val="0"/>
              </a:spcBef>
              <a:spcAft>
                <a:spcPts val="0"/>
              </a:spcAft>
              <a:buClr>
                <a:schemeClr val="lt1"/>
              </a:buClr>
              <a:buSzPts val="1800"/>
              <a:buChar char="•"/>
            </a:pPr>
            <a:r>
              <a:rPr lang="en-US" sz="1800" dirty="0">
                <a:solidFill>
                  <a:schemeClr val="lt1"/>
                </a:solidFill>
              </a:rPr>
              <a:t>SHA-3, SHA-3-HMAC.</a:t>
            </a:r>
            <a:endParaRPr sz="1800" dirty="0">
              <a:solidFill>
                <a:schemeClr val="lt1"/>
              </a:solidFill>
            </a:endParaRPr>
          </a:p>
          <a:p>
            <a:pPr marL="457200" lvl="0" indent="-342900" algn="l" rtl="0">
              <a:lnSpc>
                <a:spcPct val="115000"/>
              </a:lnSpc>
              <a:spcBef>
                <a:spcPts val="0"/>
              </a:spcBef>
              <a:spcAft>
                <a:spcPts val="0"/>
              </a:spcAft>
              <a:buClr>
                <a:schemeClr val="lt1"/>
              </a:buClr>
              <a:buSzPts val="1800"/>
              <a:buChar char="•"/>
            </a:pPr>
            <a:r>
              <a:rPr lang="en-US" sz="1800" dirty="0">
                <a:solidFill>
                  <a:schemeClr val="lt1"/>
                </a:solidFill>
              </a:rPr>
              <a:t>SM3 Secure Hash.</a:t>
            </a:r>
            <a:endParaRPr sz="1800" dirty="0">
              <a:solidFill>
                <a:schemeClr val="lt1"/>
              </a:solidFill>
            </a:endParaRPr>
          </a:p>
          <a:p>
            <a:pPr marL="0" lvl="0" indent="0" algn="l" rtl="0">
              <a:lnSpc>
                <a:spcPct val="115000"/>
              </a:lnSpc>
              <a:spcBef>
                <a:spcPts val="600"/>
              </a:spcBef>
              <a:spcAft>
                <a:spcPts val="0"/>
              </a:spcAft>
              <a:buNone/>
            </a:pPr>
            <a:endParaRPr sz="1800" dirty="0">
              <a:solidFill>
                <a:schemeClr val="lt1"/>
              </a:solidFill>
            </a:endParaRPr>
          </a:p>
          <a:p>
            <a:pPr marL="0" lvl="0" indent="0" algn="l" rtl="0">
              <a:lnSpc>
                <a:spcPct val="115000"/>
              </a:lnSpc>
              <a:spcBef>
                <a:spcPts val="600"/>
              </a:spcBef>
              <a:spcAft>
                <a:spcPts val="600"/>
              </a:spcAft>
              <a:buNone/>
            </a:pPr>
            <a:r>
              <a:rPr lang="en-US" sz="1800" dirty="0">
                <a:solidFill>
                  <a:schemeClr val="lt1"/>
                </a:solidFill>
              </a:rPr>
              <a:t>The list can be extended by the architecture owner + space for custom algorithms.</a:t>
            </a:r>
            <a:endParaRPr sz="1800" dirty="0">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51707-131C-70FF-8D44-F8F4CE6F5830}"/>
              </a:ext>
            </a:extLst>
          </p:cNvPr>
          <p:cNvSpPr>
            <a:spLocks noGrp="1"/>
          </p:cNvSpPr>
          <p:nvPr>
            <p:ph type="title"/>
          </p:nvPr>
        </p:nvSpPr>
        <p:spPr/>
        <p:txBody>
          <a:bodyPr/>
          <a:lstStyle/>
          <a:p>
            <a:r>
              <a:rPr lang="en-US" dirty="0"/>
              <a:t>Issues</a:t>
            </a:r>
          </a:p>
        </p:txBody>
      </p:sp>
      <p:sp>
        <p:nvSpPr>
          <p:cNvPr id="3" name="Text Placeholder 2">
            <a:extLst>
              <a:ext uri="{FF2B5EF4-FFF2-40B4-BE49-F238E27FC236}">
                <a16:creationId xmlns:a16="http://schemas.microsoft.com/office/drawing/2014/main" id="{C3EDB47B-DA17-E329-2512-ACD7BA28156C}"/>
              </a:ext>
            </a:extLst>
          </p:cNvPr>
          <p:cNvSpPr>
            <a:spLocks noGrp="1"/>
          </p:cNvSpPr>
          <p:nvPr>
            <p:ph type="body" idx="1"/>
          </p:nvPr>
        </p:nvSpPr>
        <p:spPr>
          <a:xfrm>
            <a:off x="515937" y="1230760"/>
            <a:ext cx="11160128" cy="5117488"/>
          </a:xfrm>
        </p:spPr>
        <p:txBody>
          <a:bodyPr>
            <a:normAutofit fontScale="85000" lnSpcReduction="20000"/>
          </a:bodyPr>
          <a:lstStyle/>
          <a:p>
            <a:pPr>
              <a:lnSpc>
                <a:spcPct val="110000"/>
              </a:lnSpc>
            </a:pPr>
            <a:r>
              <a:rPr lang="en-US" dirty="0"/>
              <a:t>The functionality can be expressed as single </a:t>
            </a:r>
            <a:r>
              <a:rPr lang="en-US" i="1" dirty="0"/>
              <a:t>but</a:t>
            </a:r>
            <a:r>
              <a:rPr lang="en-US" dirty="0"/>
              <a:t> VERY complex instructions.</a:t>
            </a:r>
          </a:p>
          <a:p>
            <a:pPr lvl="1">
              <a:lnSpc>
                <a:spcPct val="110000"/>
              </a:lnSpc>
            </a:pPr>
            <a:r>
              <a:rPr lang="en-US" dirty="0"/>
              <a:t>This would not by Risc-V-y.</a:t>
            </a:r>
          </a:p>
          <a:p>
            <a:pPr lvl="1">
              <a:lnSpc>
                <a:spcPct val="110000"/>
              </a:lnSpc>
            </a:pPr>
            <a:r>
              <a:rPr lang="en-US" dirty="0"/>
              <a:t>Must split certain functionality into more instructions, each as simple as possible.</a:t>
            </a:r>
          </a:p>
          <a:p>
            <a:pPr>
              <a:lnSpc>
                <a:spcPct val="110000"/>
              </a:lnSpc>
            </a:pPr>
            <a:r>
              <a:rPr lang="en-US" dirty="0"/>
              <a:t>This is a </a:t>
            </a:r>
            <a:r>
              <a:rPr lang="en-US" b="1" dirty="0"/>
              <a:t>security feature</a:t>
            </a:r>
            <a:r>
              <a:rPr lang="en-US" dirty="0"/>
              <a:t>–any place where we can break/interrupt/preempt its operations is an attack surface. We need to expose state, but we cannot expose exploitable state.</a:t>
            </a:r>
          </a:p>
          <a:p>
            <a:pPr>
              <a:lnSpc>
                <a:spcPct val="110000"/>
              </a:lnSpc>
            </a:pPr>
            <a:r>
              <a:rPr lang="en-US" dirty="0"/>
              <a:t>Manage variable length inputs and outputs</a:t>
            </a:r>
          </a:p>
          <a:p>
            <a:pPr lvl="1">
              <a:lnSpc>
                <a:spcPct val="110000"/>
              </a:lnSpc>
            </a:pPr>
            <a:r>
              <a:rPr lang="en-US" dirty="0"/>
              <a:t>Loads/Stores longer than XLEN can be done by each implementation in the order they want. This is also potentially annoying for security.</a:t>
            </a:r>
          </a:p>
          <a:p>
            <a:pPr>
              <a:lnSpc>
                <a:spcPct val="110000"/>
              </a:lnSpc>
            </a:pPr>
            <a:r>
              <a:rPr lang="en-US" dirty="0"/>
              <a:t>Support cores with V and without.</a:t>
            </a:r>
          </a:p>
          <a:p>
            <a:pPr>
              <a:lnSpc>
                <a:spcPct val="110000"/>
              </a:lnSpc>
            </a:pPr>
            <a:r>
              <a:rPr lang="en-US" dirty="0"/>
              <a:t>Need to be able to support multiple nested interruptions/exceptions/preemptions and export/re-import partially configured states. All without breaking security/allowing corruption/forgery.</a:t>
            </a:r>
          </a:p>
          <a:p>
            <a:pPr>
              <a:lnSpc>
                <a:spcPct val="110000"/>
              </a:lnSpc>
            </a:pPr>
            <a:r>
              <a:rPr lang="en-US" dirty="0"/>
              <a:t>Support migration.</a:t>
            </a:r>
          </a:p>
          <a:p>
            <a:pPr>
              <a:lnSpc>
                <a:spcPct val="110000"/>
              </a:lnSpc>
            </a:pPr>
            <a:r>
              <a:rPr lang="en-US" dirty="0"/>
              <a:t>It is like juggling with 14 balls (2017 world record by Alex Barron with 14 beanbags).</a:t>
            </a:r>
          </a:p>
          <a:p>
            <a:pPr>
              <a:lnSpc>
                <a:spcPct val="110000"/>
              </a:lnSpc>
            </a:pPr>
            <a:r>
              <a:rPr lang="en-US" dirty="0"/>
              <a:t>Overall architecture complexity higher than RVV.</a:t>
            </a:r>
          </a:p>
          <a:p>
            <a:pPr>
              <a:lnSpc>
                <a:spcPct val="110000"/>
              </a:lnSpc>
            </a:pPr>
            <a:endParaRPr lang="en-US" dirty="0"/>
          </a:p>
        </p:txBody>
      </p:sp>
    </p:spTree>
    <p:extLst>
      <p:ext uri="{BB962C8B-B14F-4D97-AF65-F5344CB8AC3E}">
        <p14:creationId xmlns:p14="http://schemas.microsoft.com/office/powerpoint/2010/main" val="3749636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6"/>
          <p:cNvSpPr txBox="1">
            <a:spLocks noGrp="1"/>
          </p:cNvSpPr>
          <p:nvPr>
            <p:ph type="title"/>
          </p:nvPr>
        </p:nvSpPr>
        <p:spPr>
          <a:xfrm>
            <a:off x="526520" y="628015"/>
            <a:ext cx="11160000" cy="647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US" dirty="0"/>
              <a:t>The Model</a:t>
            </a:r>
            <a:endParaRPr dirty="0"/>
          </a:p>
        </p:txBody>
      </p:sp>
      <p:sp>
        <p:nvSpPr>
          <p:cNvPr id="154" name="Google Shape;154;p26"/>
          <p:cNvSpPr txBox="1">
            <a:spLocks noGrp="1"/>
          </p:cNvSpPr>
          <p:nvPr>
            <p:ph type="body" idx="1"/>
          </p:nvPr>
        </p:nvSpPr>
        <p:spPr>
          <a:xfrm>
            <a:off x="515937" y="1493519"/>
            <a:ext cx="11160000" cy="4672200"/>
          </a:xfrm>
          <a:prstGeom prst="rect">
            <a:avLst/>
          </a:prstGeom>
        </p:spPr>
        <p:txBody>
          <a:bodyPr spcFirstLastPara="1" wrap="square" lIns="0" tIns="0" rIns="0" bIns="0" anchor="t" anchorCtr="0">
            <a:normAutofit/>
          </a:bodyPr>
          <a:lstStyle/>
          <a:p>
            <a:pPr marL="457200" lvl="0" indent="-342900" algn="l" rtl="0">
              <a:lnSpc>
                <a:spcPct val="115000"/>
              </a:lnSpc>
              <a:spcBef>
                <a:spcPts val="900"/>
              </a:spcBef>
              <a:spcAft>
                <a:spcPts val="0"/>
              </a:spcAft>
              <a:buSzPts val="1800"/>
              <a:buAutoNum type="arabicPeriod"/>
            </a:pPr>
            <a:r>
              <a:rPr lang="en-US" dirty="0"/>
              <a:t>The ACE Unit works like an </a:t>
            </a:r>
            <a:r>
              <a:rPr lang="en-US" i="1" dirty="0"/>
              <a:t>attached</a:t>
            </a:r>
            <a:r>
              <a:rPr lang="en-US" dirty="0"/>
              <a:t> unit.</a:t>
            </a:r>
            <a:endParaRPr dirty="0"/>
          </a:p>
          <a:p>
            <a:pPr marL="457200" lvl="0" indent="-342900" algn="l" rtl="0">
              <a:lnSpc>
                <a:spcPct val="115000"/>
              </a:lnSpc>
              <a:spcBef>
                <a:spcPts val="1000"/>
              </a:spcBef>
              <a:spcAft>
                <a:spcPts val="0"/>
              </a:spcAft>
              <a:buSzPts val="1800"/>
              <a:buAutoNum type="arabicPeriod"/>
            </a:pPr>
            <a:r>
              <a:rPr lang="en-US" dirty="0"/>
              <a:t>Similar to streaming accelerators (Arm SSVE/SME, or RISC-V’s AME).</a:t>
            </a:r>
            <a:br>
              <a:rPr lang="en-US" dirty="0"/>
            </a:br>
            <a:r>
              <a:rPr lang="en-US" dirty="0"/>
              <a:t>(Doesn’t have to be implemented as one.)</a:t>
            </a:r>
          </a:p>
          <a:p>
            <a:pPr marL="457200" lvl="0" indent="-342900" algn="l" rtl="0">
              <a:lnSpc>
                <a:spcPct val="115000"/>
              </a:lnSpc>
              <a:spcBef>
                <a:spcPts val="1000"/>
              </a:spcBef>
              <a:spcAft>
                <a:spcPts val="0"/>
              </a:spcAft>
              <a:buSzPts val="1800"/>
              <a:buAutoNum type="arabicPeriod"/>
            </a:pPr>
            <a:r>
              <a:rPr lang="en-US" dirty="0"/>
              <a:t>Can have its own LSU.</a:t>
            </a:r>
            <a:endParaRPr dirty="0"/>
          </a:p>
          <a:p>
            <a:pPr marL="457200" lvl="0" indent="-342900" algn="l" rtl="0">
              <a:lnSpc>
                <a:spcPct val="115000"/>
              </a:lnSpc>
              <a:spcBef>
                <a:spcPts val="1000"/>
              </a:spcBef>
              <a:spcAft>
                <a:spcPts val="0"/>
              </a:spcAft>
              <a:buSzPts val="1800"/>
              <a:buAutoNum type="arabicPeriod"/>
            </a:pPr>
            <a:r>
              <a:rPr lang="en-US" dirty="0"/>
              <a:t>Can work asynchronously from other cores.</a:t>
            </a:r>
            <a:endParaRPr dirty="0"/>
          </a:p>
          <a:p>
            <a:pPr marL="457200" lvl="0" indent="-342900" algn="l" rtl="0">
              <a:lnSpc>
                <a:spcPct val="115000"/>
              </a:lnSpc>
              <a:spcBef>
                <a:spcPts val="1000"/>
              </a:spcBef>
              <a:spcAft>
                <a:spcPts val="0"/>
              </a:spcAft>
              <a:buSzPts val="1800"/>
              <a:buAutoNum type="arabicPeriod"/>
            </a:pPr>
            <a:r>
              <a:rPr lang="en-US" dirty="0"/>
              <a:t>Can be shared amongst multiple cores.</a:t>
            </a:r>
            <a:endParaRPr dirty="0"/>
          </a:p>
          <a:p>
            <a:pPr marL="457200" lvl="0" indent="-342900" algn="l" rtl="0">
              <a:lnSpc>
                <a:spcPct val="115000"/>
              </a:lnSpc>
              <a:spcBef>
                <a:spcPts val="1000"/>
              </a:spcBef>
              <a:spcAft>
                <a:spcPts val="1000"/>
              </a:spcAft>
              <a:buSzPts val="1800"/>
              <a:buAutoNum type="arabicPeriod"/>
            </a:pPr>
            <a:r>
              <a:rPr lang="en-US" dirty="0"/>
              <a:t>Keeps an architectural state per hart (hardware thread).</a:t>
            </a:r>
            <a:endParaRPr dirty="0"/>
          </a:p>
        </p:txBody>
      </p:sp>
    </p:spTree>
    <p:extLst>
      <p:ext uri="{BB962C8B-B14F-4D97-AF65-F5344CB8AC3E}">
        <p14:creationId xmlns:p14="http://schemas.microsoft.com/office/powerpoint/2010/main" val="21994586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2" name="Group 211">
            <a:extLst>
              <a:ext uri="{FF2B5EF4-FFF2-40B4-BE49-F238E27FC236}">
                <a16:creationId xmlns:a16="http://schemas.microsoft.com/office/drawing/2014/main" id="{AACB1402-4496-8105-62A8-7B4E36BDD4D8}"/>
              </a:ext>
            </a:extLst>
          </p:cNvPr>
          <p:cNvGrpSpPr/>
          <p:nvPr/>
        </p:nvGrpSpPr>
        <p:grpSpPr>
          <a:xfrm>
            <a:off x="1616927" y="1166517"/>
            <a:ext cx="8407290" cy="4954269"/>
            <a:chOff x="756748" y="1275716"/>
            <a:chExt cx="9779514" cy="5582283"/>
          </a:xfrm>
        </p:grpSpPr>
        <p:sp>
          <p:nvSpPr>
            <p:cNvPr id="209" name="Rounded Rectangle 208">
              <a:extLst>
                <a:ext uri="{FF2B5EF4-FFF2-40B4-BE49-F238E27FC236}">
                  <a16:creationId xmlns:a16="http://schemas.microsoft.com/office/drawing/2014/main" id="{E2E84340-18CA-BC3F-9E50-4ABD968DE2B9}"/>
                </a:ext>
              </a:extLst>
            </p:cNvPr>
            <p:cNvSpPr/>
            <p:nvPr/>
          </p:nvSpPr>
          <p:spPr>
            <a:xfrm>
              <a:off x="4806175" y="1275716"/>
              <a:ext cx="2347853" cy="558228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1" name="Group 210">
              <a:extLst>
                <a:ext uri="{FF2B5EF4-FFF2-40B4-BE49-F238E27FC236}">
                  <a16:creationId xmlns:a16="http://schemas.microsoft.com/office/drawing/2014/main" id="{DAA57C66-4E10-0C72-8C37-5DB1CDB0D3A3}"/>
                </a:ext>
              </a:extLst>
            </p:cNvPr>
            <p:cNvGrpSpPr/>
            <p:nvPr/>
          </p:nvGrpSpPr>
          <p:grpSpPr>
            <a:xfrm>
              <a:off x="756748" y="1515795"/>
              <a:ext cx="9779514" cy="5243302"/>
              <a:chOff x="756748" y="1515795"/>
              <a:chExt cx="9779514" cy="5243302"/>
            </a:xfrm>
          </p:grpSpPr>
          <p:sp>
            <p:nvSpPr>
              <p:cNvPr id="4" name="Rounded Rectangle 3">
                <a:extLst>
                  <a:ext uri="{FF2B5EF4-FFF2-40B4-BE49-F238E27FC236}">
                    <a16:creationId xmlns:a16="http://schemas.microsoft.com/office/drawing/2014/main" id="{53F72375-42A8-67F2-B67F-24AE30AC84E1}"/>
                  </a:ext>
                </a:extLst>
              </p:cNvPr>
              <p:cNvSpPr/>
              <p:nvPr/>
            </p:nvSpPr>
            <p:spPr>
              <a:xfrm>
                <a:off x="757645" y="2460126"/>
                <a:ext cx="91440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dirty="0">
                    <a:ln w="0"/>
                    <a:solidFill>
                      <a:srgbClr val="FFFFFF"/>
                    </a:solidFill>
                    <a:effectLst>
                      <a:outerShdw blurRad="38100" dist="19050" dir="2700000" algn="tl" rotWithShape="0">
                        <a:schemeClr val="dk1">
                          <a:alpha val="40000"/>
                        </a:schemeClr>
                      </a:outerShdw>
                    </a:effectLst>
                  </a:rPr>
                  <a:t>Core/Hart</a:t>
                </a:r>
              </a:p>
            </p:txBody>
          </p:sp>
          <p:sp>
            <p:nvSpPr>
              <p:cNvPr id="6" name="Rounded Rectangle 5">
                <a:extLst>
                  <a:ext uri="{FF2B5EF4-FFF2-40B4-BE49-F238E27FC236}">
                    <a16:creationId xmlns:a16="http://schemas.microsoft.com/office/drawing/2014/main" id="{355ED9B5-AF46-259D-A48B-D38C2473A497}"/>
                  </a:ext>
                </a:extLst>
              </p:cNvPr>
              <p:cNvSpPr/>
              <p:nvPr/>
            </p:nvSpPr>
            <p:spPr>
              <a:xfrm>
                <a:off x="756748" y="5083430"/>
                <a:ext cx="91440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dirty="0">
                    <a:ln w="0"/>
                    <a:solidFill>
                      <a:srgbClr val="FFFFFF"/>
                    </a:solidFill>
                    <a:effectLst>
                      <a:outerShdw blurRad="38100" dist="19050" dir="2700000" algn="tl" rotWithShape="0">
                        <a:schemeClr val="dk1">
                          <a:alpha val="40000"/>
                        </a:schemeClr>
                      </a:outerShdw>
                    </a:effectLst>
                  </a:rPr>
                  <a:t>Core/Hart</a:t>
                </a:r>
              </a:p>
            </p:txBody>
          </p:sp>
          <p:sp>
            <p:nvSpPr>
              <p:cNvPr id="8" name="Rounded Rectangle 7">
                <a:extLst>
                  <a:ext uri="{FF2B5EF4-FFF2-40B4-BE49-F238E27FC236}">
                    <a16:creationId xmlns:a16="http://schemas.microsoft.com/office/drawing/2014/main" id="{94678B02-9221-A6AF-42A9-92A63E37F21F}"/>
                  </a:ext>
                </a:extLst>
              </p:cNvPr>
              <p:cNvSpPr/>
              <p:nvPr/>
            </p:nvSpPr>
            <p:spPr>
              <a:xfrm>
                <a:off x="2151016" y="2726824"/>
                <a:ext cx="1426855" cy="647702"/>
              </a:xfrm>
              <a:prstGeom prst="roundRect">
                <a:avLst/>
              </a:prstGeom>
              <a:solidFill>
                <a:srgbClr val="FFFFFF"/>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t>architectural state</a:t>
                </a:r>
              </a:p>
            </p:txBody>
          </p:sp>
          <p:sp>
            <p:nvSpPr>
              <p:cNvPr id="9" name="Rounded Rectangle 8">
                <a:extLst>
                  <a:ext uri="{FF2B5EF4-FFF2-40B4-BE49-F238E27FC236}">
                    <a16:creationId xmlns:a16="http://schemas.microsoft.com/office/drawing/2014/main" id="{DF4C9DDD-095E-C2C5-2693-3293807EE680}"/>
                  </a:ext>
                </a:extLst>
              </p:cNvPr>
              <p:cNvSpPr/>
              <p:nvPr/>
            </p:nvSpPr>
            <p:spPr>
              <a:xfrm>
                <a:off x="2150120" y="5350128"/>
                <a:ext cx="1427755" cy="647702"/>
              </a:xfrm>
              <a:prstGeom prst="roundRect">
                <a:avLst/>
              </a:prstGeom>
              <a:solidFill>
                <a:srgbClr val="FFFFFF"/>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t>architectural state</a:t>
                </a:r>
              </a:p>
            </p:txBody>
          </p:sp>
          <p:sp>
            <p:nvSpPr>
              <p:cNvPr id="10" name="Rounded Rectangle 9">
                <a:extLst>
                  <a:ext uri="{FF2B5EF4-FFF2-40B4-BE49-F238E27FC236}">
                    <a16:creationId xmlns:a16="http://schemas.microsoft.com/office/drawing/2014/main" id="{7DB2752E-2464-4FA3-3B46-7ECE778D00D7}"/>
                  </a:ext>
                </a:extLst>
              </p:cNvPr>
              <p:cNvSpPr/>
              <p:nvPr/>
            </p:nvSpPr>
            <p:spPr>
              <a:xfrm>
                <a:off x="8287034" y="2743403"/>
                <a:ext cx="2249228" cy="1203174"/>
              </a:xfrm>
              <a:prstGeom prst="roundRect">
                <a:avLst/>
              </a:prstGeom>
              <a:solidFill>
                <a:srgbClr val="FFFFFF"/>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t>Additional</a:t>
                </a:r>
              </a:p>
              <a:p>
                <a:pPr algn="ctr"/>
                <a:r>
                  <a:rPr lang="en-US" sz="1300" dirty="0"/>
                  <a:t>State (if needed by implementation)</a:t>
                </a:r>
              </a:p>
            </p:txBody>
          </p:sp>
          <p:cxnSp>
            <p:nvCxnSpPr>
              <p:cNvPr id="13" name="Straight Arrow Connector 12">
                <a:extLst>
                  <a:ext uri="{FF2B5EF4-FFF2-40B4-BE49-F238E27FC236}">
                    <a16:creationId xmlns:a16="http://schemas.microsoft.com/office/drawing/2014/main" id="{EAB7EB41-E1B1-5A94-01E7-E49C9584BB91}"/>
                  </a:ext>
                </a:extLst>
              </p:cNvPr>
              <p:cNvCxnSpPr>
                <a:cxnSpLocks/>
                <a:endCxn id="8" idx="1"/>
              </p:cNvCxnSpPr>
              <p:nvPr/>
            </p:nvCxnSpPr>
            <p:spPr>
              <a:xfrm>
                <a:off x="1672043" y="3050675"/>
                <a:ext cx="478974" cy="1"/>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97FFB542-A7D5-6305-7992-4E07DEAC5C66}"/>
                  </a:ext>
                </a:extLst>
              </p:cNvPr>
              <p:cNvCxnSpPr>
                <a:cxnSpLocks/>
                <a:endCxn id="9" idx="1"/>
              </p:cNvCxnSpPr>
              <p:nvPr/>
            </p:nvCxnSpPr>
            <p:spPr>
              <a:xfrm>
                <a:off x="1671148" y="5673935"/>
                <a:ext cx="478971" cy="45"/>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24" name="Rounded Rectangle 23">
                <a:extLst>
                  <a:ext uri="{FF2B5EF4-FFF2-40B4-BE49-F238E27FC236}">
                    <a16:creationId xmlns:a16="http://schemas.microsoft.com/office/drawing/2014/main" id="{A1772970-9241-54C4-3A16-71DAFA412281}"/>
                  </a:ext>
                </a:extLst>
              </p:cNvPr>
              <p:cNvSpPr/>
              <p:nvPr/>
            </p:nvSpPr>
            <p:spPr>
              <a:xfrm>
                <a:off x="5120640" y="1515795"/>
                <a:ext cx="1750423" cy="42862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t>“Decoder”</a:t>
                </a:r>
              </a:p>
            </p:txBody>
          </p:sp>
          <p:cxnSp>
            <p:nvCxnSpPr>
              <p:cNvPr id="37" name="Curved Connector 36">
                <a:extLst>
                  <a:ext uri="{FF2B5EF4-FFF2-40B4-BE49-F238E27FC236}">
                    <a16:creationId xmlns:a16="http://schemas.microsoft.com/office/drawing/2014/main" id="{89EBD37B-7180-E204-03DD-8B9D122B047B}"/>
                  </a:ext>
                </a:extLst>
              </p:cNvPr>
              <p:cNvCxnSpPr>
                <a:cxnSpLocks/>
                <a:stCxn id="4" idx="0"/>
                <a:endCxn id="24" idx="1"/>
              </p:cNvCxnSpPr>
              <p:nvPr/>
            </p:nvCxnSpPr>
            <p:spPr>
              <a:xfrm rot="5400000" flipH="1" flipV="1">
                <a:off x="2802733" y="142220"/>
                <a:ext cx="730019" cy="3905795"/>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grpSp>
            <p:nvGrpSpPr>
              <p:cNvPr id="108" name="Group 107">
                <a:extLst>
                  <a:ext uri="{FF2B5EF4-FFF2-40B4-BE49-F238E27FC236}">
                    <a16:creationId xmlns:a16="http://schemas.microsoft.com/office/drawing/2014/main" id="{F870AC2B-1EE9-CC5D-E964-86C81463EF5D}"/>
                  </a:ext>
                </a:extLst>
              </p:cNvPr>
              <p:cNvGrpSpPr/>
              <p:nvPr/>
            </p:nvGrpSpPr>
            <p:grpSpPr>
              <a:xfrm>
                <a:off x="1213948" y="1730107"/>
                <a:ext cx="3906692" cy="3353324"/>
                <a:chOff x="1213948" y="1730107"/>
                <a:chExt cx="3906692" cy="3353324"/>
              </a:xfrm>
            </p:grpSpPr>
            <p:cxnSp>
              <p:nvCxnSpPr>
                <p:cNvPr id="41" name="Curved Connector 40">
                  <a:extLst>
                    <a:ext uri="{FF2B5EF4-FFF2-40B4-BE49-F238E27FC236}">
                      <a16:creationId xmlns:a16="http://schemas.microsoft.com/office/drawing/2014/main" id="{7F609686-4E2F-FFF5-DA33-621A7A4B47D8}"/>
                    </a:ext>
                  </a:extLst>
                </p:cNvPr>
                <p:cNvCxnSpPr>
                  <a:cxnSpLocks/>
                  <a:endCxn id="24" idx="1"/>
                </p:cNvCxnSpPr>
                <p:nvPr/>
              </p:nvCxnSpPr>
              <p:spPr>
                <a:xfrm flipV="1">
                  <a:off x="2443963" y="1730107"/>
                  <a:ext cx="2676677" cy="2587518"/>
                </a:xfrm>
                <a:prstGeom prst="curvedConnector3">
                  <a:avLst>
                    <a:gd name="adj1" fmla="val 62829"/>
                  </a:avLst>
                </a:prstGeom>
                <a:ln>
                  <a:tailEnd type="triangle"/>
                </a:ln>
              </p:spPr>
              <p:style>
                <a:lnRef idx="2">
                  <a:schemeClr val="dk1"/>
                </a:lnRef>
                <a:fillRef idx="0">
                  <a:schemeClr val="dk1"/>
                </a:fillRef>
                <a:effectRef idx="1">
                  <a:schemeClr val="dk1"/>
                </a:effectRef>
                <a:fontRef idx="minor">
                  <a:schemeClr val="tx1"/>
                </a:fontRef>
              </p:style>
            </p:cxnSp>
            <p:cxnSp>
              <p:nvCxnSpPr>
                <p:cNvPr id="48" name="Curved Connector 47">
                  <a:extLst>
                    <a:ext uri="{FF2B5EF4-FFF2-40B4-BE49-F238E27FC236}">
                      <a16:creationId xmlns:a16="http://schemas.microsoft.com/office/drawing/2014/main" id="{A77FF160-56E2-59B9-DCD5-9370C038B924}"/>
                    </a:ext>
                  </a:extLst>
                </p:cNvPr>
                <p:cNvCxnSpPr>
                  <a:cxnSpLocks/>
                  <a:stCxn id="6" idx="0"/>
                </p:cNvCxnSpPr>
                <p:nvPr/>
              </p:nvCxnSpPr>
              <p:spPr>
                <a:xfrm rot="5400000" flipH="1" flipV="1">
                  <a:off x="1450973" y="4080601"/>
                  <a:ext cx="765805" cy="1239855"/>
                </a:xfrm>
                <a:prstGeom prst="curvedConnector2">
                  <a:avLst/>
                </a:prstGeom>
                <a:ln>
                  <a:tailEnd type="none"/>
                </a:ln>
              </p:spPr>
              <p:style>
                <a:lnRef idx="2">
                  <a:schemeClr val="dk1"/>
                </a:lnRef>
                <a:fillRef idx="0">
                  <a:schemeClr val="dk1"/>
                </a:fillRef>
                <a:effectRef idx="1">
                  <a:schemeClr val="dk1"/>
                </a:effectRef>
                <a:fontRef idx="minor">
                  <a:schemeClr val="tx1"/>
                </a:fontRef>
              </p:style>
            </p:cxnSp>
          </p:grpSp>
          <p:sp>
            <p:nvSpPr>
              <p:cNvPr id="60" name="Rounded Rectangle 59">
                <a:extLst>
                  <a:ext uri="{FF2B5EF4-FFF2-40B4-BE49-F238E27FC236}">
                    <a16:creationId xmlns:a16="http://schemas.microsoft.com/office/drawing/2014/main" id="{8861B845-E47C-B7C8-E8B2-45FB62C6347B}"/>
                  </a:ext>
                </a:extLst>
              </p:cNvPr>
              <p:cNvSpPr/>
              <p:nvPr/>
            </p:nvSpPr>
            <p:spPr>
              <a:xfrm>
                <a:off x="5107037" y="2232524"/>
                <a:ext cx="1750423" cy="530414"/>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t>Crack + queue operations</a:t>
                </a:r>
              </a:p>
            </p:txBody>
          </p:sp>
          <p:cxnSp>
            <p:nvCxnSpPr>
              <p:cNvPr id="61" name="Straight Arrow Connector 60">
                <a:extLst>
                  <a:ext uri="{FF2B5EF4-FFF2-40B4-BE49-F238E27FC236}">
                    <a16:creationId xmlns:a16="http://schemas.microsoft.com/office/drawing/2014/main" id="{2AE9C165-F393-40DF-CFED-F9145D6E963C}"/>
                  </a:ext>
                </a:extLst>
              </p:cNvPr>
              <p:cNvCxnSpPr>
                <a:cxnSpLocks/>
                <a:stCxn id="24" idx="2"/>
                <a:endCxn id="60" idx="0"/>
              </p:cNvCxnSpPr>
              <p:nvPr/>
            </p:nvCxnSpPr>
            <p:spPr>
              <a:xfrm flipH="1">
                <a:off x="5982248" y="1944418"/>
                <a:ext cx="13604" cy="288106"/>
              </a:xfrm>
              <a:prstGeom prst="straightConnector1">
                <a:avLst/>
              </a:prstGeom>
              <a:ln>
                <a:headEnd type="none"/>
                <a:tailEnd type="triangle"/>
              </a:ln>
            </p:spPr>
            <p:style>
              <a:lnRef idx="2">
                <a:schemeClr val="dk1"/>
              </a:lnRef>
              <a:fillRef idx="0">
                <a:schemeClr val="dk1"/>
              </a:fillRef>
              <a:effectRef idx="1">
                <a:schemeClr val="dk1"/>
              </a:effectRef>
              <a:fontRef idx="minor">
                <a:schemeClr val="tx1"/>
              </a:fontRef>
            </p:style>
          </p:cxnSp>
          <p:grpSp>
            <p:nvGrpSpPr>
              <p:cNvPr id="90" name="Group 89">
                <a:extLst>
                  <a:ext uri="{FF2B5EF4-FFF2-40B4-BE49-F238E27FC236}">
                    <a16:creationId xmlns:a16="http://schemas.microsoft.com/office/drawing/2014/main" id="{89FA732B-176F-7553-94F2-929A5C69FFF1}"/>
                  </a:ext>
                </a:extLst>
              </p:cNvPr>
              <p:cNvGrpSpPr/>
              <p:nvPr/>
            </p:nvGrpSpPr>
            <p:grpSpPr>
              <a:xfrm>
                <a:off x="5120639" y="3929998"/>
                <a:ext cx="1750423" cy="1358718"/>
                <a:chOff x="5120639" y="3836534"/>
                <a:chExt cx="1750423" cy="1358718"/>
              </a:xfrm>
            </p:grpSpPr>
            <p:sp>
              <p:nvSpPr>
                <p:cNvPr id="65" name="Rounded Rectangle 64">
                  <a:extLst>
                    <a:ext uri="{FF2B5EF4-FFF2-40B4-BE49-F238E27FC236}">
                      <a16:creationId xmlns:a16="http://schemas.microsoft.com/office/drawing/2014/main" id="{5DCC084C-A3EC-F16D-42C5-08B205B0A46E}"/>
                    </a:ext>
                  </a:extLst>
                </p:cNvPr>
                <p:cNvSpPr/>
                <p:nvPr/>
              </p:nvSpPr>
              <p:spPr>
                <a:xfrm>
                  <a:off x="6315729" y="3836534"/>
                  <a:ext cx="555333" cy="1358718"/>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p>
                <a:p>
                  <a:pPr algn="ctr"/>
                  <a:r>
                    <a:rPr lang="en-US" dirty="0"/>
                    <a:t>I</a:t>
                  </a:r>
                </a:p>
                <a:p>
                  <a:pPr algn="ctr"/>
                  <a:r>
                    <a:rPr lang="en-US" dirty="0"/>
                    <a:t>P</a:t>
                  </a:r>
                </a:p>
                <a:p>
                  <a:pPr algn="ctr"/>
                  <a:r>
                    <a:rPr lang="en-US" dirty="0"/>
                    <a:t>E</a:t>
                  </a:r>
                </a:p>
              </p:txBody>
            </p:sp>
            <p:sp>
              <p:nvSpPr>
                <p:cNvPr id="66" name="Rounded Rectangle 65">
                  <a:extLst>
                    <a:ext uri="{FF2B5EF4-FFF2-40B4-BE49-F238E27FC236}">
                      <a16:creationId xmlns:a16="http://schemas.microsoft.com/office/drawing/2014/main" id="{685957BA-9B89-1CC8-5BC1-F2C92C01BB91}"/>
                    </a:ext>
                  </a:extLst>
                </p:cNvPr>
                <p:cNvSpPr/>
                <p:nvPr/>
              </p:nvSpPr>
              <p:spPr>
                <a:xfrm>
                  <a:off x="5718184" y="3836534"/>
                  <a:ext cx="555333" cy="1358718"/>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t>P</a:t>
                  </a:r>
                </a:p>
                <a:p>
                  <a:pPr algn="ctr"/>
                  <a:r>
                    <a:rPr lang="en-US" sz="1300" dirty="0"/>
                    <a:t>I</a:t>
                  </a:r>
                </a:p>
                <a:p>
                  <a:pPr algn="ctr"/>
                  <a:r>
                    <a:rPr lang="en-US" sz="1300" dirty="0"/>
                    <a:t>P</a:t>
                  </a:r>
                </a:p>
                <a:p>
                  <a:pPr algn="ctr"/>
                  <a:r>
                    <a:rPr lang="en-US" sz="1300" dirty="0"/>
                    <a:t>E</a:t>
                  </a:r>
                </a:p>
              </p:txBody>
            </p:sp>
            <p:sp>
              <p:nvSpPr>
                <p:cNvPr id="67" name="Rounded Rectangle 66">
                  <a:extLst>
                    <a:ext uri="{FF2B5EF4-FFF2-40B4-BE49-F238E27FC236}">
                      <a16:creationId xmlns:a16="http://schemas.microsoft.com/office/drawing/2014/main" id="{4E5C9E7E-3198-72D1-2AE2-485EE2D680F9}"/>
                    </a:ext>
                  </a:extLst>
                </p:cNvPr>
                <p:cNvSpPr/>
                <p:nvPr/>
              </p:nvSpPr>
              <p:spPr>
                <a:xfrm>
                  <a:off x="5120639" y="3836534"/>
                  <a:ext cx="555333" cy="1358718"/>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t>P</a:t>
                  </a:r>
                </a:p>
                <a:p>
                  <a:pPr algn="ctr"/>
                  <a:r>
                    <a:rPr lang="en-US" sz="1300" dirty="0"/>
                    <a:t>I</a:t>
                  </a:r>
                </a:p>
                <a:p>
                  <a:pPr algn="ctr"/>
                  <a:r>
                    <a:rPr lang="en-US" sz="1300" dirty="0"/>
                    <a:t>P</a:t>
                  </a:r>
                </a:p>
                <a:p>
                  <a:pPr algn="ctr"/>
                  <a:r>
                    <a:rPr lang="en-US" sz="1300" dirty="0"/>
                    <a:t>E</a:t>
                  </a:r>
                </a:p>
              </p:txBody>
            </p:sp>
          </p:grpSp>
          <p:cxnSp>
            <p:nvCxnSpPr>
              <p:cNvPr id="69" name="Straight Arrow Connector 68">
                <a:extLst>
                  <a:ext uri="{FF2B5EF4-FFF2-40B4-BE49-F238E27FC236}">
                    <a16:creationId xmlns:a16="http://schemas.microsoft.com/office/drawing/2014/main" id="{CECC6BE5-A9B5-7130-4F48-96B43D6CCA00}"/>
                  </a:ext>
                </a:extLst>
              </p:cNvPr>
              <p:cNvCxnSpPr>
                <a:cxnSpLocks/>
                <a:endCxn id="67" idx="0"/>
              </p:cNvCxnSpPr>
              <p:nvPr/>
            </p:nvCxnSpPr>
            <p:spPr>
              <a:xfrm>
                <a:off x="5398303" y="3558060"/>
                <a:ext cx="3" cy="371938"/>
              </a:xfrm>
              <a:prstGeom prst="straightConnector1">
                <a:avLst/>
              </a:prstGeom>
              <a:ln>
                <a:headEnd type="none"/>
                <a:tailEnd type="triangle"/>
              </a:ln>
            </p:spPr>
            <p:style>
              <a:lnRef idx="2">
                <a:schemeClr val="dk1"/>
              </a:lnRef>
              <a:fillRef idx="0">
                <a:schemeClr val="dk1"/>
              </a:fillRef>
              <a:effectRef idx="1">
                <a:schemeClr val="dk1"/>
              </a:effectRef>
              <a:fontRef idx="minor">
                <a:schemeClr val="tx1"/>
              </a:fontRef>
            </p:style>
          </p:cxnSp>
          <p:cxnSp>
            <p:nvCxnSpPr>
              <p:cNvPr id="70" name="Straight Arrow Connector 69">
                <a:extLst>
                  <a:ext uri="{FF2B5EF4-FFF2-40B4-BE49-F238E27FC236}">
                    <a16:creationId xmlns:a16="http://schemas.microsoft.com/office/drawing/2014/main" id="{A1904738-6B7C-AFD4-C0E9-915881084C51}"/>
                  </a:ext>
                </a:extLst>
              </p:cNvPr>
              <p:cNvCxnSpPr>
                <a:cxnSpLocks/>
                <a:stCxn id="89" idx="2"/>
                <a:endCxn id="66" idx="0"/>
              </p:cNvCxnSpPr>
              <p:nvPr/>
            </p:nvCxnSpPr>
            <p:spPr>
              <a:xfrm>
                <a:off x="5995847" y="3575550"/>
                <a:ext cx="4" cy="354448"/>
              </a:xfrm>
              <a:prstGeom prst="straightConnector1">
                <a:avLst/>
              </a:prstGeom>
              <a:ln>
                <a:headEnd type="none"/>
                <a:tailEnd type="triangle"/>
              </a:ln>
            </p:spPr>
            <p:style>
              <a:lnRef idx="2">
                <a:schemeClr val="dk1"/>
              </a:lnRef>
              <a:fillRef idx="0">
                <a:schemeClr val="dk1"/>
              </a:fillRef>
              <a:effectRef idx="1">
                <a:schemeClr val="dk1"/>
              </a:effectRef>
              <a:fontRef idx="minor">
                <a:schemeClr val="tx1"/>
              </a:fontRef>
            </p:style>
          </p:cxnSp>
          <p:sp>
            <p:nvSpPr>
              <p:cNvPr id="72" name="Rounded Rectangle 71">
                <a:extLst>
                  <a:ext uri="{FF2B5EF4-FFF2-40B4-BE49-F238E27FC236}">
                    <a16:creationId xmlns:a16="http://schemas.microsoft.com/office/drawing/2014/main" id="{4EB7891E-729B-7017-AD9C-9F8258CFD39B}"/>
                  </a:ext>
                </a:extLst>
              </p:cNvPr>
              <p:cNvSpPr/>
              <p:nvPr/>
            </p:nvSpPr>
            <p:spPr>
              <a:xfrm>
                <a:off x="5120636" y="5643162"/>
                <a:ext cx="1750423" cy="647702"/>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t>Write outputs</a:t>
                </a:r>
              </a:p>
            </p:txBody>
          </p:sp>
          <p:cxnSp>
            <p:nvCxnSpPr>
              <p:cNvPr id="73" name="Straight Arrow Connector 72">
                <a:extLst>
                  <a:ext uri="{FF2B5EF4-FFF2-40B4-BE49-F238E27FC236}">
                    <a16:creationId xmlns:a16="http://schemas.microsoft.com/office/drawing/2014/main" id="{89224A36-E993-226B-D71E-EB9DBFAE3090}"/>
                  </a:ext>
                </a:extLst>
              </p:cNvPr>
              <p:cNvCxnSpPr>
                <a:cxnSpLocks/>
                <a:stCxn id="67" idx="2"/>
              </p:cNvCxnSpPr>
              <p:nvPr/>
            </p:nvCxnSpPr>
            <p:spPr>
              <a:xfrm flipH="1">
                <a:off x="5398303" y="5288716"/>
                <a:ext cx="3" cy="354446"/>
              </a:xfrm>
              <a:prstGeom prst="straightConnector1">
                <a:avLst/>
              </a:prstGeom>
              <a:ln>
                <a:headEnd type="none"/>
                <a:tailEnd type="triangle"/>
              </a:ln>
            </p:spPr>
            <p:style>
              <a:lnRef idx="2">
                <a:schemeClr val="dk1"/>
              </a:lnRef>
              <a:fillRef idx="0">
                <a:schemeClr val="dk1"/>
              </a:fillRef>
              <a:effectRef idx="1">
                <a:schemeClr val="dk1"/>
              </a:effectRef>
              <a:fontRef idx="minor">
                <a:schemeClr val="tx1"/>
              </a:fontRef>
            </p:style>
          </p:cxnSp>
          <p:cxnSp>
            <p:nvCxnSpPr>
              <p:cNvPr id="74" name="Straight Arrow Connector 73">
                <a:extLst>
                  <a:ext uri="{FF2B5EF4-FFF2-40B4-BE49-F238E27FC236}">
                    <a16:creationId xmlns:a16="http://schemas.microsoft.com/office/drawing/2014/main" id="{3C88DB12-42CA-9458-6999-C3AE51C35F2A}"/>
                  </a:ext>
                </a:extLst>
              </p:cNvPr>
              <p:cNvCxnSpPr>
                <a:cxnSpLocks/>
                <a:stCxn id="66" idx="2"/>
                <a:endCxn id="72" idx="0"/>
              </p:cNvCxnSpPr>
              <p:nvPr/>
            </p:nvCxnSpPr>
            <p:spPr>
              <a:xfrm flipH="1">
                <a:off x="5995848" y="5288716"/>
                <a:ext cx="3" cy="354446"/>
              </a:xfrm>
              <a:prstGeom prst="straightConnector1">
                <a:avLst/>
              </a:prstGeom>
              <a:ln>
                <a:headEnd type="none"/>
                <a:tailEnd type="triangle"/>
              </a:ln>
            </p:spPr>
            <p:style>
              <a:lnRef idx="2">
                <a:schemeClr val="dk1"/>
              </a:lnRef>
              <a:fillRef idx="0">
                <a:schemeClr val="dk1"/>
              </a:fillRef>
              <a:effectRef idx="1">
                <a:schemeClr val="dk1"/>
              </a:effectRef>
              <a:fontRef idx="minor">
                <a:schemeClr val="tx1"/>
              </a:fontRef>
            </p:style>
          </p:cxnSp>
          <p:sp>
            <p:nvSpPr>
              <p:cNvPr id="89" name="Rounded Rectangle 88">
                <a:extLst>
                  <a:ext uri="{FF2B5EF4-FFF2-40B4-BE49-F238E27FC236}">
                    <a16:creationId xmlns:a16="http://schemas.microsoft.com/office/drawing/2014/main" id="{8CED4F45-E6F5-6723-C4E1-AF5B25DD4416}"/>
                  </a:ext>
                </a:extLst>
              </p:cNvPr>
              <p:cNvSpPr/>
              <p:nvPr/>
            </p:nvSpPr>
            <p:spPr>
              <a:xfrm>
                <a:off x="5120635" y="3114432"/>
                <a:ext cx="1750423" cy="461118"/>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Fetch inputs</a:t>
                </a:r>
              </a:p>
            </p:txBody>
          </p:sp>
          <p:cxnSp>
            <p:nvCxnSpPr>
              <p:cNvPr id="105" name="Straight Arrow Connector 104">
                <a:extLst>
                  <a:ext uri="{FF2B5EF4-FFF2-40B4-BE49-F238E27FC236}">
                    <a16:creationId xmlns:a16="http://schemas.microsoft.com/office/drawing/2014/main" id="{52F0DF98-286B-E84B-215F-0EEBD96A3A5C}"/>
                  </a:ext>
                </a:extLst>
              </p:cNvPr>
              <p:cNvCxnSpPr>
                <a:cxnSpLocks/>
                <a:stCxn id="60" idx="2"/>
                <a:endCxn id="89" idx="0"/>
              </p:cNvCxnSpPr>
              <p:nvPr/>
            </p:nvCxnSpPr>
            <p:spPr>
              <a:xfrm>
                <a:off x="5982248" y="2762938"/>
                <a:ext cx="13598" cy="351493"/>
              </a:xfrm>
              <a:prstGeom prst="straightConnector1">
                <a:avLst/>
              </a:prstGeom>
              <a:ln>
                <a:headEnd type="none"/>
                <a:tailEnd type="triangle"/>
              </a:ln>
            </p:spPr>
            <p:style>
              <a:lnRef idx="2">
                <a:schemeClr val="dk1"/>
              </a:lnRef>
              <a:fillRef idx="0">
                <a:schemeClr val="dk1"/>
              </a:fillRef>
              <a:effectRef idx="1">
                <a:schemeClr val="dk1"/>
              </a:effectRef>
              <a:fontRef idx="minor">
                <a:schemeClr val="tx1"/>
              </a:fontRef>
            </p:style>
          </p:cxnSp>
          <p:cxnSp>
            <p:nvCxnSpPr>
              <p:cNvPr id="117" name="Curved Connector 116">
                <a:extLst>
                  <a:ext uri="{FF2B5EF4-FFF2-40B4-BE49-F238E27FC236}">
                    <a16:creationId xmlns:a16="http://schemas.microsoft.com/office/drawing/2014/main" id="{4C6A83CA-8BAF-92D9-D0FD-457E0B552DC6}"/>
                  </a:ext>
                </a:extLst>
              </p:cNvPr>
              <p:cNvCxnSpPr>
                <a:cxnSpLocks/>
                <a:stCxn id="72" idx="1"/>
                <a:endCxn id="8" idx="2"/>
              </p:cNvCxnSpPr>
              <p:nvPr/>
            </p:nvCxnSpPr>
            <p:spPr>
              <a:xfrm rot="10800000">
                <a:off x="2864444" y="3374528"/>
                <a:ext cx="2256192" cy="2592487"/>
              </a:xfrm>
              <a:prstGeom prst="curvedConnector2">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149" name="Curved Connector 148">
                <a:extLst>
                  <a:ext uri="{FF2B5EF4-FFF2-40B4-BE49-F238E27FC236}">
                    <a16:creationId xmlns:a16="http://schemas.microsoft.com/office/drawing/2014/main" id="{3BB4418C-5EC9-50EB-4290-CC0DC2B22527}"/>
                  </a:ext>
                </a:extLst>
              </p:cNvPr>
              <p:cNvCxnSpPr>
                <a:cxnSpLocks/>
                <a:stCxn id="72" idx="1"/>
                <a:endCxn id="9" idx="2"/>
              </p:cNvCxnSpPr>
              <p:nvPr/>
            </p:nvCxnSpPr>
            <p:spPr>
              <a:xfrm rot="10800000" flipV="1">
                <a:off x="2863997" y="5967014"/>
                <a:ext cx="2256639" cy="30817"/>
              </a:xfrm>
              <a:prstGeom prst="curvedConnector4">
                <a:avLst>
                  <a:gd name="adj1" fmla="val 35924"/>
                  <a:gd name="adj2" fmla="val 2777843"/>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172" name="Straight Arrow Connector 171">
                <a:extLst>
                  <a:ext uri="{FF2B5EF4-FFF2-40B4-BE49-F238E27FC236}">
                    <a16:creationId xmlns:a16="http://schemas.microsoft.com/office/drawing/2014/main" id="{4BB37AB9-B666-22CE-F6B7-E3AE10BB3539}"/>
                  </a:ext>
                </a:extLst>
              </p:cNvPr>
              <p:cNvCxnSpPr>
                <a:cxnSpLocks/>
                <a:stCxn id="8" idx="3"/>
              </p:cNvCxnSpPr>
              <p:nvPr/>
            </p:nvCxnSpPr>
            <p:spPr>
              <a:xfrm>
                <a:off x="3577871" y="3050676"/>
                <a:ext cx="1529166" cy="1909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3" name="Straight Arrow Connector 172">
                <a:extLst>
                  <a:ext uri="{FF2B5EF4-FFF2-40B4-BE49-F238E27FC236}">
                    <a16:creationId xmlns:a16="http://schemas.microsoft.com/office/drawing/2014/main" id="{B53319A3-9BFA-99E3-8EC3-290BE5B72BF2}"/>
                  </a:ext>
                </a:extLst>
              </p:cNvPr>
              <p:cNvCxnSpPr>
                <a:cxnSpLocks/>
                <a:stCxn id="9" idx="3"/>
                <a:endCxn id="89" idx="1"/>
              </p:cNvCxnSpPr>
              <p:nvPr/>
            </p:nvCxnSpPr>
            <p:spPr>
              <a:xfrm flipV="1">
                <a:off x="3577875" y="3344991"/>
                <a:ext cx="1542760" cy="2328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CF7FA7CE-5F42-A209-BCF5-68DF07D3574E}"/>
                  </a:ext>
                </a:extLst>
              </p:cNvPr>
              <p:cNvCxnSpPr>
                <a:cxnSpLocks/>
                <a:stCxn id="10" idx="1"/>
                <a:endCxn id="89" idx="3"/>
              </p:cNvCxnSpPr>
              <p:nvPr/>
            </p:nvCxnSpPr>
            <p:spPr>
              <a:xfrm flipH="1">
                <a:off x="6871058" y="3344991"/>
                <a:ext cx="1415976" cy="0"/>
              </a:xfrm>
              <a:prstGeom prst="straightConnector1">
                <a:avLst/>
              </a:prstGeom>
              <a:ln>
                <a:solidFill>
                  <a:srgbClr val="00B05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83" name="Straight Arrow Connector 182">
                <a:extLst>
                  <a:ext uri="{FF2B5EF4-FFF2-40B4-BE49-F238E27FC236}">
                    <a16:creationId xmlns:a16="http://schemas.microsoft.com/office/drawing/2014/main" id="{1229E930-834A-2CFD-F6D3-06010C4A3850}"/>
                  </a:ext>
                </a:extLst>
              </p:cNvPr>
              <p:cNvCxnSpPr>
                <a:cxnSpLocks/>
                <a:stCxn id="72" idx="3"/>
                <a:endCxn id="10" idx="2"/>
              </p:cNvCxnSpPr>
              <p:nvPr/>
            </p:nvCxnSpPr>
            <p:spPr>
              <a:xfrm flipV="1">
                <a:off x="6871059" y="3946577"/>
                <a:ext cx="2540590" cy="2020437"/>
              </a:xfrm>
              <a:prstGeom prst="straightConnector1">
                <a:avLst/>
              </a:prstGeom>
              <a:ln>
                <a:solidFill>
                  <a:srgbClr val="00B05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86" name="Straight Arrow Connector 185">
                <a:extLst>
                  <a:ext uri="{FF2B5EF4-FFF2-40B4-BE49-F238E27FC236}">
                    <a16:creationId xmlns:a16="http://schemas.microsoft.com/office/drawing/2014/main" id="{DE6F7CB4-9E8F-BCD9-7704-08DE7C7F788E}"/>
                  </a:ext>
                </a:extLst>
              </p:cNvPr>
              <p:cNvCxnSpPr>
                <a:cxnSpLocks/>
              </p:cNvCxnSpPr>
              <p:nvPr/>
            </p:nvCxnSpPr>
            <p:spPr>
              <a:xfrm>
                <a:off x="6593392" y="3560250"/>
                <a:ext cx="4" cy="354448"/>
              </a:xfrm>
              <a:prstGeom prst="straightConnector1">
                <a:avLst/>
              </a:prstGeom>
              <a:ln>
                <a:headEnd type="none"/>
                <a:tailEnd type="triangle"/>
              </a:ln>
            </p:spPr>
            <p:style>
              <a:lnRef idx="2">
                <a:schemeClr val="dk1"/>
              </a:lnRef>
              <a:fillRef idx="0">
                <a:schemeClr val="dk1"/>
              </a:fillRef>
              <a:effectRef idx="1">
                <a:schemeClr val="dk1"/>
              </a:effectRef>
              <a:fontRef idx="minor">
                <a:schemeClr val="tx1"/>
              </a:fontRef>
            </p:style>
          </p:cxnSp>
          <p:cxnSp>
            <p:nvCxnSpPr>
              <p:cNvPr id="187" name="Straight Arrow Connector 186">
                <a:extLst>
                  <a:ext uri="{FF2B5EF4-FFF2-40B4-BE49-F238E27FC236}">
                    <a16:creationId xmlns:a16="http://schemas.microsoft.com/office/drawing/2014/main" id="{AB55C03E-5FCC-1CF0-8D55-AF4A378D4507}"/>
                  </a:ext>
                </a:extLst>
              </p:cNvPr>
              <p:cNvCxnSpPr>
                <a:cxnSpLocks/>
              </p:cNvCxnSpPr>
              <p:nvPr/>
            </p:nvCxnSpPr>
            <p:spPr>
              <a:xfrm>
                <a:off x="6593384" y="5304016"/>
                <a:ext cx="4" cy="354448"/>
              </a:xfrm>
              <a:prstGeom prst="straightConnector1">
                <a:avLst/>
              </a:prstGeom>
              <a:ln>
                <a:headEnd type="none"/>
                <a:tailEnd type="triangle"/>
              </a:ln>
            </p:spPr>
            <p:style>
              <a:lnRef idx="2">
                <a:schemeClr val="dk1"/>
              </a:lnRef>
              <a:fillRef idx="0">
                <a:schemeClr val="dk1"/>
              </a:fillRef>
              <a:effectRef idx="1">
                <a:schemeClr val="dk1"/>
              </a:effectRef>
              <a:fontRef idx="minor">
                <a:schemeClr val="tx1"/>
              </a:fontRef>
            </p:style>
          </p:cxnSp>
          <p:sp>
            <p:nvSpPr>
              <p:cNvPr id="210" name="TextBox 209">
                <a:extLst>
                  <a:ext uri="{FF2B5EF4-FFF2-40B4-BE49-F238E27FC236}">
                    <a16:creationId xmlns:a16="http://schemas.microsoft.com/office/drawing/2014/main" id="{F3005C47-F821-53B9-651C-B2C5CF70BDE9}"/>
                  </a:ext>
                </a:extLst>
              </p:cNvPr>
              <p:cNvSpPr txBox="1"/>
              <p:nvPr/>
            </p:nvSpPr>
            <p:spPr>
              <a:xfrm>
                <a:off x="5391731" y="6389765"/>
                <a:ext cx="1056700" cy="369332"/>
              </a:xfrm>
              <a:prstGeom prst="rect">
                <a:avLst/>
              </a:prstGeom>
              <a:noFill/>
            </p:spPr>
            <p:txBody>
              <a:bodyPr wrap="none" rtlCol="0">
                <a:spAutoFit/>
              </a:bodyPr>
              <a:lstStyle/>
              <a:p>
                <a:r>
                  <a:rPr lang="en-US" sz="1800" b="1" dirty="0">
                    <a:solidFill>
                      <a:srgbClr val="FF0000"/>
                    </a:solidFill>
                  </a:rPr>
                  <a:t>ACE XU</a:t>
                </a:r>
              </a:p>
            </p:txBody>
          </p:sp>
        </p:grpSp>
      </p:grpSp>
      <p:sp>
        <p:nvSpPr>
          <p:cNvPr id="7" name="Google Shape;153;p26">
            <a:extLst>
              <a:ext uri="{FF2B5EF4-FFF2-40B4-BE49-F238E27FC236}">
                <a16:creationId xmlns:a16="http://schemas.microsoft.com/office/drawing/2014/main" id="{510E07F6-32E1-6103-5FF0-716EBA373B98}"/>
              </a:ext>
            </a:extLst>
          </p:cNvPr>
          <p:cNvSpPr txBox="1">
            <a:spLocks noGrp="1"/>
          </p:cNvSpPr>
          <p:nvPr>
            <p:ph type="title"/>
          </p:nvPr>
        </p:nvSpPr>
        <p:spPr>
          <a:xfrm>
            <a:off x="526520" y="628015"/>
            <a:ext cx="11160000" cy="647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US" dirty="0"/>
              <a:t>A possible implementation</a:t>
            </a:r>
            <a:endParaRPr dirty="0"/>
          </a:p>
        </p:txBody>
      </p:sp>
    </p:spTree>
    <p:extLst>
      <p:ext uri="{BB962C8B-B14F-4D97-AF65-F5344CB8AC3E}">
        <p14:creationId xmlns:p14="http://schemas.microsoft.com/office/powerpoint/2010/main" val="1781845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5"/>
          <p:cNvSpPr txBox="1">
            <a:spLocks noGrp="1"/>
          </p:cNvSpPr>
          <p:nvPr>
            <p:ph type="body" idx="1"/>
          </p:nvPr>
        </p:nvSpPr>
        <p:spPr>
          <a:xfrm>
            <a:off x="539375" y="1449491"/>
            <a:ext cx="11160300" cy="5221800"/>
          </a:xfrm>
          <a:prstGeom prst="rect">
            <a:avLst/>
          </a:prstGeom>
          <a:noFill/>
          <a:ln>
            <a:noFill/>
          </a:ln>
        </p:spPr>
        <p:txBody>
          <a:bodyPr spcFirstLastPara="1" wrap="square" lIns="0" tIns="0" rIns="0" bIns="0" anchor="t" anchorCtr="0">
            <a:noAutofit/>
          </a:bodyPr>
          <a:lstStyle/>
          <a:p>
            <a:pPr marL="419100" indent="-285750">
              <a:lnSpc>
                <a:spcPct val="115000"/>
              </a:lnSpc>
              <a:spcBef>
                <a:spcPts val="0"/>
              </a:spcBef>
              <a:buSzPts val="1500"/>
            </a:pPr>
            <a:r>
              <a:rPr lang="en-US" sz="1500" dirty="0"/>
              <a:t>Process calls OS API to get an AES-decrypt SCC from a key </a:t>
            </a:r>
            <a:r>
              <a:rPr lang="en-US" sz="1500" dirty="0" err="1"/>
              <a:t>mgmt</a:t>
            </a:r>
            <a:r>
              <a:rPr lang="en-US" sz="1500" dirty="0"/>
              <a:t> applet or HW block. </a:t>
            </a:r>
            <a:r>
              <a:rPr lang="en-US" sz="1500" dirty="0">
                <a:solidFill>
                  <a:schemeClr val="lt1"/>
                </a:solidFill>
              </a:rPr>
              <a:t>Pointer in X5.</a:t>
            </a:r>
            <a:endParaRPr sz="1500" dirty="0">
              <a:solidFill>
                <a:schemeClr val="lt1"/>
              </a:solidFill>
            </a:endParaRPr>
          </a:p>
          <a:p>
            <a:pPr marL="419100" indent="-285750">
              <a:lnSpc>
                <a:spcPct val="115000"/>
              </a:lnSpc>
              <a:spcBef>
                <a:spcPts val="0"/>
              </a:spcBef>
              <a:buSzPts val="1500"/>
            </a:pPr>
            <a:r>
              <a:rPr lang="en-US" sz="1500" dirty="0"/>
              <a:t>Allocate memory for </a:t>
            </a:r>
            <a:r>
              <a:rPr lang="en-US" sz="1500" dirty="0">
                <a:solidFill>
                  <a:schemeClr val="lt1"/>
                </a:solidFill>
              </a:rPr>
              <a:t>plaintext</a:t>
            </a:r>
            <a:r>
              <a:rPr lang="en-US" sz="1500" dirty="0"/>
              <a:t> buffer.</a:t>
            </a:r>
          </a:p>
          <a:p>
            <a:pPr marL="419100" indent="-285750">
              <a:lnSpc>
                <a:spcPct val="115000"/>
              </a:lnSpc>
              <a:spcBef>
                <a:spcPts val="0"/>
              </a:spcBef>
              <a:buSzPts val="1500"/>
            </a:pPr>
            <a:endParaRPr lang="en-US" sz="1500" dirty="0"/>
          </a:p>
          <a:p>
            <a:pPr marL="419100" indent="-285750">
              <a:lnSpc>
                <a:spcPct val="115000"/>
              </a:lnSpc>
              <a:spcBef>
                <a:spcPts val="0"/>
              </a:spcBef>
              <a:buSzPts val="1500"/>
            </a:pPr>
            <a:r>
              <a:rPr lang="en-US" sz="1500" b="1" dirty="0">
                <a:solidFill>
                  <a:srgbClr val="FF0000"/>
                </a:solidFill>
              </a:rPr>
              <a:t>IMPORT</a:t>
            </a:r>
            <a:r>
              <a:rPr lang="en-US" sz="1500" b="1" i="1" dirty="0">
                <a:solidFill>
                  <a:srgbClr val="FF0000"/>
                </a:solidFill>
              </a:rPr>
              <a:t> </a:t>
            </a:r>
            <a:r>
              <a:rPr lang="en-US" sz="1500" b="1" dirty="0">
                <a:solidFill>
                  <a:srgbClr val="FF0000"/>
                </a:solidFill>
              </a:rPr>
              <a:t>K0, (X5)			</a:t>
            </a:r>
            <a:r>
              <a:rPr lang="en-US" sz="1500" dirty="0"/>
              <a:t>// I</a:t>
            </a:r>
            <a:r>
              <a:rPr lang="en-US" sz="1500" dirty="0">
                <a:solidFill>
                  <a:schemeClr val="lt1"/>
                </a:solidFill>
              </a:rPr>
              <a:t>mport the SCC into CR K0</a:t>
            </a:r>
            <a:endParaRPr lang="en-US" sz="1500" dirty="0">
              <a:solidFill>
                <a:schemeClr val="dk1"/>
              </a:solidFill>
            </a:endParaRPr>
          </a:p>
          <a:p>
            <a:pPr marL="419100" indent="-285750">
              <a:lnSpc>
                <a:spcPct val="115000"/>
              </a:lnSpc>
              <a:spcBef>
                <a:spcPts val="0"/>
              </a:spcBef>
              <a:buSzPts val="1500"/>
            </a:pPr>
            <a:r>
              <a:rPr lang="en-US" sz="1500" b="1" dirty="0" err="1">
                <a:solidFill>
                  <a:srgbClr val="FF0000"/>
                </a:solidFill>
              </a:rPr>
              <a:t>ace.getmd</a:t>
            </a:r>
            <a:r>
              <a:rPr lang="en-US" sz="1500" b="1" dirty="0">
                <a:solidFill>
                  <a:srgbClr val="FF0000"/>
                </a:solidFill>
              </a:rPr>
              <a:t> X1, K0			</a:t>
            </a:r>
            <a:r>
              <a:rPr lang="en-US" sz="1500" dirty="0">
                <a:solidFill>
                  <a:schemeClr val="bg1"/>
                </a:solidFill>
              </a:rPr>
              <a:t>// Gets error state</a:t>
            </a:r>
          </a:p>
          <a:p>
            <a:pPr marL="419100" indent="-285750">
              <a:lnSpc>
                <a:spcPct val="115000"/>
              </a:lnSpc>
              <a:spcBef>
                <a:spcPts val="0"/>
              </a:spcBef>
              <a:buSzPts val="1500"/>
            </a:pPr>
            <a:r>
              <a:rPr lang="en-US" sz="1500" dirty="0"/>
              <a:t>if error state in X1 then </a:t>
            </a:r>
            <a:r>
              <a:rPr lang="en-US" sz="1500" dirty="0">
                <a:solidFill>
                  <a:schemeClr val="lt1"/>
                </a:solidFill>
              </a:rPr>
              <a:t>this means that encryption was not allowed: handle error.</a:t>
            </a:r>
            <a:endParaRPr lang="en-US" sz="1500" dirty="0"/>
          </a:p>
          <a:p>
            <a:pPr marL="419100" indent="-285750">
              <a:lnSpc>
                <a:spcPct val="115000"/>
              </a:lnSpc>
              <a:spcBef>
                <a:spcPts val="0"/>
              </a:spcBef>
              <a:buSzPts val="1500"/>
            </a:pPr>
            <a:endParaRPr lang="en-US" sz="1500" b="1" dirty="0">
              <a:solidFill>
                <a:srgbClr val="FF0000"/>
              </a:solidFill>
            </a:endParaRPr>
          </a:p>
          <a:p>
            <a:pPr marL="419100" indent="-285750">
              <a:lnSpc>
                <a:spcPct val="115000"/>
              </a:lnSpc>
              <a:spcBef>
                <a:spcPts val="0"/>
              </a:spcBef>
              <a:buSzPts val="1500"/>
            </a:pPr>
            <a:r>
              <a:rPr lang="en-US" sz="1500" b="1" dirty="0" err="1">
                <a:solidFill>
                  <a:srgbClr val="FF0000"/>
                </a:solidFill>
              </a:rPr>
              <a:t>ace.setst</a:t>
            </a:r>
            <a:r>
              <a:rPr lang="en-US" sz="1500" b="1" dirty="0">
                <a:solidFill>
                  <a:srgbClr val="FF0000"/>
                </a:solidFill>
              </a:rPr>
              <a:t> K0, #</a:t>
            </a:r>
            <a:r>
              <a:rPr lang="en-US" sz="1500" b="1" dirty="0" err="1">
                <a:solidFill>
                  <a:srgbClr val="FF0000"/>
                </a:solidFill>
              </a:rPr>
              <a:t>ace_state_decrypt</a:t>
            </a:r>
            <a:r>
              <a:rPr lang="en-US" sz="1500" dirty="0">
                <a:solidFill>
                  <a:schemeClr val="lt1"/>
                </a:solidFill>
              </a:rPr>
              <a:t>		//</a:t>
            </a:r>
            <a:r>
              <a:rPr lang="en-US" sz="1500" dirty="0">
                <a:solidFill>
                  <a:schemeClr val="dk1"/>
                </a:solidFill>
              </a:rPr>
              <a:t> Not mentioned before, necessary if CC allows enc &amp; dec.</a:t>
            </a:r>
            <a:endParaRPr sz="1500" dirty="0">
              <a:solidFill>
                <a:schemeClr val="lt1"/>
              </a:solidFill>
            </a:endParaRPr>
          </a:p>
          <a:p>
            <a:pPr marL="419100" indent="-285750">
              <a:lnSpc>
                <a:spcPct val="115000"/>
              </a:lnSpc>
              <a:spcBef>
                <a:spcPts val="0"/>
              </a:spcBef>
              <a:buSzPts val="1500"/>
            </a:pPr>
            <a:r>
              <a:rPr lang="en-US" sz="1500" b="1" dirty="0" err="1">
                <a:solidFill>
                  <a:srgbClr val="FF0000"/>
                </a:solidFill>
              </a:rPr>
              <a:t>ace.getmd</a:t>
            </a:r>
            <a:r>
              <a:rPr lang="en-US" sz="1500" b="1" dirty="0">
                <a:solidFill>
                  <a:srgbClr val="FF0000"/>
                </a:solidFill>
              </a:rPr>
              <a:t> X1, K0			</a:t>
            </a:r>
            <a:r>
              <a:rPr lang="en-US" sz="1500" dirty="0">
                <a:solidFill>
                  <a:schemeClr val="bg1"/>
                </a:solidFill>
              </a:rPr>
              <a:t>// Also gets errors</a:t>
            </a:r>
            <a:endParaRPr sz="1500" dirty="0">
              <a:solidFill>
                <a:schemeClr val="bg1"/>
              </a:solidFill>
            </a:endParaRPr>
          </a:p>
          <a:p>
            <a:pPr marL="419100" indent="-285750">
              <a:lnSpc>
                <a:spcPct val="115000"/>
              </a:lnSpc>
              <a:spcBef>
                <a:spcPts val="0"/>
              </a:spcBef>
              <a:buSzPts val="1500"/>
            </a:pPr>
            <a:r>
              <a:rPr lang="en-US" sz="1500" dirty="0"/>
              <a:t>if error state in X1 then </a:t>
            </a:r>
            <a:r>
              <a:rPr lang="en-US" sz="1500" dirty="0">
                <a:solidFill>
                  <a:schemeClr val="lt1"/>
                </a:solidFill>
              </a:rPr>
              <a:t>this means that encryption was not allowed: handle error.</a:t>
            </a:r>
            <a:endParaRPr sz="1500" dirty="0"/>
          </a:p>
          <a:p>
            <a:pPr marL="419100" indent="-285750">
              <a:lnSpc>
                <a:spcPct val="115000"/>
              </a:lnSpc>
              <a:spcBef>
                <a:spcPts val="0"/>
              </a:spcBef>
              <a:buSzPts val="1500"/>
            </a:pPr>
            <a:endParaRPr lang="en-US" sz="1500" dirty="0"/>
          </a:p>
          <a:p>
            <a:pPr marL="419100" indent="-285750">
              <a:lnSpc>
                <a:spcPct val="115000"/>
              </a:lnSpc>
              <a:spcBef>
                <a:spcPts val="0"/>
              </a:spcBef>
              <a:buSzPts val="1500"/>
            </a:pPr>
            <a:r>
              <a:rPr lang="en-US" sz="1500" dirty="0"/>
              <a:t>for </a:t>
            </a:r>
            <a:r>
              <a:rPr lang="en-US" sz="1500" dirty="0" err="1"/>
              <a:t>i</a:t>
            </a:r>
            <a:r>
              <a:rPr lang="en-US" sz="1500" dirty="0"/>
              <a:t> = 0 to ceil(</a:t>
            </a:r>
            <a:r>
              <a:rPr lang="en-US" sz="1500" dirty="0" err="1"/>
              <a:t>len_in_bytes</a:t>
            </a:r>
            <a:r>
              <a:rPr lang="en-US" sz="1500" dirty="0"/>
              <a:t>(</a:t>
            </a:r>
            <a:r>
              <a:rPr lang="en-US" sz="1500" dirty="0">
                <a:solidFill>
                  <a:schemeClr val="lt1"/>
                </a:solidFill>
              </a:rPr>
              <a:t>plaintext</a:t>
            </a:r>
            <a:r>
              <a:rPr lang="en-US" sz="1500" dirty="0"/>
              <a:t>)/16)-1  do</a:t>
            </a:r>
            <a:endParaRPr sz="1500" dirty="0"/>
          </a:p>
          <a:p>
            <a:pPr marL="876300" lvl="1" indent="-285750">
              <a:lnSpc>
                <a:spcPct val="115000"/>
              </a:lnSpc>
              <a:spcBef>
                <a:spcPts val="0"/>
              </a:spcBef>
              <a:buSzPts val="1500"/>
            </a:pPr>
            <a:r>
              <a:rPr lang="en-US" sz="1500" dirty="0"/>
              <a:t>load </a:t>
            </a:r>
            <a:r>
              <a:rPr lang="en-US" sz="1500" dirty="0">
                <a:solidFill>
                  <a:schemeClr val="lt1"/>
                </a:solidFill>
              </a:rPr>
              <a:t>V0 from *(ciphertext+16*</a:t>
            </a:r>
            <a:r>
              <a:rPr lang="en-US" sz="1500" dirty="0" err="1">
                <a:solidFill>
                  <a:schemeClr val="lt1"/>
                </a:solidFill>
              </a:rPr>
              <a:t>i</a:t>
            </a:r>
            <a:r>
              <a:rPr lang="en-US" sz="1500" dirty="0">
                <a:solidFill>
                  <a:schemeClr val="lt1"/>
                </a:solidFill>
              </a:rPr>
              <a:t>)</a:t>
            </a:r>
            <a:endParaRPr sz="1500" dirty="0"/>
          </a:p>
          <a:p>
            <a:pPr marL="876300" lvl="1" indent="-285750">
              <a:lnSpc>
                <a:spcPct val="115000"/>
              </a:lnSpc>
              <a:spcBef>
                <a:spcPts val="0"/>
              </a:spcBef>
              <a:buSzPts val="1500"/>
            </a:pPr>
            <a:r>
              <a:rPr lang="en-US" sz="1500" b="1" dirty="0" err="1">
                <a:solidFill>
                  <a:srgbClr val="FF0000"/>
                </a:solidFill>
              </a:rPr>
              <a:t>ace.exec</a:t>
            </a:r>
            <a:r>
              <a:rPr lang="en-US" sz="1500" b="1" dirty="0">
                <a:solidFill>
                  <a:srgbClr val="FF0000"/>
                </a:solidFill>
              </a:rPr>
              <a:t> V0, K0, V0	</a:t>
            </a:r>
            <a:r>
              <a:rPr lang="en-US" sz="1500" dirty="0">
                <a:latin typeface="Arial"/>
                <a:ea typeface="Arial"/>
                <a:cs typeface="Arial"/>
                <a:sym typeface="Arial"/>
              </a:rPr>
              <a:t> </a:t>
            </a:r>
            <a:r>
              <a:rPr lang="en-US" sz="1500" dirty="0"/>
              <a:t>		</a:t>
            </a:r>
            <a:r>
              <a:rPr lang="en-US" sz="1500" dirty="0">
                <a:latin typeface="Arial"/>
                <a:ea typeface="Arial"/>
                <a:cs typeface="Arial"/>
                <a:sym typeface="Arial"/>
              </a:rPr>
              <a:t>/</a:t>
            </a:r>
            <a:r>
              <a:rPr lang="en-US" sz="1500" dirty="0"/>
              <a:t>/</a:t>
            </a:r>
            <a:r>
              <a:rPr lang="en-US" sz="1500" dirty="0">
                <a:latin typeface="Arial"/>
                <a:ea typeface="Arial"/>
                <a:cs typeface="Arial"/>
                <a:sym typeface="Arial"/>
              </a:rPr>
              <a:t> </a:t>
            </a:r>
            <a:r>
              <a:rPr lang="en-US" sz="1500" dirty="0"/>
              <a:t>Decrypt one block of the </a:t>
            </a:r>
            <a:r>
              <a:rPr lang="en-US" sz="1500" dirty="0">
                <a:solidFill>
                  <a:schemeClr val="lt1"/>
                </a:solidFill>
              </a:rPr>
              <a:t>ciphertext</a:t>
            </a:r>
            <a:endParaRPr sz="1500" b="1" dirty="0">
              <a:solidFill>
                <a:schemeClr val="lt1"/>
              </a:solidFill>
            </a:endParaRPr>
          </a:p>
          <a:p>
            <a:pPr marL="876300" lvl="1" indent="-285750">
              <a:lnSpc>
                <a:spcPct val="115000"/>
              </a:lnSpc>
              <a:spcBef>
                <a:spcPts val="0"/>
              </a:spcBef>
              <a:buSzPts val="1500"/>
            </a:pPr>
            <a:r>
              <a:rPr lang="en-US" sz="1500" dirty="0"/>
              <a:t>store V0 at </a:t>
            </a:r>
            <a:r>
              <a:rPr lang="en-US" sz="1500" dirty="0">
                <a:solidFill>
                  <a:schemeClr val="lt1"/>
                </a:solidFill>
              </a:rPr>
              <a:t>plaintext+16*		</a:t>
            </a:r>
            <a:r>
              <a:rPr lang="en-US" sz="1500" dirty="0"/>
              <a:t>// Write to </a:t>
            </a:r>
            <a:r>
              <a:rPr lang="en-US" sz="1500" dirty="0">
                <a:solidFill>
                  <a:schemeClr val="lt1"/>
                </a:solidFill>
              </a:rPr>
              <a:t>plaintext</a:t>
            </a:r>
            <a:r>
              <a:rPr lang="en-US" sz="1500" dirty="0"/>
              <a:t> buffer</a:t>
            </a:r>
            <a:endParaRPr sz="1500" dirty="0"/>
          </a:p>
          <a:p>
            <a:pPr marL="419100" indent="-285750">
              <a:lnSpc>
                <a:spcPct val="115000"/>
              </a:lnSpc>
              <a:spcBef>
                <a:spcPts val="0"/>
              </a:spcBef>
              <a:buSzPts val="1500"/>
            </a:pPr>
            <a:r>
              <a:rPr lang="en-US" sz="1500" b="1" dirty="0" err="1">
                <a:solidFill>
                  <a:srgbClr val="FF0000"/>
                </a:solidFill>
              </a:rPr>
              <a:t>ace.setst</a:t>
            </a:r>
            <a:r>
              <a:rPr lang="en-US" sz="1500" b="1" dirty="0">
                <a:solidFill>
                  <a:srgbClr val="FF0000"/>
                </a:solidFill>
              </a:rPr>
              <a:t> K0, #</a:t>
            </a:r>
            <a:r>
              <a:rPr lang="en-US" sz="1500" b="1" dirty="0" err="1">
                <a:solidFill>
                  <a:srgbClr val="FF0000"/>
                </a:solidFill>
              </a:rPr>
              <a:t>ace_state_initial</a:t>
            </a:r>
            <a:r>
              <a:rPr lang="en-US" sz="1500" dirty="0">
                <a:solidFill>
                  <a:schemeClr val="lt1"/>
                </a:solidFill>
              </a:rPr>
              <a:t>		// Ready to do more! (Actually, superfluous for ECB…)</a:t>
            </a:r>
            <a:endParaRPr lang="en-US" sz="1500" dirty="0"/>
          </a:p>
          <a:p>
            <a:pPr marL="0" lvl="0" indent="0" algn="l" rtl="0">
              <a:lnSpc>
                <a:spcPct val="115000"/>
              </a:lnSpc>
              <a:spcBef>
                <a:spcPts val="0"/>
              </a:spcBef>
              <a:spcAft>
                <a:spcPts val="0"/>
              </a:spcAft>
              <a:buNone/>
            </a:pPr>
            <a:endParaRPr lang="en-US" sz="1500" dirty="0"/>
          </a:p>
          <a:p>
            <a:pPr marL="0" lvl="0" indent="0" algn="l" rtl="0">
              <a:lnSpc>
                <a:spcPct val="115000"/>
              </a:lnSpc>
              <a:spcBef>
                <a:spcPts val="0"/>
              </a:spcBef>
              <a:spcAft>
                <a:spcPts val="0"/>
              </a:spcAft>
              <a:buNone/>
            </a:pPr>
            <a:r>
              <a:rPr lang="en-US" sz="1500" b="1" dirty="0"/>
              <a:t>Important</a:t>
            </a:r>
            <a:endParaRPr sz="1500" dirty="0"/>
          </a:p>
          <a:p>
            <a:pPr marL="0" lvl="0" indent="457200" algn="l" rtl="0">
              <a:lnSpc>
                <a:spcPct val="115000"/>
              </a:lnSpc>
              <a:spcBef>
                <a:spcPts val="0"/>
              </a:spcBef>
              <a:spcAft>
                <a:spcPts val="0"/>
              </a:spcAft>
              <a:buNone/>
            </a:pPr>
            <a:r>
              <a:rPr lang="en-US" sz="1500" dirty="0"/>
              <a:t>If the package is an SM4-encrypted buffer, and the CC is configured with SM4, </a:t>
            </a:r>
            <a:r>
              <a:rPr lang="en-US" sz="1500" i="1" dirty="0"/>
              <a:t>the same binary works!</a:t>
            </a:r>
            <a:endParaRPr sz="1500" i="1" dirty="0"/>
          </a:p>
        </p:txBody>
      </p:sp>
      <p:sp>
        <p:nvSpPr>
          <p:cNvPr id="148" name="Google Shape;148;p25"/>
          <p:cNvSpPr txBox="1">
            <a:spLocks noGrp="1"/>
          </p:cNvSpPr>
          <p:nvPr>
            <p:ph type="title"/>
          </p:nvPr>
        </p:nvSpPr>
        <p:spPr>
          <a:xfrm>
            <a:off x="515936" y="628015"/>
            <a:ext cx="11160000" cy="647700"/>
          </a:xfrm>
          <a:prstGeom prst="rect">
            <a:avLst/>
          </a:prstGeom>
          <a:noFill/>
          <a:ln>
            <a:noFill/>
          </a:ln>
        </p:spPr>
        <p:txBody>
          <a:bodyPr spcFirstLastPara="1" wrap="square" lIns="0" tIns="0" rIns="0" bIns="0" anchor="t" anchorCtr="0">
            <a:normAutofit/>
          </a:bodyPr>
          <a:lstStyle/>
          <a:p>
            <a:pPr marL="0" marR="0" lvl="0" indent="0" algn="l" rtl="0">
              <a:lnSpc>
                <a:spcPct val="84000"/>
              </a:lnSpc>
              <a:spcBef>
                <a:spcPts val="0"/>
              </a:spcBef>
              <a:spcAft>
                <a:spcPts val="0"/>
              </a:spcAft>
              <a:buClr>
                <a:srgbClr val="FF0000"/>
              </a:buClr>
              <a:buSzPts val="2800"/>
              <a:buFont typeface="Arial"/>
              <a:buNone/>
            </a:pPr>
            <a:r>
              <a:rPr lang="en-US">
                <a:solidFill>
                  <a:schemeClr val="lt1"/>
                </a:solidFill>
              </a:rPr>
              <a:t>Example 1: </a:t>
            </a:r>
            <a:r>
              <a:rPr lang="en-US"/>
              <a:t>Simple De</a:t>
            </a:r>
            <a:r>
              <a:rPr lang="en-US">
                <a:latin typeface="Arial"/>
                <a:ea typeface="Arial"/>
                <a:cs typeface="Arial"/>
                <a:sym typeface="Arial"/>
              </a:rPr>
              <a:t>cryption, no </a:t>
            </a:r>
            <a:r>
              <a:rPr lang="en-US"/>
              <a:t>A</a:t>
            </a:r>
            <a:r>
              <a:rPr lang="en-US">
                <a:latin typeface="Arial"/>
                <a:ea typeface="Arial"/>
                <a:cs typeface="Arial"/>
                <a:sym typeface="Arial"/>
              </a:rPr>
              <a:t>uthentication</a:t>
            </a:r>
            <a:endParaRPr>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BDEB9-484D-94E7-00F0-27AD9B432517}"/>
              </a:ext>
            </a:extLst>
          </p:cNvPr>
          <p:cNvSpPr>
            <a:spLocks noGrp="1"/>
          </p:cNvSpPr>
          <p:nvPr>
            <p:ph type="title"/>
          </p:nvPr>
        </p:nvSpPr>
        <p:spPr/>
        <p:txBody>
          <a:bodyPr/>
          <a:lstStyle/>
          <a:p>
            <a:r>
              <a:rPr lang="en-US" dirty="0"/>
              <a:t>How to estimate necessary CRF capacity</a:t>
            </a:r>
          </a:p>
        </p:txBody>
      </p:sp>
      <p:sp>
        <p:nvSpPr>
          <p:cNvPr id="3" name="Text Placeholder 2">
            <a:extLst>
              <a:ext uri="{FF2B5EF4-FFF2-40B4-BE49-F238E27FC236}">
                <a16:creationId xmlns:a16="http://schemas.microsoft.com/office/drawing/2014/main" id="{C32E9BD3-20DE-07B1-8BE2-F95F62238C94}"/>
              </a:ext>
            </a:extLst>
          </p:cNvPr>
          <p:cNvSpPr>
            <a:spLocks noGrp="1"/>
          </p:cNvSpPr>
          <p:nvPr>
            <p:ph type="body" idx="1"/>
          </p:nvPr>
        </p:nvSpPr>
        <p:spPr/>
        <p:txBody>
          <a:bodyPr/>
          <a:lstStyle/>
          <a:p>
            <a:pPr marL="114300" indent="0">
              <a:buNone/>
            </a:pPr>
            <a:r>
              <a:rPr lang="en-US" dirty="0"/>
              <a:t>AES-256 XTS state:</a:t>
            </a:r>
          </a:p>
          <a:p>
            <a:pPr lvl="1"/>
            <a:r>
              <a:rPr lang="en-US" dirty="0"/>
              <a:t>512 bits of keys + 64 bits MD + 128 = 704</a:t>
            </a:r>
          </a:p>
          <a:p>
            <a:pPr lvl="1"/>
            <a:r>
              <a:rPr lang="en-US" dirty="0"/>
              <a:t>704 * 32 = ~ 22K bits</a:t>
            </a:r>
          </a:p>
          <a:p>
            <a:pPr marL="114300" indent="0">
              <a:buNone/>
            </a:pPr>
            <a:endParaRPr lang="en-US" dirty="0"/>
          </a:p>
          <a:p>
            <a:pPr marL="114300" indent="0">
              <a:buNone/>
            </a:pPr>
            <a:r>
              <a:rPr lang="en-US" dirty="0"/>
              <a:t>This is too big, what if we target AES-128 and allow for some “big ones”?</a:t>
            </a:r>
          </a:p>
          <a:p>
            <a:pPr lvl="1"/>
            <a:r>
              <a:rPr lang="en-US" dirty="0"/>
              <a:t>(64+128) * 32 ~ 6K bits</a:t>
            </a:r>
          </a:p>
          <a:p>
            <a:pPr lvl="1"/>
            <a:r>
              <a:rPr lang="en-US" dirty="0"/>
              <a:t>If capacity exhausted, </a:t>
            </a:r>
            <a:r>
              <a:rPr lang="en-US" dirty="0" err="1"/>
              <a:t>ace.prov</a:t>
            </a:r>
            <a:r>
              <a:rPr lang="en-US" dirty="0"/>
              <a:t> / IMPORT will say NO / raise exception</a:t>
            </a:r>
          </a:p>
          <a:p>
            <a:pPr lvl="1"/>
            <a:r>
              <a:rPr lang="en-US" dirty="0"/>
              <a:t>SW will offload some of the others</a:t>
            </a:r>
          </a:p>
          <a:p>
            <a:endParaRPr lang="en-US" dirty="0"/>
          </a:p>
          <a:p>
            <a:pPr marL="114300" indent="0">
              <a:buNone/>
            </a:pPr>
            <a:r>
              <a:rPr lang="en-US" dirty="0"/>
              <a:t>To determine the actual parameters: talk to SW guys, analyze some SW.</a:t>
            </a:r>
          </a:p>
        </p:txBody>
      </p:sp>
    </p:spTree>
    <p:extLst>
      <p:ext uri="{BB962C8B-B14F-4D97-AF65-F5344CB8AC3E}">
        <p14:creationId xmlns:p14="http://schemas.microsoft.com/office/powerpoint/2010/main" val="25513903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8"/>
          <p:cNvSpPr txBox="1">
            <a:spLocks noGrp="1"/>
          </p:cNvSpPr>
          <p:nvPr>
            <p:ph type="title"/>
          </p:nvPr>
        </p:nvSpPr>
        <p:spPr>
          <a:xfrm>
            <a:off x="515919" y="2673350"/>
            <a:ext cx="10407300" cy="17955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SzPts val="990"/>
              <a:buNone/>
            </a:pPr>
            <a:r>
              <a:rPr lang="en-US" sz="4820"/>
              <a:t>Why we need this proposal</a:t>
            </a:r>
            <a:endParaRPr sz="482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9"/>
          <p:cNvSpPr txBox="1">
            <a:spLocks noGrp="1"/>
          </p:cNvSpPr>
          <p:nvPr>
            <p:ph type="body" idx="1"/>
          </p:nvPr>
        </p:nvSpPr>
        <p:spPr>
          <a:xfrm>
            <a:off x="515937" y="1493519"/>
            <a:ext cx="11160000" cy="4672200"/>
          </a:xfrm>
          <a:prstGeom prst="rect">
            <a:avLst/>
          </a:prstGeom>
        </p:spPr>
        <p:txBody>
          <a:bodyPr spcFirstLastPara="1" wrap="square" lIns="0" tIns="0" rIns="0" bIns="0" anchor="t" anchorCtr="0">
            <a:normAutofit fontScale="92500" lnSpcReduction="10000"/>
          </a:bodyPr>
          <a:lstStyle/>
          <a:p>
            <a:pPr lvl="0" indent="-330200">
              <a:lnSpc>
                <a:spcPct val="115000"/>
              </a:lnSpc>
              <a:buClr>
                <a:schemeClr val="lt1"/>
              </a:buClr>
              <a:buSzPts val="1600"/>
              <a:buAutoNum type="arabicPeriod"/>
            </a:pPr>
            <a:r>
              <a:rPr lang="en-US" sz="2000" dirty="0">
                <a:solidFill>
                  <a:schemeClr val="lt1"/>
                </a:solidFill>
              </a:rPr>
              <a:t>Useful and </a:t>
            </a:r>
            <a:r>
              <a:rPr lang="en-US" sz="2000" b="1" dirty="0">
                <a:solidFill>
                  <a:schemeClr val="lt1"/>
                </a:solidFill>
              </a:rPr>
              <a:t>scalable</a:t>
            </a:r>
            <a:r>
              <a:rPr lang="en-US" sz="2000" dirty="0">
                <a:solidFill>
                  <a:schemeClr val="lt1"/>
                </a:solidFill>
              </a:rPr>
              <a:t> feature — single interface instead of new instructions for each algorithm</a:t>
            </a:r>
          </a:p>
          <a:p>
            <a:pPr marL="457200" lvl="0" indent="-330200" algn="l" rtl="0">
              <a:lnSpc>
                <a:spcPct val="115000"/>
              </a:lnSpc>
              <a:spcBef>
                <a:spcPts val="900"/>
              </a:spcBef>
              <a:spcAft>
                <a:spcPts val="0"/>
              </a:spcAft>
              <a:buClr>
                <a:schemeClr val="lt1"/>
              </a:buClr>
              <a:buSzPts val="1600"/>
              <a:buAutoNum type="arabicPeriod"/>
            </a:pPr>
            <a:r>
              <a:rPr lang="en-US" sz="2000" dirty="0">
                <a:solidFill>
                  <a:schemeClr val="lt1"/>
                </a:solidFill>
              </a:rPr>
              <a:t>It supports </a:t>
            </a:r>
            <a:r>
              <a:rPr lang="en-US" sz="2000" b="1" dirty="0">
                <a:solidFill>
                  <a:schemeClr val="lt1"/>
                </a:solidFill>
              </a:rPr>
              <a:t>modes</a:t>
            </a:r>
            <a:r>
              <a:rPr lang="en-US" sz="2000" dirty="0">
                <a:solidFill>
                  <a:schemeClr val="lt1"/>
                </a:solidFill>
              </a:rPr>
              <a:t>, and can work as an interface </a:t>
            </a:r>
          </a:p>
          <a:p>
            <a:pPr marL="1041400" lvl="1" indent="-457200">
              <a:lnSpc>
                <a:spcPct val="115000"/>
              </a:lnSpc>
              <a:buClr>
                <a:schemeClr val="lt1"/>
              </a:buClr>
              <a:buSzPts val="1600"/>
              <a:buFont typeface="+mj-lt"/>
              <a:buAutoNum type="alphaLcParenR"/>
            </a:pPr>
            <a:r>
              <a:rPr lang="en-US" sz="2000" b="1" dirty="0">
                <a:solidFill>
                  <a:schemeClr val="lt1"/>
                </a:solidFill>
              </a:rPr>
              <a:t>public key</a:t>
            </a:r>
            <a:r>
              <a:rPr lang="en-US" sz="2000" dirty="0">
                <a:solidFill>
                  <a:schemeClr val="lt1"/>
                </a:solidFill>
              </a:rPr>
              <a:t> algorithms,</a:t>
            </a:r>
          </a:p>
          <a:p>
            <a:pPr marL="1041400" lvl="1" indent="-457200">
              <a:lnSpc>
                <a:spcPct val="115000"/>
              </a:lnSpc>
              <a:buClr>
                <a:schemeClr val="lt1"/>
              </a:buClr>
              <a:buSzPts val="1600"/>
              <a:buFont typeface="+mj-lt"/>
              <a:buAutoNum type="alphaLcParenR"/>
            </a:pPr>
            <a:r>
              <a:rPr lang="en-US" sz="2000" b="1" dirty="0">
                <a:solidFill>
                  <a:schemeClr val="lt1"/>
                </a:solidFill>
              </a:rPr>
              <a:t>complex and large</a:t>
            </a:r>
            <a:r>
              <a:rPr lang="en-US" sz="2000" dirty="0">
                <a:solidFill>
                  <a:schemeClr val="lt1"/>
                </a:solidFill>
              </a:rPr>
              <a:t> functions (Keccak, post-quantum PK algorithms) as well,</a:t>
            </a:r>
          </a:p>
          <a:p>
            <a:pPr marL="1041400" lvl="1" indent="-457200">
              <a:lnSpc>
                <a:spcPct val="115000"/>
              </a:lnSpc>
              <a:buClr>
                <a:schemeClr val="lt1"/>
              </a:buClr>
              <a:buSzPts val="1600"/>
              <a:buFont typeface="+mj-lt"/>
              <a:buAutoNum type="alphaLcParenR"/>
            </a:pPr>
            <a:r>
              <a:rPr lang="en-US" sz="2000" b="1" dirty="0">
                <a:solidFill>
                  <a:schemeClr val="lt1"/>
                </a:solidFill>
              </a:rPr>
              <a:t>side-channel </a:t>
            </a:r>
            <a:r>
              <a:rPr lang="en-US" sz="2000" dirty="0">
                <a:solidFill>
                  <a:schemeClr val="lt1"/>
                </a:solidFill>
              </a:rPr>
              <a:t>hardened versions of all the above.</a:t>
            </a:r>
            <a:endParaRPr lang="en-US" sz="2000" b="1" dirty="0">
              <a:solidFill>
                <a:schemeClr val="lt1"/>
              </a:solidFill>
            </a:endParaRPr>
          </a:p>
          <a:p>
            <a:pPr marL="457200" lvl="0" indent="-330200" algn="l" rtl="0">
              <a:lnSpc>
                <a:spcPct val="115000"/>
              </a:lnSpc>
              <a:spcBef>
                <a:spcPts val="900"/>
              </a:spcBef>
              <a:spcAft>
                <a:spcPts val="0"/>
              </a:spcAft>
              <a:buClr>
                <a:schemeClr val="lt1"/>
              </a:buClr>
              <a:buSzPts val="1600"/>
              <a:buAutoNum type="arabicPeriod"/>
            </a:pPr>
            <a:r>
              <a:rPr lang="en-US" sz="2000" dirty="0">
                <a:solidFill>
                  <a:schemeClr val="lt1"/>
                </a:solidFill>
              </a:rPr>
              <a:t>Makes SW simple, portable, reduces bugs, saves dev time and cost.</a:t>
            </a:r>
            <a:endParaRPr sz="2000" dirty="0">
              <a:solidFill>
                <a:schemeClr val="lt1"/>
              </a:solidFill>
            </a:endParaRPr>
          </a:p>
          <a:p>
            <a:pPr marL="457200" lvl="0" indent="-330200" algn="l" rtl="0">
              <a:lnSpc>
                <a:spcPct val="115000"/>
              </a:lnSpc>
              <a:spcBef>
                <a:spcPts val="900"/>
              </a:spcBef>
              <a:spcAft>
                <a:spcPts val="0"/>
              </a:spcAft>
              <a:buClr>
                <a:schemeClr val="lt1"/>
              </a:buClr>
              <a:buSzPts val="1600"/>
              <a:buAutoNum type="arabicPeriod"/>
            </a:pPr>
            <a:r>
              <a:rPr lang="en-US" sz="2000" dirty="0">
                <a:solidFill>
                  <a:schemeClr val="lt1"/>
                </a:solidFill>
              </a:rPr>
              <a:t>Frees </a:t>
            </a:r>
            <a:r>
              <a:rPr lang="en-US" sz="2000" b="1" dirty="0">
                <a:solidFill>
                  <a:schemeClr val="lt1"/>
                </a:solidFill>
              </a:rPr>
              <a:t>small cores</a:t>
            </a:r>
            <a:r>
              <a:rPr lang="en-US" sz="2000" dirty="0">
                <a:solidFill>
                  <a:schemeClr val="lt1"/>
                </a:solidFill>
              </a:rPr>
              <a:t> from having to handle the modes themselves in SW.</a:t>
            </a:r>
            <a:endParaRPr sz="2000" dirty="0">
              <a:solidFill>
                <a:schemeClr val="lt1"/>
              </a:solidFill>
            </a:endParaRPr>
          </a:p>
          <a:p>
            <a:pPr lvl="0" indent="-330200">
              <a:lnSpc>
                <a:spcPct val="115000"/>
              </a:lnSpc>
              <a:buClr>
                <a:schemeClr val="lt1"/>
              </a:buClr>
              <a:buSzPts val="1600"/>
              <a:buAutoNum type="arabicPeriod"/>
            </a:pPr>
            <a:r>
              <a:rPr lang="en-US" sz="2000" dirty="0">
                <a:solidFill>
                  <a:schemeClr val="lt1"/>
                </a:solidFill>
              </a:rPr>
              <a:t>It is </a:t>
            </a:r>
            <a:r>
              <a:rPr lang="en-US" sz="2000" b="1" dirty="0">
                <a:solidFill>
                  <a:schemeClr val="lt1"/>
                </a:solidFill>
              </a:rPr>
              <a:t>very</a:t>
            </a:r>
            <a:r>
              <a:rPr lang="en-US" sz="2000" dirty="0">
                <a:solidFill>
                  <a:schemeClr val="lt1"/>
                </a:solidFill>
              </a:rPr>
              <a:t> actively being worked in RVI’s “High Assurance Cryptography” TG.</a:t>
            </a:r>
            <a:endParaRPr sz="2000" dirty="0">
              <a:solidFill>
                <a:schemeClr val="lt1"/>
              </a:solidFill>
            </a:endParaRPr>
          </a:p>
          <a:p>
            <a:pPr marL="457200" lvl="0" indent="-330200" algn="l" rtl="0">
              <a:lnSpc>
                <a:spcPct val="115000"/>
              </a:lnSpc>
              <a:spcBef>
                <a:spcPts val="900"/>
              </a:spcBef>
              <a:spcAft>
                <a:spcPts val="0"/>
              </a:spcAft>
              <a:buClr>
                <a:schemeClr val="lt1"/>
              </a:buClr>
              <a:buSzPts val="1600"/>
              <a:buAutoNum type="arabicPeriod"/>
            </a:pPr>
            <a:r>
              <a:rPr lang="en-US" sz="2000" dirty="0">
                <a:solidFill>
                  <a:schemeClr val="lt1"/>
                </a:solidFill>
              </a:rPr>
              <a:t>If implemented as an </a:t>
            </a:r>
            <a:r>
              <a:rPr lang="en-US" sz="2000" b="1" dirty="0">
                <a:solidFill>
                  <a:schemeClr val="lt1"/>
                </a:solidFill>
              </a:rPr>
              <a:t>attached</a:t>
            </a:r>
            <a:r>
              <a:rPr lang="en-US" sz="2000" dirty="0">
                <a:solidFill>
                  <a:schemeClr val="lt1"/>
                </a:solidFill>
              </a:rPr>
              <a:t> unit, it can even work in heterogeneous clusters</a:t>
            </a:r>
            <a:br>
              <a:rPr lang="en-US" sz="2000" dirty="0">
                <a:solidFill>
                  <a:schemeClr val="lt1"/>
                </a:solidFill>
              </a:rPr>
            </a:br>
            <a:r>
              <a:rPr lang="en-US" sz="2000" dirty="0">
                <a:solidFill>
                  <a:schemeClr val="lt1"/>
                </a:solidFill>
              </a:rPr>
              <a:t>(imagine having some ARM cores, some RISC-V microcontrollers, and maybe a few Hexagons).</a:t>
            </a:r>
            <a:br>
              <a:rPr lang="en-US" sz="2000" dirty="0">
                <a:solidFill>
                  <a:schemeClr val="lt1"/>
                </a:solidFill>
              </a:rPr>
            </a:br>
            <a:r>
              <a:rPr lang="en-US" sz="2000" dirty="0">
                <a:solidFill>
                  <a:schemeClr val="lt1"/>
                </a:solidFill>
              </a:rPr>
              <a:t>Also shifts optimizations to the ACE unit, keeping small cores clean.</a:t>
            </a:r>
            <a:endParaRPr sz="2000" dirty="0">
              <a:solidFill>
                <a:schemeClr val="lt1"/>
              </a:solidFill>
            </a:endParaRPr>
          </a:p>
        </p:txBody>
      </p:sp>
      <p:sp>
        <p:nvSpPr>
          <p:cNvPr id="171" name="Google Shape;171;p29"/>
          <p:cNvSpPr txBox="1">
            <a:spLocks noGrp="1"/>
          </p:cNvSpPr>
          <p:nvPr>
            <p:ph type="title"/>
          </p:nvPr>
        </p:nvSpPr>
        <p:spPr>
          <a:xfrm>
            <a:off x="515937" y="628015"/>
            <a:ext cx="11160000" cy="647700"/>
          </a:xfrm>
          <a:prstGeom prst="rect">
            <a:avLst/>
          </a:prstGeom>
        </p:spPr>
        <p:txBody>
          <a:bodyPr spcFirstLastPara="1" wrap="square" lIns="0" tIns="0" rIns="0" bIns="0" anchor="t" anchorCtr="0">
            <a:normAutofit/>
          </a:bodyPr>
          <a:lstStyle/>
          <a:p>
            <a:pPr marL="0" lvl="0" indent="0" algn="l" rtl="0">
              <a:lnSpc>
                <a:spcPct val="115000"/>
              </a:lnSpc>
              <a:spcBef>
                <a:spcPts val="0"/>
              </a:spcBef>
              <a:spcAft>
                <a:spcPts val="0"/>
              </a:spcAft>
              <a:buClr>
                <a:schemeClr val="dk1"/>
              </a:buClr>
              <a:buSzPct val="39285"/>
              <a:buFont typeface="Arial"/>
              <a:buNone/>
            </a:pPr>
            <a:r>
              <a:rPr lang="en-US" dirty="0"/>
              <a:t>Why </a:t>
            </a:r>
            <a:r>
              <a:rPr lang="en-US" b="1" dirty="0"/>
              <a:t>we</a:t>
            </a:r>
            <a:r>
              <a:rPr lang="en-US" dirty="0"/>
              <a:t> need to submit the proposal</a:t>
            </a:r>
            <a:endParaRPr dirty="0"/>
          </a:p>
          <a:p>
            <a:pPr marL="0" lvl="0" indent="0" algn="l" rtl="0">
              <a:lnSpc>
                <a:spcPct val="115000"/>
              </a:lnSpc>
              <a:spcBef>
                <a:spcPts val="0"/>
              </a:spcBef>
              <a:spcAft>
                <a:spcPts val="0"/>
              </a:spcAft>
              <a:buClr>
                <a:schemeClr val="dk1"/>
              </a:buClr>
              <a:buSzPct val="39285"/>
              <a:buFont typeface="Arial"/>
              <a:buNone/>
            </a:pPr>
            <a:endParaRPr dirty="0"/>
          </a:p>
          <a:p>
            <a:pPr marL="0" lvl="0" indent="0" algn="l" rtl="0">
              <a:spcBef>
                <a:spcPts val="0"/>
              </a:spcBef>
              <a:spcAft>
                <a:spcPts val="0"/>
              </a:spcAft>
              <a:buNone/>
            </a:pP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4">
          <a:extLst>
            <a:ext uri="{FF2B5EF4-FFF2-40B4-BE49-F238E27FC236}">
              <a16:creationId xmlns:a16="http://schemas.microsoft.com/office/drawing/2014/main" id="{4E98DD54-72F6-C9EA-E9B2-D66A0F28DDDB}"/>
            </a:ext>
          </a:extLst>
        </p:cNvPr>
        <p:cNvGrpSpPr/>
        <p:nvPr/>
      </p:nvGrpSpPr>
      <p:grpSpPr>
        <a:xfrm>
          <a:off x="0" y="0"/>
          <a:ext cx="0" cy="0"/>
          <a:chOff x="0" y="0"/>
          <a:chExt cx="0" cy="0"/>
        </a:xfrm>
      </p:grpSpPr>
      <p:sp>
        <p:nvSpPr>
          <p:cNvPr id="165" name="Google Shape;165;p28">
            <a:extLst>
              <a:ext uri="{FF2B5EF4-FFF2-40B4-BE49-F238E27FC236}">
                <a16:creationId xmlns:a16="http://schemas.microsoft.com/office/drawing/2014/main" id="{80999C1B-EB57-ECFF-3C87-65F9D21CEA50}"/>
              </a:ext>
            </a:extLst>
          </p:cNvPr>
          <p:cNvSpPr txBox="1">
            <a:spLocks noGrp="1"/>
          </p:cNvSpPr>
          <p:nvPr>
            <p:ph type="title"/>
          </p:nvPr>
        </p:nvSpPr>
        <p:spPr>
          <a:xfrm>
            <a:off x="515919" y="2673350"/>
            <a:ext cx="10407300" cy="17955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SzPts val="990"/>
              <a:buNone/>
            </a:pPr>
            <a:r>
              <a:rPr lang="en-US" sz="4820" dirty="0"/>
              <a:t>State of the Specification</a:t>
            </a:r>
            <a:endParaRPr sz="4820" dirty="0"/>
          </a:p>
        </p:txBody>
      </p:sp>
    </p:spTree>
    <p:extLst>
      <p:ext uri="{BB962C8B-B14F-4D97-AF65-F5344CB8AC3E}">
        <p14:creationId xmlns:p14="http://schemas.microsoft.com/office/powerpoint/2010/main" val="19144440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F9154-0C4B-6CFF-9478-97AAF50B87B4}"/>
              </a:ext>
            </a:extLst>
          </p:cNvPr>
          <p:cNvSpPr>
            <a:spLocks noGrp="1"/>
          </p:cNvSpPr>
          <p:nvPr>
            <p:ph type="title"/>
          </p:nvPr>
        </p:nvSpPr>
        <p:spPr/>
        <p:txBody>
          <a:bodyPr/>
          <a:lstStyle/>
          <a:p>
            <a:r>
              <a:rPr lang="en-US" dirty="0"/>
              <a:t>State of the Specification</a:t>
            </a:r>
          </a:p>
        </p:txBody>
      </p:sp>
      <p:sp>
        <p:nvSpPr>
          <p:cNvPr id="3" name="Text Placeholder 2">
            <a:extLst>
              <a:ext uri="{FF2B5EF4-FFF2-40B4-BE49-F238E27FC236}">
                <a16:creationId xmlns:a16="http://schemas.microsoft.com/office/drawing/2014/main" id="{4275F071-FD27-259F-4CC8-68AF1BFAB3ED}"/>
              </a:ext>
            </a:extLst>
          </p:cNvPr>
          <p:cNvSpPr>
            <a:spLocks noGrp="1"/>
          </p:cNvSpPr>
          <p:nvPr>
            <p:ph type="body" idx="1"/>
          </p:nvPr>
        </p:nvSpPr>
        <p:spPr>
          <a:xfrm>
            <a:off x="515937" y="1531619"/>
            <a:ext cx="11160128" cy="4672332"/>
          </a:xfrm>
        </p:spPr>
        <p:txBody>
          <a:bodyPr>
            <a:normAutofit lnSpcReduction="10000"/>
          </a:bodyPr>
          <a:lstStyle/>
          <a:p>
            <a:pPr marL="114300" indent="0">
              <a:buNone/>
            </a:pPr>
            <a:r>
              <a:rPr lang="en-US" b="1" dirty="0"/>
              <a:t>≥ v0.5.0</a:t>
            </a:r>
            <a:r>
              <a:rPr lang="en-US" dirty="0"/>
              <a:t>, quite mature:</a:t>
            </a:r>
          </a:p>
          <a:p>
            <a:pPr lvl="1"/>
            <a:r>
              <a:rPr lang="en-US" dirty="0"/>
              <a:t>Feature complete.</a:t>
            </a:r>
          </a:p>
          <a:p>
            <a:pPr lvl="2"/>
            <a:r>
              <a:rPr lang="en-US" dirty="0"/>
              <a:t>Instruction behavior described in detail.</a:t>
            </a:r>
          </a:p>
          <a:p>
            <a:pPr lvl="2"/>
            <a:r>
              <a:rPr lang="en-US" dirty="0"/>
              <a:t>Almost all algorithms fully specified.</a:t>
            </a:r>
          </a:p>
          <a:p>
            <a:pPr lvl="2"/>
            <a:r>
              <a:rPr lang="en-US" dirty="0"/>
              <a:t>Versions with vectors and without.</a:t>
            </a:r>
          </a:p>
          <a:p>
            <a:pPr lvl="1"/>
            <a:r>
              <a:rPr lang="en-US" dirty="0"/>
              <a:t>Error handling, exception handling, interrupt / resume.</a:t>
            </a:r>
          </a:p>
          <a:p>
            <a:pPr lvl="1"/>
            <a:r>
              <a:rPr lang="en-US" dirty="0"/>
              <a:t>Pseudocode examples to explain usage.</a:t>
            </a:r>
          </a:p>
          <a:p>
            <a:pPr lvl="1">
              <a:lnSpc>
                <a:spcPct val="110000"/>
              </a:lnSpc>
            </a:pPr>
            <a:r>
              <a:rPr lang="en-US" dirty="0"/>
              <a:t>While we have defined Risc-V (Risc-V-y!) instructions, we want data formats used on other ISAs for interoperability. </a:t>
            </a:r>
            <a:r>
              <a:rPr lang="en-US" i="1" dirty="0"/>
              <a:t>Who shall maintain data formats and algorithms?</a:t>
            </a:r>
          </a:p>
          <a:p>
            <a:pPr marL="0" lvl="0" indent="0">
              <a:lnSpc>
                <a:spcPct val="115000"/>
              </a:lnSpc>
              <a:spcBef>
                <a:spcPts val="0"/>
              </a:spcBef>
              <a:buNone/>
            </a:pPr>
            <a:endParaRPr lang="en-US" sz="1000" dirty="0"/>
          </a:p>
          <a:p>
            <a:pPr marL="0" lvl="0" indent="0">
              <a:lnSpc>
                <a:spcPct val="115000"/>
              </a:lnSpc>
              <a:spcBef>
                <a:spcPts val="0"/>
              </a:spcBef>
              <a:buNone/>
            </a:pPr>
            <a:r>
              <a:rPr lang="en-US" dirty="0"/>
              <a:t>The latest release of the spec can be downloaded from at:</a:t>
            </a:r>
          </a:p>
          <a:p>
            <a:pPr marL="0" lvl="0" indent="0">
              <a:lnSpc>
                <a:spcPct val="115000"/>
              </a:lnSpc>
              <a:spcBef>
                <a:spcPts val="0"/>
              </a:spcBef>
              <a:buNone/>
            </a:pPr>
            <a:r>
              <a:rPr lang="en-US" dirty="0"/>
              <a:t>	</a:t>
            </a:r>
            <a:r>
              <a:rPr lang="en-US" dirty="0">
                <a:hlinkClick r:id="rId3"/>
              </a:rPr>
              <a:t>https://github.com/riscv/riscv-high-assurance-cryptography/releases</a:t>
            </a:r>
            <a:endParaRPr lang="en-US" dirty="0"/>
          </a:p>
          <a:p>
            <a:endParaRPr lang="en-US" dirty="0"/>
          </a:p>
        </p:txBody>
      </p:sp>
    </p:spTree>
    <p:extLst>
      <p:ext uri="{BB962C8B-B14F-4D97-AF65-F5344CB8AC3E}">
        <p14:creationId xmlns:p14="http://schemas.microsoft.com/office/powerpoint/2010/main" val="7534628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0"/>
          <p:cNvSpPr txBox="1">
            <a:spLocks noGrp="1"/>
          </p:cNvSpPr>
          <p:nvPr>
            <p:ph type="title"/>
          </p:nvPr>
        </p:nvSpPr>
        <p:spPr>
          <a:xfrm>
            <a:off x="515918" y="2543425"/>
            <a:ext cx="11073600" cy="17955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SzPts val="990"/>
              <a:buNone/>
            </a:pPr>
            <a:r>
              <a:rPr lang="en-US" sz="4820"/>
              <a:t>Instructions and Metadata in Brief</a:t>
            </a:r>
            <a:endParaRPr sz="482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C3E2A-54D4-18C9-9F4D-B95419FB8D4E}"/>
              </a:ext>
            </a:extLst>
          </p:cNvPr>
          <p:cNvSpPr>
            <a:spLocks noGrp="1"/>
          </p:cNvSpPr>
          <p:nvPr>
            <p:ph type="title"/>
          </p:nvPr>
        </p:nvSpPr>
        <p:spPr/>
        <p:txBody>
          <a:bodyPr/>
          <a:lstStyle/>
          <a:p>
            <a:r>
              <a:rPr lang="en-US" dirty="0"/>
              <a:t>Provisioning / Export / Import (as of today)</a:t>
            </a:r>
          </a:p>
        </p:txBody>
      </p:sp>
      <p:sp>
        <p:nvSpPr>
          <p:cNvPr id="3" name="Text Placeholder 2">
            <a:extLst>
              <a:ext uri="{FF2B5EF4-FFF2-40B4-BE49-F238E27FC236}">
                <a16:creationId xmlns:a16="http://schemas.microsoft.com/office/drawing/2014/main" id="{9858E8F3-5EA3-3629-E2BC-F969B1CDD7DF}"/>
              </a:ext>
            </a:extLst>
          </p:cNvPr>
          <p:cNvSpPr>
            <a:spLocks noGrp="1"/>
          </p:cNvSpPr>
          <p:nvPr>
            <p:ph type="body" idx="1"/>
          </p:nvPr>
        </p:nvSpPr>
        <p:spPr>
          <a:xfrm>
            <a:off x="502490" y="1300164"/>
            <a:ext cx="11160128" cy="4985026"/>
          </a:xfrm>
        </p:spPr>
        <p:txBody>
          <a:bodyPr>
            <a:normAutofit fontScale="40000" lnSpcReduction="20000"/>
          </a:bodyPr>
          <a:lstStyle/>
          <a:p>
            <a:pPr marL="114300" indent="0">
              <a:buNone/>
            </a:pPr>
            <a:r>
              <a:rPr lang="en-US" sz="4500" dirty="0"/>
              <a:t>Removing error handling, </a:t>
            </a:r>
            <a:r>
              <a:rPr lang="en-US" sz="4500" b="1" dirty="0"/>
              <a:t>Provisioning</a:t>
            </a:r>
            <a:r>
              <a:rPr lang="en-US" sz="4500" dirty="0"/>
              <a:t> is performed by the following steps:</a:t>
            </a:r>
          </a:p>
          <a:p>
            <a:pPr marL="1314450" lvl="1" indent="-742950">
              <a:buSzPct val="90000"/>
              <a:buFont typeface="+mj-lt"/>
              <a:buAutoNum type="arabicPeriod"/>
            </a:pPr>
            <a:r>
              <a:rPr lang="en-US" sz="3300" b="1" dirty="0" err="1"/>
              <a:t>ld</a:t>
            </a:r>
            <a:r>
              <a:rPr lang="en-US" sz="3300" b="1" dirty="0"/>
              <a:t>		</a:t>
            </a:r>
            <a:r>
              <a:rPr lang="en-US" sz="3300" dirty="0"/>
              <a:t>loads (64 bits of the) metadata from memory</a:t>
            </a:r>
          </a:p>
          <a:p>
            <a:pPr marL="1314450" lvl="1" indent="-742950">
              <a:buSzPct val="90000"/>
              <a:buFont typeface="+mj-lt"/>
              <a:buAutoNum type="arabicPeriod"/>
            </a:pPr>
            <a:r>
              <a:rPr lang="en-US" sz="3300" b="1" dirty="0" err="1"/>
              <a:t>ace.setst</a:t>
            </a:r>
            <a:r>
              <a:rPr lang="en-US" sz="3300" b="1" dirty="0"/>
              <a:t>	</a:t>
            </a:r>
            <a:r>
              <a:rPr lang="en-US" sz="3300" dirty="0"/>
              <a:t>prepares a CR to be provisioned, pass the metadata as parameter, check its validity, store it in the CR.</a:t>
            </a:r>
          </a:p>
          <a:p>
            <a:pPr marL="1314450" lvl="1" indent="-742950">
              <a:buSzPct val="90000"/>
              <a:buFont typeface="+mj-lt"/>
              <a:buAutoNum type="arabicPeriod"/>
            </a:pPr>
            <a:r>
              <a:rPr lang="en-US" sz="3300" b="1" dirty="0" err="1"/>
              <a:t>ace.load</a:t>
            </a:r>
            <a:r>
              <a:rPr lang="en-US" sz="3300" b="1" dirty="0"/>
              <a:t>	</a:t>
            </a:r>
            <a:r>
              <a:rPr lang="en-US" sz="3300" dirty="0"/>
              <a:t>loads the rest of the provisioning information into the CR.</a:t>
            </a:r>
          </a:p>
          <a:p>
            <a:pPr marL="1314450" lvl="1" indent="-742950">
              <a:buSzPct val="90000"/>
              <a:buFont typeface="+mj-lt"/>
              <a:buAutoNum type="arabicPeriod"/>
            </a:pPr>
            <a:r>
              <a:rPr lang="en-US" sz="3300" b="1" dirty="0" err="1"/>
              <a:t>ace.setst</a:t>
            </a:r>
            <a:r>
              <a:rPr lang="en-US" sz="3300" b="1" dirty="0"/>
              <a:t>	</a:t>
            </a:r>
            <a:r>
              <a:rPr lang="en-US" sz="3300" dirty="0"/>
              <a:t>makes the CR available to software.</a:t>
            </a:r>
          </a:p>
          <a:p>
            <a:pPr marL="114300" indent="0">
              <a:buNone/>
            </a:pPr>
            <a:endParaRPr lang="en-US" dirty="0"/>
          </a:p>
          <a:p>
            <a:pPr marL="114300" indent="0">
              <a:buNone/>
            </a:pPr>
            <a:r>
              <a:rPr lang="en-US" sz="4500" b="1" dirty="0"/>
              <a:t>Exporting</a:t>
            </a:r>
            <a:r>
              <a:rPr lang="en-US" sz="4500" dirty="0"/>
              <a:t> a CR as an SCC consists of the following steps:</a:t>
            </a:r>
          </a:p>
          <a:p>
            <a:pPr marL="1314450" lvl="1" indent="-742950">
              <a:buSzPct val="90000"/>
              <a:buFont typeface="+mj-lt"/>
              <a:buAutoNum type="arabicPeriod"/>
            </a:pPr>
            <a:r>
              <a:rPr lang="en-US" sz="3500" b="1" dirty="0" err="1"/>
              <a:t>ace.getmd</a:t>
            </a:r>
            <a:r>
              <a:rPr lang="en-US" sz="3500" b="1" dirty="0"/>
              <a:t>	</a:t>
            </a:r>
            <a:r>
              <a:rPr lang="en-US" sz="3500" dirty="0"/>
              <a:t>exports the metadata from the CR to be able to determine its size and allocate resources.</a:t>
            </a:r>
          </a:p>
          <a:p>
            <a:pPr marL="1314450" lvl="1" indent="-742950">
              <a:buSzPct val="90000"/>
              <a:buFont typeface="+mj-lt"/>
              <a:buAutoNum type="arabicPeriod"/>
            </a:pPr>
            <a:r>
              <a:rPr lang="en-US" sz="3500" b="1" dirty="0" err="1"/>
              <a:t>sd</a:t>
            </a:r>
            <a:r>
              <a:rPr lang="en-US" sz="3500" b="1" dirty="0"/>
              <a:t>		</a:t>
            </a:r>
            <a:r>
              <a:rPr lang="en-US" sz="3500" dirty="0"/>
              <a:t>store metadata</a:t>
            </a:r>
          </a:p>
          <a:p>
            <a:pPr marL="1314450" lvl="1" indent="-742950">
              <a:buSzPct val="90000"/>
              <a:buFont typeface="+mj-lt"/>
              <a:buAutoNum type="arabicPeriod"/>
            </a:pPr>
            <a:r>
              <a:rPr lang="en-US" sz="3500" b="1" dirty="0" err="1"/>
              <a:t>ace.setst</a:t>
            </a:r>
            <a:r>
              <a:rPr lang="en-US" sz="3500" b="1" dirty="0"/>
              <a:t> </a:t>
            </a:r>
            <a:r>
              <a:rPr lang="en-US" sz="3500" dirty="0"/>
              <a:t>	prepares a CR to produce a SCC, includes encrypting its contents and computing the authentication tag(s).</a:t>
            </a:r>
          </a:p>
          <a:p>
            <a:pPr marL="1314450" lvl="1" indent="-742950">
              <a:buSzPct val="90000"/>
              <a:buFont typeface="+mj-lt"/>
              <a:buAutoNum type="arabicPeriod"/>
            </a:pPr>
            <a:r>
              <a:rPr lang="en-US" sz="3500" b="1" dirty="0" err="1"/>
              <a:t>ace.store</a:t>
            </a:r>
            <a:r>
              <a:rPr lang="en-US" sz="3500" b="1" dirty="0"/>
              <a:t> </a:t>
            </a:r>
            <a:r>
              <a:rPr lang="en-US" sz="3500" dirty="0"/>
              <a:t>	stores the rest of the SCC to memory.</a:t>
            </a:r>
          </a:p>
          <a:p>
            <a:pPr marL="1314450" lvl="1" indent="-742950">
              <a:buSzPct val="90000"/>
              <a:buFont typeface="+mj-lt"/>
              <a:buAutoNum type="arabicPeriod"/>
            </a:pPr>
            <a:r>
              <a:rPr lang="en-US" sz="3500" b="1" dirty="0" err="1"/>
              <a:t>ace.setst</a:t>
            </a:r>
            <a:r>
              <a:rPr lang="en-US" sz="3500" dirty="0"/>
              <a:t> 	internally restores the CR in a form available to software.</a:t>
            </a:r>
          </a:p>
          <a:p>
            <a:pPr marL="114300" indent="0">
              <a:buNone/>
            </a:pPr>
            <a:endParaRPr lang="en-US" dirty="0"/>
          </a:p>
          <a:p>
            <a:pPr marL="114300" indent="0">
              <a:buNone/>
            </a:pPr>
            <a:r>
              <a:rPr lang="en-US" sz="4500" b="1" dirty="0"/>
              <a:t>Importing</a:t>
            </a:r>
            <a:r>
              <a:rPr lang="en-US" sz="4500" dirty="0"/>
              <a:t> a SCC into a CR is similar to provisioning:</a:t>
            </a:r>
          </a:p>
          <a:p>
            <a:pPr marL="1314450" lvl="1" indent="-742950">
              <a:buSzPct val="90000"/>
              <a:buFont typeface="+mj-lt"/>
              <a:buAutoNum type="arabicPeriod"/>
            </a:pPr>
            <a:r>
              <a:rPr lang="en-US" sz="3600" b="1" dirty="0" err="1"/>
              <a:t>ld</a:t>
            </a:r>
            <a:r>
              <a:rPr lang="en-US" sz="3600" b="1" dirty="0"/>
              <a:t>		</a:t>
            </a:r>
            <a:r>
              <a:rPr lang="en-US" sz="3600" dirty="0"/>
              <a:t>loads (64 bits of the) metadata from memory</a:t>
            </a:r>
            <a:endParaRPr lang="en-US" sz="3400" b="1" dirty="0"/>
          </a:p>
          <a:p>
            <a:pPr marL="1314450" lvl="1" indent="-742950">
              <a:buSzPct val="90000"/>
              <a:buFont typeface="+mj-lt"/>
              <a:buAutoNum type="arabicPeriod"/>
            </a:pPr>
            <a:r>
              <a:rPr lang="en-US" sz="3400" b="1" dirty="0" err="1"/>
              <a:t>ace.setst</a:t>
            </a:r>
            <a:r>
              <a:rPr lang="en-US" sz="3400" b="1" dirty="0"/>
              <a:t> 	</a:t>
            </a:r>
            <a:r>
              <a:rPr lang="en-US" sz="3400" dirty="0"/>
              <a:t>prepares a CR for importing a SCC</a:t>
            </a:r>
            <a:r>
              <a:rPr lang="en-US" sz="3600" dirty="0"/>
              <a:t>, pass the metadata as parameter, check its validity, store it in the CR.</a:t>
            </a:r>
          </a:p>
          <a:p>
            <a:pPr marL="1314450" lvl="1" indent="-742950">
              <a:buSzPct val="90000"/>
              <a:buFont typeface="+mj-lt"/>
              <a:buAutoNum type="arabicPeriod"/>
            </a:pPr>
            <a:r>
              <a:rPr lang="en-US" sz="3400" b="1" dirty="0" err="1"/>
              <a:t>ace.load</a:t>
            </a:r>
            <a:r>
              <a:rPr lang="en-US" sz="3400" b="1" dirty="0"/>
              <a:t> 	</a:t>
            </a:r>
            <a:r>
              <a:rPr lang="en-US" sz="3400" dirty="0"/>
              <a:t>loads the rest of the SCC information into the CR.</a:t>
            </a:r>
          </a:p>
          <a:p>
            <a:pPr marL="1314450" lvl="1" indent="-742950">
              <a:buSzPct val="90000"/>
              <a:buFont typeface="+mj-lt"/>
              <a:buAutoNum type="arabicPeriod"/>
            </a:pPr>
            <a:r>
              <a:rPr lang="en-US" sz="3400" b="1" dirty="0" err="1"/>
              <a:t>ace.setst</a:t>
            </a:r>
            <a:r>
              <a:rPr lang="en-US" sz="3400" b="1" dirty="0"/>
              <a:t> 	</a:t>
            </a:r>
            <a:r>
              <a:rPr lang="en-US" sz="3400" dirty="0"/>
              <a:t>authenticates and decrypt the SCC and make the CR available to software.</a:t>
            </a:r>
          </a:p>
          <a:p>
            <a:pPr marL="114300" indent="0">
              <a:buNone/>
            </a:pPr>
            <a:endParaRPr lang="en-US" dirty="0"/>
          </a:p>
        </p:txBody>
      </p:sp>
    </p:spTree>
    <p:extLst>
      <p:ext uri="{BB962C8B-B14F-4D97-AF65-F5344CB8AC3E}">
        <p14:creationId xmlns:p14="http://schemas.microsoft.com/office/powerpoint/2010/main" val="4770965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145B2-EBFD-A3CE-5A31-7F58EEFB4FD5}"/>
              </a:ext>
            </a:extLst>
          </p:cNvPr>
          <p:cNvSpPr>
            <a:spLocks noGrp="1"/>
          </p:cNvSpPr>
          <p:nvPr>
            <p:ph type="title"/>
          </p:nvPr>
        </p:nvSpPr>
        <p:spPr/>
        <p:txBody>
          <a:bodyPr/>
          <a:lstStyle/>
          <a:p>
            <a:r>
              <a:rPr lang="en-US" dirty="0"/>
              <a:t>Provisioning Code</a:t>
            </a:r>
          </a:p>
        </p:txBody>
      </p:sp>
      <p:sp>
        <p:nvSpPr>
          <p:cNvPr id="3" name="Text Placeholder 2">
            <a:extLst>
              <a:ext uri="{FF2B5EF4-FFF2-40B4-BE49-F238E27FC236}">
                <a16:creationId xmlns:a16="http://schemas.microsoft.com/office/drawing/2014/main" id="{64D25345-D72A-3B54-7D01-659A97D6B381}"/>
              </a:ext>
            </a:extLst>
          </p:cNvPr>
          <p:cNvSpPr>
            <a:spLocks noGrp="1"/>
          </p:cNvSpPr>
          <p:nvPr>
            <p:ph type="body" idx="1"/>
          </p:nvPr>
        </p:nvSpPr>
        <p:spPr/>
        <p:txBody>
          <a:bodyPr>
            <a:normAutofit fontScale="70000" lnSpcReduction="20000"/>
          </a:bodyPr>
          <a:lstStyle/>
          <a:p>
            <a:pPr marL="114300" indent="0">
              <a:buNone/>
            </a:pPr>
            <a:r>
              <a:rPr lang="en-US" dirty="0">
                <a:latin typeface="Andale Mono" panose="020B0509000000000004" pitchFamily="49" charset="0"/>
              </a:rPr>
              <a:t>  </a:t>
            </a:r>
            <a:r>
              <a:rPr lang="en-US" dirty="0" err="1">
                <a:latin typeface="Andale Mono" panose="020B0509000000000004" pitchFamily="49" charset="0"/>
              </a:rPr>
              <a:t>ld</a:t>
            </a:r>
            <a:r>
              <a:rPr lang="en-US" dirty="0">
                <a:latin typeface="Andale Mono" panose="020B0509000000000004" pitchFamily="49" charset="0"/>
              </a:rPr>
              <a:t>         t1, 0(t6)                   # load MDH bits [63:0] from memory</a:t>
            </a:r>
          </a:p>
          <a:p>
            <a:pPr marL="114300" indent="0">
              <a:buNone/>
            </a:pPr>
            <a:r>
              <a:rPr lang="en-US" dirty="0">
                <a:latin typeface="Andale Mono" panose="020B0509000000000004" pitchFamily="49" charset="0"/>
              </a:rPr>
              <a:t>  li         t3, #23</a:t>
            </a:r>
          </a:p>
          <a:p>
            <a:pPr marL="114300" indent="0">
              <a:buNone/>
            </a:pPr>
            <a:r>
              <a:rPr lang="en-US" dirty="0">
                <a:latin typeface="Andale Mono" panose="020B0509000000000004" pitchFamily="49" charset="0"/>
              </a:rPr>
              <a:t>restart:</a:t>
            </a:r>
          </a:p>
          <a:p>
            <a:pPr marL="114300" indent="0">
              <a:buNone/>
            </a:pPr>
            <a:r>
              <a:rPr lang="en-US" dirty="0">
                <a:latin typeface="Andale Mono" panose="020B0509000000000004" pitchFamily="49" charset="0"/>
              </a:rPr>
              <a:t>  </a:t>
            </a:r>
            <a:r>
              <a:rPr lang="en-US" dirty="0" err="1">
                <a:latin typeface="Andale Mono" panose="020B0509000000000004" pitchFamily="49" charset="0"/>
              </a:rPr>
              <a:t>ace.setst</a:t>
            </a:r>
            <a:r>
              <a:rPr lang="en-US" dirty="0">
                <a:latin typeface="Andale Mono" panose="020B0509000000000004" pitchFamily="49" charset="0"/>
              </a:rPr>
              <a:t>  K(t0), t1, #</a:t>
            </a:r>
            <a:r>
              <a:rPr lang="en-US" dirty="0" err="1">
                <a:latin typeface="Andale Mono" panose="020B0509000000000004" pitchFamily="49" charset="0"/>
              </a:rPr>
              <a:t>provision_open</a:t>
            </a:r>
            <a:r>
              <a:rPr lang="en-US" dirty="0">
                <a:latin typeface="Andale Mono" panose="020B0509000000000004" pitchFamily="49" charset="0"/>
              </a:rPr>
              <a:t>  # open CR for provisioning, load MDH[63:0] in it</a:t>
            </a:r>
          </a:p>
          <a:p>
            <a:pPr marL="114300" indent="0">
              <a:buNone/>
            </a:pPr>
            <a:r>
              <a:rPr lang="en-US" dirty="0">
                <a:latin typeface="Andale Mono" panose="020B0509000000000004" pitchFamily="49" charset="0"/>
              </a:rPr>
              <a:t>  </a:t>
            </a:r>
            <a:r>
              <a:rPr lang="en-US" dirty="0" err="1">
                <a:latin typeface="Andale Mono" panose="020B0509000000000004" pitchFamily="49" charset="0"/>
              </a:rPr>
              <a:t>ace.getst</a:t>
            </a:r>
            <a:r>
              <a:rPr lang="en-US" dirty="0">
                <a:latin typeface="Andale Mono" panose="020B0509000000000004" pitchFamily="49" charset="0"/>
              </a:rPr>
              <a:t>  t2, K(t0)                   # get _State_ field from MDH[63:0]</a:t>
            </a:r>
          </a:p>
          <a:p>
            <a:pPr marL="114300" indent="0">
              <a:buNone/>
            </a:pPr>
            <a:r>
              <a:rPr lang="en-US" dirty="0">
                <a:latin typeface="Andale Mono" panose="020B0509000000000004" pitchFamily="49" charset="0"/>
              </a:rPr>
              <a:t>  </a:t>
            </a:r>
            <a:r>
              <a:rPr lang="en-US" dirty="0" err="1">
                <a:latin typeface="Andale Mono" panose="020B0509000000000004" pitchFamily="49" charset="0"/>
              </a:rPr>
              <a:t>bltu</a:t>
            </a:r>
            <a:r>
              <a:rPr lang="en-US" dirty="0">
                <a:latin typeface="Andale Mono" panose="020B0509000000000004" pitchFamily="49" charset="0"/>
              </a:rPr>
              <a:t>       t3, t2, </a:t>
            </a:r>
            <a:r>
              <a:rPr lang="en-US" dirty="0" err="1">
                <a:latin typeface="Andale Mono" panose="020B0509000000000004" pitchFamily="49" charset="0"/>
              </a:rPr>
              <a:t>handle_errors</a:t>
            </a:r>
            <a:r>
              <a:rPr lang="en-US" dirty="0">
                <a:latin typeface="Andale Mono" panose="020B0509000000000004" pitchFamily="49" charset="0"/>
              </a:rPr>
              <a:t>       # errors (larger than 23, i.e. ≥ 24)</a:t>
            </a:r>
          </a:p>
          <a:p>
            <a:pPr marL="114300" indent="0">
              <a:buNone/>
            </a:pPr>
            <a:r>
              <a:rPr lang="en-US" dirty="0">
                <a:latin typeface="Andale Mono" panose="020B0509000000000004" pitchFamily="49" charset="0"/>
              </a:rPr>
              <a:t>  </a:t>
            </a:r>
            <a:r>
              <a:rPr lang="en-US" dirty="0" err="1">
                <a:latin typeface="Andale Mono" panose="020B0509000000000004" pitchFamily="49" charset="0"/>
              </a:rPr>
              <a:t>beqz</a:t>
            </a:r>
            <a:r>
              <a:rPr lang="en-US" dirty="0">
                <a:latin typeface="Andale Mono" panose="020B0509000000000004" pitchFamily="49" charset="0"/>
              </a:rPr>
              <a:t>       t2, </a:t>
            </a:r>
            <a:r>
              <a:rPr lang="en-US" dirty="0" err="1">
                <a:latin typeface="Andale Mono" panose="020B0509000000000004" pitchFamily="49" charset="0"/>
              </a:rPr>
              <a:t>handle_errors</a:t>
            </a:r>
            <a:r>
              <a:rPr lang="en-US" dirty="0">
                <a:latin typeface="Andale Mono" panose="020B0509000000000004" pitchFamily="49" charset="0"/>
              </a:rPr>
              <a:t>           # handle error (is _Off_ needed?)</a:t>
            </a:r>
          </a:p>
          <a:p>
            <a:pPr marL="114300" indent="0">
              <a:buNone/>
            </a:pPr>
            <a:r>
              <a:rPr lang="en-US" dirty="0">
                <a:latin typeface="Andale Mono" panose="020B0509000000000004" pitchFamily="49" charset="0"/>
              </a:rPr>
              <a:t>  </a:t>
            </a:r>
            <a:r>
              <a:rPr lang="en-US" dirty="0" err="1">
                <a:latin typeface="Andale Mono" panose="020B0509000000000004" pitchFamily="49" charset="0"/>
              </a:rPr>
              <a:t>ace.load</a:t>
            </a:r>
            <a:r>
              <a:rPr lang="en-US" dirty="0">
                <a:latin typeface="Andale Mono" panose="020B0509000000000004" pitchFamily="49" charset="0"/>
              </a:rPr>
              <a:t>   K(t0), 8(t6)                # load rest of PI starting with MDH[127:64]</a:t>
            </a:r>
          </a:p>
          <a:p>
            <a:pPr marL="114300" indent="0">
              <a:buNone/>
            </a:pPr>
            <a:r>
              <a:rPr lang="en-US" dirty="0">
                <a:latin typeface="Andale Mono" panose="020B0509000000000004" pitchFamily="49" charset="0"/>
              </a:rPr>
              <a:t>  </a:t>
            </a:r>
            <a:r>
              <a:rPr lang="en-US" dirty="0" err="1">
                <a:latin typeface="Andale Mono" panose="020B0509000000000004" pitchFamily="49" charset="0"/>
              </a:rPr>
              <a:t>ace.getst</a:t>
            </a:r>
            <a:r>
              <a:rPr lang="en-US" dirty="0">
                <a:latin typeface="Andale Mono" panose="020B0509000000000004" pitchFamily="49" charset="0"/>
              </a:rPr>
              <a:t>  t2, K(t0)                   # get _State_ field from MDH[63:0]</a:t>
            </a:r>
          </a:p>
          <a:p>
            <a:pPr marL="114300" indent="0">
              <a:buNone/>
            </a:pPr>
            <a:r>
              <a:rPr lang="en-US" dirty="0">
                <a:latin typeface="Andale Mono" panose="020B0509000000000004" pitchFamily="49" charset="0"/>
              </a:rPr>
              <a:t>  li         t3, #</a:t>
            </a:r>
            <a:r>
              <a:rPr lang="en-US" dirty="0" err="1">
                <a:latin typeface="Andale Mono" panose="020B0509000000000004" pitchFamily="49" charset="0"/>
              </a:rPr>
              <a:t>ace_state_off</a:t>
            </a:r>
            <a:r>
              <a:rPr lang="en-US" dirty="0">
                <a:latin typeface="Andale Mono" panose="020B0509000000000004" pitchFamily="49" charset="0"/>
              </a:rPr>
              <a:t>          # compare to off state</a:t>
            </a:r>
          </a:p>
          <a:p>
            <a:pPr marL="114300" indent="0">
              <a:buNone/>
            </a:pPr>
            <a:r>
              <a:rPr lang="en-US" dirty="0">
                <a:latin typeface="Andale Mono" panose="020B0509000000000004" pitchFamily="49" charset="0"/>
              </a:rPr>
              <a:t>  </a:t>
            </a:r>
            <a:r>
              <a:rPr lang="en-US" dirty="0" err="1">
                <a:latin typeface="Andale Mono" panose="020B0509000000000004" pitchFamily="49" charset="0"/>
              </a:rPr>
              <a:t>beq</a:t>
            </a:r>
            <a:r>
              <a:rPr lang="en-US" dirty="0">
                <a:latin typeface="Andale Mono" panose="020B0509000000000004" pitchFamily="49" charset="0"/>
              </a:rPr>
              <a:t>        t2, t3, restart             # CR cleared means force restart</a:t>
            </a:r>
          </a:p>
          <a:p>
            <a:pPr marL="114300" indent="0">
              <a:buNone/>
            </a:pPr>
            <a:r>
              <a:rPr lang="en-US" dirty="0">
                <a:latin typeface="Andale Mono" panose="020B0509000000000004" pitchFamily="49" charset="0"/>
              </a:rPr>
              <a:t>  </a:t>
            </a:r>
            <a:r>
              <a:rPr lang="en-US" dirty="0" err="1">
                <a:latin typeface="Andale Mono" panose="020B0509000000000004" pitchFamily="49" charset="0"/>
              </a:rPr>
              <a:t>ace.setst</a:t>
            </a:r>
            <a:r>
              <a:rPr lang="en-US" dirty="0">
                <a:latin typeface="Andale Mono" panose="020B0509000000000004" pitchFamily="49" charset="0"/>
              </a:rPr>
              <a:t>  K(t0), #</a:t>
            </a:r>
            <a:r>
              <a:rPr lang="en-US" dirty="0" err="1">
                <a:latin typeface="Andale Mono" panose="020B0509000000000004" pitchFamily="49" charset="0"/>
              </a:rPr>
              <a:t>provision_close</a:t>
            </a:r>
            <a:r>
              <a:rPr lang="en-US" dirty="0">
                <a:latin typeface="Andale Mono" panose="020B0509000000000004" pitchFamily="49" charset="0"/>
              </a:rPr>
              <a:t>     # possibly reconstructs data</a:t>
            </a:r>
          </a:p>
          <a:p>
            <a:pPr marL="114300" indent="0">
              <a:buNone/>
            </a:pPr>
            <a:r>
              <a:rPr lang="en-US" dirty="0">
                <a:latin typeface="Andale Mono" panose="020B0509000000000004" pitchFamily="49" charset="0"/>
              </a:rPr>
              <a:t>  </a:t>
            </a:r>
            <a:r>
              <a:rPr lang="en-US" dirty="0" err="1">
                <a:latin typeface="Andale Mono" panose="020B0509000000000004" pitchFamily="49" charset="0"/>
              </a:rPr>
              <a:t>ace.getst</a:t>
            </a:r>
            <a:r>
              <a:rPr lang="en-US" dirty="0">
                <a:latin typeface="Andale Mono" panose="020B0509000000000004" pitchFamily="49" charset="0"/>
              </a:rPr>
              <a:t>  t2, K(t0)                   # get _State_ field from MDH[63:0]</a:t>
            </a:r>
          </a:p>
          <a:p>
            <a:pPr marL="114300" indent="0">
              <a:buNone/>
            </a:pPr>
            <a:r>
              <a:rPr lang="en-US" dirty="0">
                <a:latin typeface="Andale Mono" panose="020B0509000000000004" pitchFamily="49" charset="0"/>
              </a:rPr>
              <a:t>  </a:t>
            </a:r>
            <a:r>
              <a:rPr lang="en-US" dirty="0" err="1">
                <a:latin typeface="Andale Mono" panose="020B0509000000000004" pitchFamily="49" charset="0"/>
              </a:rPr>
              <a:t>bltu</a:t>
            </a:r>
            <a:r>
              <a:rPr lang="en-US" dirty="0">
                <a:latin typeface="Andale Mono" panose="020B0509000000000004" pitchFamily="49" charset="0"/>
              </a:rPr>
              <a:t>       t3, t2, </a:t>
            </a:r>
            <a:r>
              <a:rPr lang="en-US" dirty="0" err="1">
                <a:latin typeface="Andale Mono" panose="020B0509000000000004" pitchFamily="49" charset="0"/>
              </a:rPr>
              <a:t>handle_errors</a:t>
            </a:r>
            <a:r>
              <a:rPr lang="en-US" dirty="0">
                <a:latin typeface="Andale Mono" panose="020B0509000000000004" pitchFamily="49" charset="0"/>
              </a:rPr>
              <a:t>       # handle other errors (&gt; 23, i.e. ≥ 24)</a:t>
            </a:r>
          </a:p>
          <a:p>
            <a:pPr marL="114300" indent="0">
              <a:buNone/>
            </a:pPr>
            <a:r>
              <a:rPr lang="en-US" dirty="0">
                <a:latin typeface="Andale Mono" panose="020B0509000000000004" pitchFamily="49" charset="0"/>
              </a:rPr>
              <a:t>success:</a:t>
            </a:r>
          </a:p>
        </p:txBody>
      </p:sp>
    </p:spTree>
    <p:extLst>
      <p:ext uri="{BB962C8B-B14F-4D97-AF65-F5344CB8AC3E}">
        <p14:creationId xmlns:p14="http://schemas.microsoft.com/office/powerpoint/2010/main" val="31027567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A32D5-954A-07FA-BB4F-2A730C90804C}"/>
              </a:ext>
            </a:extLst>
          </p:cNvPr>
          <p:cNvSpPr>
            <a:spLocks noGrp="1"/>
          </p:cNvSpPr>
          <p:nvPr>
            <p:ph type="title"/>
          </p:nvPr>
        </p:nvSpPr>
        <p:spPr/>
        <p:txBody>
          <a:bodyPr/>
          <a:lstStyle/>
          <a:p>
            <a:r>
              <a:rPr lang="en-US" dirty="0"/>
              <a:t>Export Code</a:t>
            </a:r>
          </a:p>
        </p:txBody>
      </p:sp>
      <p:sp>
        <p:nvSpPr>
          <p:cNvPr id="3" name="Text Placeholder 2">
            <a:extLst>
              <a:ext uri="{FF2B5EF4-FFF2-40B4-BE49-F238E27FC236}">
                <a16:creationId xmlns:a16="http://schemas.microsoft.com/office/drawing/2014/main" id="{55FDCD4F-83EE-0002-55D0-D92C5C491873}"/>
              </a:ext>
            </a:extLst>
          </p:cNvPr>
          <p:cNvSpPr>
            <a:spLocks noGrp="1"/>
          </p:cNvSpPr>
          <p:nvPr>
            <p:ph type="body" idx="1"/>
          </p:nvPr>
        </p:nvSpPr>
        <p:spPr>
          <a:xfrm>
            <a:off x="515935" y="1275717"/>
            <a:ext cx="11160128" cy="4672332"/>
          </a:xfrm>
        </p:spPr>
        <p:txBody>
          <a:bodyPr>
            <a:noAutofit/>
          </a:bodyPr>
          <a:lstStyle/>
          <a:p>
            <a:pPr marL="114300" indent="0">
              <a:lnSpc>
                <a:spcPct val="100000"/>
              </a:lnSpc>
              <a:spcBef>
                <a:spcPts val="400"/>
              </a:spcBef>
              <a:buNone/>
            </a:pPr>
            <a:r>
              <a:rPr lang="en-US" sz="1300" dirty="0">
                <a:latin typeface="Andale Mono" panose="020B0509000000000004" pitchFamily="49" charset="0"/>
              </a:rPr>
              <a:t>  </a:t>
            </a:r>
            <a:r>
              <a:rPr lang="en-US" sz="1300" dirty="0" err="1">
                <a:latin typeface="Andale Mono" panose="020B0509000000000004" pitchFamily="49" charset="0"/>
              </a:rPr>
              <a:t>ace.size</a:t>
            </a:r>
            <a:r>
              <a:rPr lang="en-US" sz="1300" dirty="0">
                <a:latin typeface="Andale Mono" panose="020B0509000000000004" pitchFamily="49" charset="0"/>
              </a:rPr>
              <a:t>   t2, K(t0) 	# get size of the data to export</a:t>
            </a:r>
          </a:p>
          <a:p>
            <a:pPr marL="114300" indent="0">
              <a:lnSpc>
                <a:spcPct val="100000"/>
              </a:lnSpc>
              <a:spcBef>
                <a:spcPts val="400"/>
              </a:spcBef>
              <a:buNone/>
            </a:pPr>
            <a:r>
              <a:rPr lang="en-US" sz="1300" dirty="0">
                <a:latin typeface="Andale Mono" panose="020B0509000000000004" pitchFamily="49" charset="0"/>
              </a:rPr>
              <a:t>  {...}  		# here goes the code that allocates the buffer to store the exported data</a:t>
            </a:r>
          </a:p>
          <a:p>
            <a:pPr marL="114300" indent="0">
              <a:lnSpc>
                <a:spcPct val="100000"/>
              </a:lnSpc>
              <a:spcBef>
                <a:spcPts val="400"/>
              </a:spcBef>
              <a:buNone/>
            </a:pPr>
            <a:r>
              <a:rPr lang="en-US" sz="1300" dirty="0">
                <a:latin typeface="Andale Mono" panose="020B0509000000000004" pitchFamily="49" charset="0"/>
              </a:rPr>
              <a:t>  </a:t>
            </a:r>
            <a:r>
              <a:rPr lang="en-US" sz="1300" dirty="0" err="1">
                <a:latin typeface="Andale Mono" panose="020B0509000000000004" pitchFamily="49" charset="0"/>
              </a:rPr>
              <a:t>ace.getmd</a:t>
            </a:r>
            <a:r>
              <a:rPr lang="en-US" sz="1300" dirty="0">
                <a:latin typeface="Andale Mono" panose="020B0509000000000004" pitchFamily="49" charset="0"/>
              </a:rPr>
              <a:t>  t1, K(t0)</a:t>
            </a:r>
          </a:p>
          <a:p>
            <a:pPr marL="114300" indent="0">
              <a:lnSpc>
                <a:spcPct val="100000"/>
              </a:lnSpc>
              <a:spcBef>
                <a:spcPts val="400"/>
              </a:spcBef>
              <a:buNone/>
            </a:pPr>
            <a:endParaRPr lang="en-US" sz="1300" dirty="0">
              <a:latin typeface="Andale Mono" panose="020B0509000000000004" pitchFamily="49" charset="0"/>
            </a:endParaRPr>
          </a:p>
          <a:p>
            <a:pPr marL="114300" indent="0">
              <a:lnSpc>
                <a:spcPct val="100000"/>
              </a:lnSpc>
              <a:spcBef>
                <a:spcPts val="400"/>
              </a:spcBef>
              <a:buNone/>
            </a:pPr>
            <a:r>
              <a:rPr lang="en-US" sz="1300" dirty="0">
                <a:latin typeface="+mn-lt"/>
              </a:rPr>
              <a:t>If </a:t>
            </a:r>
            <a:r>
              <a:rPr lang="en-US" sz="1300" i="1" dirty="0" err="1">
                <a:latin typeface="+mn-lt"/>
              </a:rPr>
              <a:t>ConfigStatus</a:t>
            </a:r>
            <a:r>
              <a:rPr lang="en-US" sz="1300" dirty="0">
                <a:latin typeface="+mn-lt"/>
              </a:rPr>
              <a:t> field in the metadata = </a:t>
            </a:r>
            <a:r>
              <a:rPr lang="en-US" sz="1300" i="1" dirty="0" err="1">
                <a:latin typeface="+mn-lt"/>
              </a:rPr>
              <a:t>CfgStcomplete</a:t>
            </a:r>
            <a:r>
              <a:rPr lang="en-US" sz="1300" dirty="0">
                <a:latin typeface="+mn-lt"/>
              </a:rPr>
              <a:t>, the following </a:t>
            </a:r>
            <a:r>
              <a:rPr lang="en-US" sz="1300" dirty="0" err="1">
                <a:latin typeface="+mn-lt"/>
              </a:rPr>
              <a:t>ace.setst</a:t>
            </a:r>
            <a:r>
              <a:rPr lang="en-US" sz="1300" dirty="0">
                <a:latin typeface="+mn-lt"/>
              </a:rPr>
              <a:t> prepares the serialized, encrypted and authenticated internal representation of the CR for export, computes the SIV(s), then change </a:t>
            </a:r>
            <a:r>
              <a:rPr lang="en-US" sz="1300" i="1" dirty="0" err="1">
                <a:latin typeface="+mn-lt"/>
              </a:rPr>
              <a:t>ConfigStatus</a:t>
            </a:r>
            <a:r>
              <a:rPr lang="en-US" sz="1300" dirty="0">
                <a:latin typeface="+mn-lt"/>
              </a:rPr>
              <a:t> to </a:t>
            </a:r>
            <a:r>
              <a:rPr lang="en-US" sz="1300" i="1" dirty="0" err="1">
                <a:latin typeface="+mn-lt"/>
              </a:rPr>
              <a:t>CfgStExporting</a:t>
            </a:r>
            <a:r>
              <a:rPr lang="en-US" sz="1300" dirty="0">
                <a:latin typeface="+mn-lt"/>
              </a:rPr>
              <a:t>. Otherwise, it does nothing.</a:t>
            </a:r>
            <a:endParaRPr lang="en-US" sz="1300" dirty="0">
              <a:latin typeface="Andale Mono" panose="020B0509000000000004" pitchFamily="49" charset="0"/>
            </a:endParaRPr>
          </a:p>
          <a:p>
            <a:pPr marL="114300" indent="0">
              <a:lnSpc>
                <a:spcPct val="100000"/>
              </a:lnSpc>
              <a:spcBef>
                <a:spcPts val="400"/>
              </a:spcBef>
              <a:buNone/>
            </a:pPr>
            <a:endParaRPr lang="en-US" sz="1300" dirty="0">
              <a:latin typeface="Andale Mono" panose="020B0509000000000004" pitchFamily="49" charset="0"/>
            </a:endParaRPr>
          </a:p>
          <a:p>
            <a:pPr marL="114300" indent="0">
              <a:lnSpc>
                <a:spcPct val="100000"/>
              </a:lnSpc>
              <a:spcBef>
                <a:spcPts val="400"/>
              </a:spcBef>
              <a:buNone/>
            </a:pPr>
            <a:r>
              <a:rPr lang="en-US" sz="1300" dirty="0">
                <a:latin typeface="Andale Mono" panose="020B0509000000000004" pitchFamily="49" charset="0"/>
              </a:rPr>
              <a:t>  </a:t>
            </a:r>
            <a:r>
              <a:rPr lang="en-US" sz="1300" dirty="0" err="1">
                <a:latin typeface="Andale Mono" panose="020B0509000000000004" pitchFamily="49" charset="0"/>
              </a:rPr>
              <a:t>ace.setst</a:t>
            </a:r>
            <a:r>
              <a:rPr lang="en-US" sz="1300" dirty="0">
                <a:latin typeface="Andale Mono" panose="020B0509000000000004" pitchFamily="49" charset="0"/>
              </a:rPr>
              <a:t>  K(t0), </a:t>
            </a:r>
            <a:r>
              <a:rPr lang="en-US" sz="1300" dirty="0" err="1">
                <a:latin typeface="Andale Mono" panose="020B0509000000000004" pitchFamily="49" charset="0"/>
              </a:rPr>
              <a:t>export_open</a:t>
            </a:r>
            <a:endParaRPr lang="en-US" sz="1300" dirty="0">
              <a:latin typeface="Andale Mono" panose="020B0509000000000004" pitchFamily="49" charset="0"/>
            </a:endParaRPr>
          </a:p>
          <a:p>
            <a:pPr marL="114300" indent="0">
              <a:lnSpc>
                <a:spcPct val="100000"/>
              </a:lnSpc>
              <a:spcBef>
                <a:spcPts val="400"/>
              </a:spcBef>
              <a:buNone/>
            </a:pPr>
            <a:r>
              <a:rPr lang="en-US" sz="1300" dirty="0">
                <a:latin typeface="Andale Mono" panose="020B0509000000000004" pitchFamily="49" charset="0"/>
              </a:rPr>
              <a:t>  </a:t>
            </a:r>
            <a:r>
              <a:rPr lang="en-US" sz="1300" dirty="0" err="1">
                <a:latin typeface="Andale Mono" panose="020B0509000000000004" pitchFamily="49" charset="0"/>
              </a:rPr>
              <a:t>sd</a:t>
            </a:r>
            <a:r>
              <a:rPr lang="en-US" sz="1300" dirty="0">
                <a:latin typeface="Andale Mono" panose="020B0509000000000004" pitchFamily="49" charset="0"/>
              </a:rPr>
              <a:t>  0(t6), t1                       # Export original _</a:t>
            </a:r>
            <a:r>
              <a:rPr lang="en-US" sz="1300" dirty="0" err="1">
                <a:latin typeface="Andale Mono" panose="020B0509000000000004" pitchFamily="49" charset="0"/>
              </a:rPr>
              <a:t>ConfigStatus</a:t>
            </a:r>
            <a:r>
              <a:rPr lang="en-US" sz="1300" dirty="0">
                <a:latin typeface="Andale Mono" panose="020B0509000000000004" pitchFamily="49" charset="0"/>
              </a:rPr>
              <a:t>_ to memory</a:t>
            </a:r>
          </a:p>
          <a:p>
            <a:pPr marL="114300" indent="0">
              <a:lnSpc>
                <a:spcPct val="100000"/>
              </a:lnSpc>
              <a:spcBef>
                <a:spcPts val="400"/>
              </a:spcBef>
              <a:buNone/>
            </a:pPr>
            <a:endParaRPr lang="en-US" sz="1300" dirty="0">
              <a:latin typeface="Andale Mono" panose="020B0509000000000004" pitchFamily="49" charset="0"/>
            </a:endParaRPr>
          </a:p>
          <a:p>
            <a:pPr marL="114300" indent="0">
              <a:lnSpc>
                <a:spcPct val="100000"/>
              </a:lnSpc>
              <a:spcBef>
                <a:spcPts val="400"/>
              </a:spcBef>
              <a:buNone/>
            </a:pPr>
            <a:r>
              <a:rPr lang="en-US" sz="1300" dirty="0">
                <a:latin typeface="+mn-lt"/>
              </a:rPr>
              <a:t>The next instruction stores all data starting with the 8th byte of the MDH. In case of interrupt/exception, the handler will decide whether to keep </a:t>
            </a:r>
            <a:r>
              <a:rPr lang="en-US" sz="1300" b="1" dirty="0" err="1">
                <a:latin typeface="+mn-lt"/>
              </a:rPr>
              <a:t>acestart</a:t>
            </a:r>
            <a:r>
              <a:rPr lang="en-US" sz="1300" dirty="0">
                <a:latin typeface="+mn-lt"/>
              </a:rPr>
              <a:t> or clear it to force restart. The instruction gets the length of the blob to export from the MDH no special handling from the SW is necessary.</a:t>
            </a:r>
          </a:p>
          <a:p>
            <a:pPr marL="114300" indent="0">
              <a:lnSpc>
                <a:spcPct val="100000"/>
              </a:lnSpc>
              <a:spcBef>
                <a:spcPts val="400"/>
              </a:spcBef>
              <a:buNone/>
            </a:pPr>
            <a:endParaRPr lang="en-US" sz="1300" dirty="0">
              <a:latin typeface="Andale Mono" panose="020B0509000000000004" pitchFamily="49" charset="0"/>
            </a:endParaRPr>
          </a:p>
          <a:p>
            <a:pPr marL="114300" indent="0">
              <a:lnSpc>
                <a:spcPct val="100000"/>
              </a:lnSpc>
              <a:spcBef>
                <a:spcPts val="400"/>
              </a:spcBef>
              <a:buNone/>
            </a:pPr>
            <a:r>
              <a:rPr lang="en-US" sz="1300" dirty="0">
                <a:latin typeface="Andale Mono" panose="020B0509000000000004" pitchFamily="49" charset="0"/>
              </a:rPr>
              <a:t>  </a:t>
            </a:r>
            <a:r>
              <a:rPr lang="en-US" sz="1300" dirty="0" err="1">
                <a:latin typeface="Andale Mono" panose="020B0509000000000004" pitchFamily="49" charset="0"/>
              </a:rPr>
              <a:t>ace.store</a:t>
            </a:r>
            <a:r>
              <a:rPr lang="en-US" sz="1300" dirty="0">
                <a:latin typeface="Andale Mono" panose="020B0509000000000004" pitchFamily="49" charset="0"/>
              </a:rPr>
              <a:t>  8(t6), K(t0)</a:t>
            </a:r>
          </a:p>
          <a:p>
            <a:pPr marL="114300" indent="0">
              <a:lnSpc>
                <a:spcPct val="100000"/>
              </a:lnSpc>
              <a:spcBef>
                <a:spcPts val="400"/>
              </a:spcBef>
              <a:buNone/>
            </a:pPr>
            <a:endParaRPr lang="en-US" sz="1300" dirty="0">
              <a:latin typeface="Andale Mono" panose="020B0509000000000004" pitchFamily="49" charset="0"/>
            </a:endParaRPr>
          </a:p>
          <a:p>
            <a:pPr marL="114300" indent="0">
              <a:lnSpc>
                <a:spcPct val="100000"/>
              </a:lnSpc>
              <a:spcBef>
                <a:spcPts val="400"/>
              </a:spcBef>
              <a:buNone/>
            </a:pPr>
            <a:r>
              <a:rPr lang="en-US" sz="1300" dirty="0">
                <a:latin typeface="Andale Mono" panose="020B0509000000000004" pitchFamily="49" charset="0"/>
              </a:rPr>
              <a:t>success:</a:t>
            </a:r>
            <a:endParaRPr lang="en-US" sz="1300" dirty="0">
              <a:latin typeface="+mn-lt"/>
            </a:endParaRPr>
          </a:p>
          <a:p>
            <a:pPr marL="114300" indent="0">
              <a:lnSpc>
                <a:spcPct val="100000"/>
              </a:lnSpc>
              <a:spcBef>
                <a:spcPts val="400"/>
              </a:spcBef>
              <a:buNone/>
            </a:pPr>
            <a:r>
              <a:rPr lang="en-US" sz="1300" dirty="0">
                <a:latin typeface="+mn-lt"/>
              </a:rPr>
              <a:t>Reset MDH[63:0] to the previously saved value. If the saved </a:t>
            </a:r>
            <a:r>
              <a:rPr lang="en-US" sz="1300" i="1" dirty="0" err="1">
                <a:latin typeface="+mn-lt"/>
              </a:rPr>
              <a:t>ConfigStatus</a:t>
            </a:r>
            <a:r>
              <a:rPr lang="en-US" sz="1300" i="1" dirty="0">
                <a:latin typeface="+mn-lt"/>
              </a:rPr>
              <a:t> </a:t>
            </a:r>
            <a:r>
              <a:rPr lang="en-US" sz="1300" dirty="0">
                <a:latin typeface="+mn-lt"/>
              </a:rPr>
              <a:t>is </a:t>
            </a:r>
            <a:r>
              <a:rPr lang="en-US" sz="1300" i="1" dirty="0" err="1">
                <a:latin typeface="+mn-lt"/>
              </a:rPr>
              <a:t>CfgStcomplete</a:t>
            </a:r>
            <a:r>
              <a:rPr lang="en-US" sz="1300" dirty="0">
                <a:latin typeface="+mn-lt"/>
              </a:rPr>
              <a:t>, the operation also re-decrypts the state and makes the CR available to software, otherwise it does nothing and leaves the CR state in the serialized and encrypted format.</a:t>
            </a:r>
            <a:endParaRPr lang="en-US" sz="1300" dirty="0">
              <a:latin typeface="Andale Mono" panose="020B0509000000000004" pitchFamily="49" charset="0"/>
            </a:endParaRPr>
          </a:p>
          <a:p>
            <a:pPr marL="114300" indent="0">
              <a:lnSpc>
                <a:spcPct val="100000"/>
              </a:lnSpc>
              <a:spcBef>
                <a:spcPts val="400"/>
              </a:spcBef>
              <a:buNone/>
            </a:pPr>
            <a:r>
              <a:rPr lang="en-US" sz="1300" dirty="0">
                <a:latin typeface="Andale Mono" panose="020B0509000000000004" pitchFamily="49" charset="0"/>
              </a:rPr>
              <a:t>  </a:t>
            </a:r>
            <a:r>
              <a:rPr lang="en-US" sz="1300" dirty="0" err="1">
                <a:latin typeface="Andale Mono" panose="020B0509000000000004" pitchFamily="49" charset="0"/>
              </a:rPr>
              <a:t>ace.setst</a:t>
            </a:r>
            <a:r>
              <a:rPr lang="en-US" sz="1300" dirty="0">
                <a:latin typeface="Andale Mono" panose="020B0509000000000004" pitchFamily="49" charset="0"/>
              </a:rPr>
              <a:t>  K(t0), t1, </a:t>
            </a:r>
            <a:r>
              <a:rPr lang="en-US" sz="1300" dirty="0" err="1">
                <a:latin typeface="Andale Mono" panose="020B0509000000000004" pitchFamily="49" charset="0"/>
              </a:rPr>
              <a:t>export_close</a:t>
            </a:r>
            <a:endParaRPr lang="en-US" sz="1300" dirty="0">
              <a:latin typeface="Andale Mono" panose="020B0509000000000004" pitchFamily="49" charset="0"/>
            </a:endParaRPr>
          </a:p>
        </p:txBody>
      </p:sp>
    </p:spTree>
    <p:extLst>
      <p:ext uri="{BB962C8B-B14F-4D97-AF65-F5344CB8AC3E}">
        <p14:creationId xmlns:p14="http://schemas.microsoft.com/office/powerpoint/2010/main" val="5741715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049A1-45E9-21D9-EB50-55CF1B0802EF}"/>
              </a:ext>
            </a:extLst>
          </p:cNvPr>
          <p:cNvSpPr>
            <a:spLocks noGrp="1"/>
          </p:cNvSpPr>
          <p:nvPr>
            <p:ph type="title"/>
          </p:nvPr>
        </p:nvSpPr>
        <p:spPr/>
        <p:txBody>
          <a:bodyPr/>
          <a:lstStyle/>
          <a:p>
            <a:r>
              <a:rPr lang="en-US" dirty="0"/>
              <a:t>Import Code</a:t>
            </a:r>
          </a:p>
        </p:txBody>
      </p:sp>
      <p:sp>
        <p:nvSpPr>
          <p:cNvPr id="3" name="Text Placeholder 2">
            <a:extLst>
              <a:ext uri="{FF2B5EF4-FFF2-40B4-BE49-F238E27FC236}">
                <a16:creationId xmlns:a16="http://schemas.microsoft.com/office/drawing/2014/main" id="{315B6AE2-F5A6-32DD-8F45-8A4DE8B820BD}"/>
              </a:ext>
            </a:extLst>
          </p:cNvPr>
          <p:cNvSpPr>
            <a:spLocks noGrp="1"/>
          </p:cNvSpPr>
          <p:nvPr>
            <p:ph type="body" idx="1"/>
          </p:nvPr>
        </p:nvSpPr>
        <p:spPr/>
        <p:txBody>
          <a:bodyPr>
            <a:normAutofit fontScale="70000" lnSpcReduction="20000"/>
          </a:bodyPr>
          <a:lstStyle/>
          <a:p>
            <a:pPr marL="114300" indent="0">
              <a:buNone/>
            </a:pPr>
            <a:r>
              <a:rPr lang="en-US" dirty="0">
                <a:latin typeface="Andale Mono" panose="020B0509000000000004" pitchFamily="49" charset="0"/>
              </a:rPr>
              <a:t>  </a:t>
            </a:r>
            <a:r>
              <a:rPr lang="en-US" dirty="0" err="1">
                <a:latin typeface="Andale Mono" panose="020B0509000000000004" pitchFamily="49" charset="0"/>
              </a:rPr>
              <a:t>ld</a:t>
            </a:r>
            <a:r>
              <a:rPr lang="en-US" dirty="0">
                <a:latin typeface="Andale Mono" panose="020B0509000000000004" pitchFamily="49" charset="0"/>
              </a:rPr>
              <a:t>         t1, 0(t6)                  # load MDH bits [63:0] from memory</a:t>
            </a:r>
          </a:p>
          <a:p>
            <a:pPr marL="114300" indent="0">
              <a:buNone/>
            </a:pPr>
            <a:r>
              <a:rPr lang="en-US" dirty="0">
                <a:latin typeface="Andale Mono" panose="020B0509000000000004" pitchFamily="49" charset="0"/>
              </a:rPr>
              <a:t>  li         t3, #23</a:t>
            </a:r>
          </a:p>
          <a:p>
            <a:pPr marL="114300" indent="0">
              <a:buNone/>
            </a:pPr>
            <a:r>
              <a:rPr lang="en-US" dirty="0">
                <a:latin typeface="Andale Mono" panose="020B0509000000000004" pitchFamily="49" charset="0"/>
              </a:rPr>
              <a:t>restart:</a:t>
            </a:r>
          </a:p>
          <a:p>
            <a:pPr marL="114300" indent="0">
              <a:buNone/>
            </a:pPr>
            <a:r>
              <a:rPr lang="en-US" dirty="0">
                <a:latin typeface="Andale Mono" panose="020B0509000000000004" pitchFamily="49" charset="0"/>
              </a:rPr>
              <a:t>  </a:t>
            </a:r>
            <a:r>
              <a:rPr lang="en-US" dirty="0" err="1">
                <a:latin typeface="Andale Mono" panose="020B0509000000000004" pitchFamily="49" charset="0"/>
              </a:rPr>
              <a:t>ace.setst</a:t>
            </a:r>
            <a:r>
              <a:rPr lang="en-US" dirty="0">
                <a:latin typeface="Andale Mono" panose="020B0509000000000004" pitchFamily="49" charset="0"/>
              </a:rPr>
              <a:t>  K(t0), t1, #</a:t>
            </a:r>
            <a:r>
              <a:rPr lang="en-US" dirty="0" err="1">
                <a:latin typeface="Andale Mono" panose="020B0509000000000004" pitchFamily="49" charset="0"/>
              </a:rPr>
              <a:t>import_open</a:t>
            </a:r>
            <a:r>
              <a:rPr lang="en-US" dirty="0">
                <a:latin typeface="Andale Mono" panose="020B0509000000000004" pitchFamily="49" charset="0"/>
              </a:rPr>
              <a:t>    # prepare CR for import, load MDH[63:0] in it</a:t>
            </a:r>
          </a:p>
          <a:p>
            <a:pPr marL="114300" indent="0">
              <a:buNone/>
            </a:pPr>
            <a:r>
              <a:rPr lang="en-US" dirty="0">
                <a:latin typeface="Andale Mono" panose="020B0509000000000004" pitchFamily="49" charset="0"/>
              </a:rPr>
              <a:t>  </a:t>
            </a:r>
            <a:r>
              <a:rPr lang="en-US" dirty="0" err="1">
                <a:latin typeface="Andale Mono" panose="020B0509000000000004" pitchFamily="49" charset="0"/>
              </a:rPr>
              <a:t>ace.getst</a:t>
            </a:r>
            <a:r>
              <a:rPr lang="en-US" dirty="0">
                <a:latin typeface="Andale Mono" panose="020B0509000000000004" pitchFamily="49" charset="0"/>
              </a:rPr>
              <a:t>  t2, K(t0)                  # get _State_ field from CR (after checks!)</a:t>
            </a:r>
          </a:p>
          <a:p>
            <a:pPr marL="114300" indent="0">
              <a:buNone/>
            </a:pPr>
            <a:r>
              <a:rPr lang="en-US" dirty="0">
                <a:latin typeface="Andale Mono" panose="020B0509000000000004" pitchFamily="49" charset="0"/>
              </a:rPr>
              <a:t>  </a:t>
            </a:r>
            <a:r>
              <a:rPr lang="en-US" dirty="0" err="1">
                <a:latin typeface="Andale Mono" panose="020B0509000000000004" pitchFamily="49" charset="0"/>
              </a:rPr>
              <a:t>bltu</a:t>
            </a:r>
            <a:r>
              <a:rPr lang="en-US" dirty="0">
                <a:latin typeface="Andale Mono" panose="020B0509000000000004" pitchFamily="49" charset="0"/>
              </a:rPr>
              <a:t>       t3, t2, </a:t>
            </a:r>
            <a:r>
              <a:rPr lang="en-US" dirty="0" err="1">
                <a:latin typeface="Andale Mono" panose="020B0509000000000004" pitchFamily="49" charset="0"/>
              </a:rPr>
              <a:t>handle_errors</a:t>
            </a:r>
            <a:r>
              <a:rPr lang="en-US" dirty="0">
                <a:latin typeface="Andale Mono" panose="020B0509000000000004" pitchFamily="49" charset="0"/>
              </a:rPr>
              <a:t>      # errors (larger than 23, i.e., ≥ 24)</a:t>
            </a:r>
          </a:p>
          <a:p>
            <a:pPr marL="114300" indent="0">
              <a:buNone/>
            </a:pPr>
            <a:r>
              <a:rPr lang="en-US" dirty="0">
                <a:latin typeface="Andale Mono" panose="020B0509000000000004" pitchFamily="49" charset="0"/>
              </a:rPr>
              <a:t>  </a:t>
            </a:r>
            <a:r>
              <a:rPr lang="en-US" dirty="0" err="1">
                <a:latin typeface="Andale Mono" panose="020B0509000000000004" pitchFamily="49" charset="0"/>
              </a:rPr>
              <a:t>ace.load</a:t>
            </a:r>
            <a:r>
              <a:rPr lang="en-US" dirty="0">
                <a:latin typeface="Andale Mono" panose="020B0509000000000004" pitchFamily="49" charset="0"/>
              </a:rPr>
              <a:t>   K(t0), 8(t6)               # load all the rest starting with MDH[127:64]</a:t>
            </a:r>
          </a:p>
          <a:p>
            <a:pPr marL="114300" indent="0">
              <a:buNone/>
            </a:pPr>
            <a:r>
              <a:rPr lang="en-US" dirty="0">
                <a:latin typeface="Andale Mono" panose="020B0509000000000004" pitchFamily="49" charset="0"/>
              </a:rPr>
              <a:t>  </a:t>
            </a:r>
            <a:r>
              <a:rPr lang="en-US" dirty="0" err="1">
                <a:latin typeface="Andale Mono" panose="020B0509000000000004" pitchFamily="49" charset="0"/>
              </a:rPr>
              <a:t>ace.getst</a:t>
            </a:r>
            <a:r>
              <a:rPr lang="en-US" dirty="0">
                <a:latin typeface="Andale Mono" panose="020B0509000000000004" pitchFamily="49" charset="0"/>
              </a:rPr>
              <a:t>  t2, K(t0)                  # get _State_ field from MDH[63:0]</a:t>
            </a:r>
          </a:p>
          <a:p>
            <a:pPr marL="114300" indent="0">
              <a:buNone/>
            </a:pPr>
            <a:r>
              <a:rPr lang="en-US" dirty="0">
                <a:latin typeface="Andale Mono" panose="020B0509000000000004" pitchFamily="49" charset="0"/>
              </a:rPr>
              <a:t>  li         t3, #</a:t>
            </a:r>
            <a:r>
              <a:rPr lang="en-US" dirty="0" err="1">
                <a:latin typeface="Andale Mono" panose="020B0509000000000004" pitchFamily="49" charset="0"/>
              </a:rPr>
              <a:t>ace_state_off</a:t>
            </a:r>
            <a:r>
              <a:rPr lang="en-US" dirty="0">
                <a:latin typeface="Andale Mono" panose="020B0509000000000004" pitchFamily="49" charset="0"/>
              </a:rPr>
              <a:t>         # compare to off state</a:t>
            </a:r>
          </a:p>
          <a:p>
            <a:pPr marL="114300" indent="0">
              <a:buNone/>
            </a:pPr>
            <a:r>
              <a:rPr lang="en-US" dirty="0">
                <a:latin typeface="Andale Mono" panose="020B0509000000000004" pitchFamily="49" charset="0"/>
              </a:rPr>
              <a:t>  </a:t>
            </a:r>
            <a:r>
              <a:rPr lang="en-US" dirty="0" err="1">
                <a:latin typeface="Andale Mono" panose="020B0509000000000004" pitchFamily="49" charset="0"/>
              </a:rPr>
              <a:t>beq</a:t>
            </a:r>
            <a:r>
              <a:rPr lang="en-US" dirty="0">
                <a:latin typeface="Andale Mono" panose="020B0509000000000004" pitchFamily="49" charset="0"/>
              </a:rPr>
              <a:t>        t2, t3, restart            # CR cleared means force restart</a:t>
            </a:r>
          </a:p>
          <a:p>
            <a:pPr marL="114300" indent="0">
              <a:buNone/>
            </a:pPr>
            <a:r>
              <a:rPr lang="en-US" dirty="0">
                <a:latin typeface="Andale Mono" panose="020B0509000000000004" pitchFamily="49" charset="0"/>
              </a:rPr>
              <a:t>  </a:t>
            </a:r>
            <a:r>
              <a:rPr lang="en-US" dirty="0" err="1">
                <a:latin typeface="Andale Mono" panose="020B0509000000000004" pitchFamily="49" charset="0"/>
              </a:rPr>
              <a:t>ace.setst</a:t>
            </a:r>
            <a:r>
              <a:rPr lang="en-US" dirty="0">
                <a:latin typeface="Andale Mono" panose="020B0509000000000004" pitchFamily="49" charset="0"/>
              </a:rPr>
              <a:t>  K(t0), #</a:t>
            </a:r>
            <a:r>
              <a:rPr lang="en-US" dirty="0" err="1">
                <a:latin typeface="Andale Mono" panose="020B0509000000000004" pitchFamily="49" charset="0"/>
              </a:rPr>
              <a:t>import_close</a:t>
            </a:r>
            <a:r>
              <a:rPr lang="en-US" dirty="0">
                <a:latin typeface="Andale Mono" panose="020B0509000000000004" pitchFamily="49" charset="0"/>
              </a:rPr>
              <a:t>       # decrypt/authenticate CR, possibly complete it</a:t>
            </a:r>
          </a:p>
          <a:p>
            <a:pPr marL="114300" indent="0">
              <a:buNone/>
            </a:pPr>
            <a:r>
              <a:rPr lang="en-US" dirty="0">
                <a:latin typeface="Andale Mono" panose="020B0509000000000004" pitchFamily="49" charset="0"/>
              </a:rPr>
              <a:t>  </a:t>
            </a:r>
            <a:r>
              <a:rPr lang="en-US" dirty="0" err="1">
                <a:latin typeface="Andale Mono" panose="020B0509000000000004" pitchFamily="49" charset="0"/>
              </a:rPr>
              <a:t>ace.getst</a:t>
            </a:r>
            <a:r>
              <a:rPr lang="en-US" dirty="0">
                <a:latin typeface="Andale Mono" panose="020B0509000000000004" pitchFamily="49" charset="0"/>
              </a:rPr>
              <a:t>  t2, K(t0)                  # get _State_ field from MDH[63:0]</a:t>
            </a:r>
          </a:p>
          <a:p>
            <a:pPr marL="114300" indent="0">
              <a:buNone/>
            </a:pPr>
            <a:r>
              <a:rPr lang="en-US" dirty="0">
                <a:latin typeface="Andale Mono" panose="020B0509000000000004" pitchFamily="49" charset="0"/>
              </a:rPr>
              <a:t>  </a:t>
            </a:r>
            <a:r>
              <a:rPr lang="en-US" dirty="0" err="1">
                <a:latin typeface="Andale Mono" panose="020B0509000000000004" pitchFamily="49" charset="0"/>
              </a:rPr>
              <a:t>bz</a:t>
            </a:r>
            <a:r>
              <a:rPr lang="en-US" dirty="0">
                <a:latin typeface="Andale Mono" panose="020B0509000000000004" pitchFamily="49" charset="0"/>
              </a:rPr>
              <a:t>         t2, </a:t>
            </a:r>
            <a:r>
              <a:rPr lang="en-US" dirty="0" err="1">
                <a:latin typeface="Andale Mono" panose="020B0509000000000004" pitchFamily="49" charset="0"/>
              </a:rPr>
              <a:t>handle_errors</a:t>
            </a:r>
            <a:r>
              <a:rPr lang="en-US" dirty="0">
                <a:latin typeface="Andale Mono" panose="020B0509000000000004" pitchFamily="49" charset="0"/>
              </a:rPr>
              <a:t>          # handle _Off_ state (needed ? double check)</a:t>
            </a:r>
          </a:p>
          <a:p>
            <a:pPr marL="114300" indent="0">
              <a:buNone/>
            </a:pPr>
            <a:r>
              <a:rPr lang="en-US" dirty="0">
                <a:latin typeface="Andale Mono" panose="020B0509000000000004" pitchFamily="49" charset="0"/>
              </a:rPr>
              <a:t>  </a:t>
            </a:r>
            <a:r>
              <a:rPr lang="en-US" dirty="0" err="1">
                <a:latin typeface="Andale Mono" panose="020B0509000000000004" pitchFamily="49" charset="0"/>
              </a:rPr>
              <a:t>bltu</a:t>
            </a:r>
            <a:r>
              <a:rPr lang="en-US" dirty="0">
                <a:latin typeface="Andale Mono" panose="020B0509000000000004" pitchFamily="49" charset="0"/>
              </a:rPr>
              <a:t>       t3, t2, </a:t>
            </a:r>
            <a:r>
              <a:rPr lang="en-US" dirty="0" err="1">
                <a:latin typeface="Andale Mono" panose="020B0509000000000004" pitchFamily="49" charset="0"/>
              </a:rPr>
              <a:t>handle_errors</a:t>
            </a:r>
            <a:r>
              <a:rPr lang="en-US" dirty="0">
                <a:latin typeface="Andale Mono" panose="020B0509000000000004" pitchFamily="49" charset="0"/>
              </a:rPr>
              <a:t>      # handle other errors (&gt; 23, i.e., ≥ 24)</a:t>
            </a:r>
          </a:p>
          <a:p>
            <a:pPr marL="114300" indent="0">
              <a:buNone/>
            </a:pPr>
            <a:r>
              <a:rPr lang="en-US" dirty="0">
                <a:latin typeface="Andale Mono" panose="020B0509000000000004" pitchFamily="49" charset="0"/>
              </a:rPr>
              <a:t>success:</a:t>
            </a:r>
          </a:p>
        </p:txBody>
      </p:sp>
    </p:spTree>
    <p:extLst>
      <p:ext uri="{BB962C8B-B14F-4D97-AF65-F5344CB8AC3E}">
        <p14:creationId xmlns:p14="http://schemas.microsoft.com/office/powerpoint/2010/main" val="4754682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14">
          <a:extLst>
            <a:ext uri="{FF2B5EF4-FFF2-40B4-BE49-F238E27FC236}">
              <a16:creationId xmlns:a16="http://schemas.microsoft.com/office/drawing/2014/main" id="{CE951182-85F4-7526-F7A9-BEA8A317FA73}"/>
            </a:ext>
          </a:extLst>
        </p:cNvPr>
        <p:cNvGrpSpPr/>
        <p:nvPr/>
      </p:nvGrpSpPr>
      <p:grpSpPr>
        <a:xfrm>
          <a:off x="0" y="0"/>
          <a:ext cx="0" cy="0"/>
          <a:chOff x="0" y="0"/>
          <a:chExt cx="0" cy="0"/>
        </a:xfrm>
      </p:grpSpPr>
      <p:sp>
        <p:nvSpPr>
          <p:cNvPr id="715" name="Google Shape;715;p118">
            <a:extLst>
              <a:ext uri="{FF2B5EF4-FFF2-40B4-BE49-F238E27FC236}">
                <a16:creationId xmlns:a16="http://schemas.microsoft.com/office/drawing/2014/main" id="{1EE11093-09B0-ECB1-A43B-1F312DB03364}"/>
              </a:ext>
            </a:extLst>
          </p:cNvPr>
          <p:cNvSpPr txBox="1">
            <a:spLocks noGrp="1"/>
          </p:cNvSpPr>
          <p:nvPr>
            <p:ph type="sldNum" idx="12"/>
          </p:nvPr>
        </p:nvSpPr>
        <p:spPr>
          <a:xfrm>
            <a:off x="11676063" y="6397973"/>
            <a:ext cx="126900" cy="123000"/>
          </a:xfrm>
          <a:prstGeom prst="rect">
            <a:avLst/>
          </a:prstGeom>
          <a:noFill/>
          <a:ln>
            <a:noFill/>
          </a:ln>
        </p:spPr>
        <p:txBody>
          <a:bodyPr spcFirstLastPara="1" wrap="square" lIns="0" tIns="0" rIns="0" bIns="0" anchor="b" anchorCtr="0">
            <a:spAutoFit/>
          </a:bodyPr>
          <a:lstStyle/>
          <a:p>
            <a:pPr marL="0" lvl="0" indent="0" algn="l" rtl="0">
              <a:lnSpc>
                <a:spcPct val="125000"/>
              </a:lnSpc>
              <a:spcBef>
                <a:spcPts val="0"/>
              </a:spcBef>
              <a:spcAft>
                <a:spcPts val="0"/>
              </a:spcAft>
              <a:buClr>
                <a:schemeClr val="accent2"/>
              </a:buClr>
              <a:buSzPts val="800"/>
              <a:buFont typeface="Arial"/>
              <a:buNone/>
            </a:pPr>
            <a:fld id="{00000000-1234-1234-1234-123412341234}" type="slidenum">
              <a:rPr lang="en-US" sz="800">
                <a:solidFill>
                  <a:schemeClr val="accent2"/>
                </a:solidFill>
              </a:rPr>
              <a:t>36</a:t>
            </a:fld>
            <a:endParaRPr/>
          </a:p>
        </p:txBody>
      </p:sp>
    </p:spTree>
    <p:extLst>
      <p:ext uri="{BB962C8B-B14F-4D97-AF65-F5344CB8AC3E}">
        <p14:creationId xmlns:p14="http://schemas.microsoft.com/office/powerpoint/2010/main" val="75289936"/>
      </p:ext>
    </p:extLst>
  </p:cSld>
  <p:clrMapOvr>
    <a:masterClrMapping/>
  </p:clrMapOvr>
</p:sld>
</file>

<file path=ppt/theme/theme1.xml><?xml version="1.0" encoding="utf-8"?>
<a:theme xmlns:a="http://schemas.openxmlformats.org/drawingml/2006/main" name="Qualcomm Corporate Confidential Template - 2024">
  <a:themeElements>
    <a:clrScheme name="Qualcomm Corporate Confidential Template - 2024">
      <a:dk1>
        <a:srgbClr val="000000"/>
      </a:dk1>
      <a:lt1>
        <a:srgbClr val="000C3F"/>
      </a:lt1>
      <a:dk2>
        <a:srgbClr val="A7A7A7"/>
      </a:dk2>
      <a:lt2>
        <a:srgbClr val="535353"/>
      </a:lt2>
      <a:accent1>
        <a:srgbClr val="2A2AEA"/>
      </a:accent1>
      <a:accent2>
        <a:srgbClr val="000C3F"/>
      </a:accent2>
      <a:accent3>
        <a:srgbClr val="010101"/>
      </a:accent3>
      <a:accent4>
        <a:srgbClr val="833AFF"/>
      </a:accent4>
      <a:accent5>
        <a:srgbClr val="F5EF32"/>
      </a:accent5>
      <a:accent6>
        <a:srgbClr val="D3D7E3"/>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Qualcomm Corporate Confidential Template - 2024">
  <a:themeElements>
    <a:clrScheme name="Qualcomm Corporate Confidential Template - 2024">
      <a:dk1>
        <a:srgbClr val="0E2C3A"/>
      </a:dk1>
      <a:lt1>
        <a:srgbClr val="3A302C"/>
      </a:lt1>
      <a:dk2>
        <a:srgbClr val="A7A7A7"/>
      </a:dk2>
      <a:lt2>
        <a:srgbClr val="535353"/>
      </a:lt2>
      <a:accent1>
        <a:srgbClr val="2A2AEA"/>
      </a:accent1>
      <a:accent2>
        <a:srgbClr val="000C3F"/>
      </a:accent2>
      <a:accent3>
        <a:srgbClr val="010101"/>
      </a:accent3>
      <a:accent4>
        <a:srgbClr val="833AFF"/>
      </a:accent4>
      <a:accent5>
        <a:srgbClr val="F5EF32"/>
      </a:accent5>
      <a:accent6>
        <a:srgbClr val="D3D7E3"/>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747bccc-1f7a-43de-9506-0ef23dd23464}" enabled="1" method="Privileged" siteId="{98e9ba89-e1a1-4e38-9007-8bdabc25de1d}" removed="0"/>
</clbl:labelList>
</file>

<file path=docProps/app.xml><?xml version="1.0" encoding="utf-8"?>
<Properties xmlns="http://schemas.openxmlformats.org/officeDocument/2006/extended-properties" xmlns:vt="http://schemas.openxmlformats.org/officeDocument/2006/docPropsVTypes">
  <TotalTime>2540</TotalTime>
  <Words>4214</Words>
  <Application>Microsoft Macintosh PowerPoint</Application>
  <PresentationFormat>Widescreen</PresentationFormat>
  <Paragraphs>392</Paragraphs>
  <Slides>36</Slides>
  <Notes>30</Notes>
  <HiddenSlides>2</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Aptos Mono</vt:lpstr>
      <vt:lpstr>Andale Mono</vt:lpstr>
      <vt:lpstr>Arial</vt:lpstr>
      <vt:lpstr>Helvetica Neue</vt:lpstr>
      <vt:lpstr>Play</vt:lpstr>
      <vt:lpstr>Roboto</vt:lpstr>
      <vt:lpstr>Qualcomm Corporate Confidential Template - 2024</vt:lpstr>
      <vt:lpstr>ACE:    the Atomic Cryptography Extension </vt:lpstr>
      <vt:lpstr>Important notice</vt:lpstr>
      <vt:lpstr>The Proposal </vt:lpstr>
      <vt:lpstr>Proposal</vt:lpstr>
      <vt:lpstr>The Problem </vt:lpstr>
      <vt:lpstr>Use cases</vt:lpstr>
      <vt:lpstr>Current solutions are inadequate</vt:lpstr>
      <vt:lpstr>Current solutions are inadequate (for Risc-V)</vt:lpstr>
      <vt:lpstr>The Solution</vt:lpstr>
      <vt:lpstr>Proposal</vt:lpstr>
      <vt:lpstr>Some necessary features</vt:lpstr>
      <vt:lpstr>Life of a CC (example)</vt:lpstr>
      <vt:lpstr>How the User decrypts stuff in ACE</vt:lpstr>
      <vt:lpstr>What — High Level View of the Solution</vt:lpstr>
      <vt:lpstr>Life of a CC (example)</vt:lpstr>
      <vt:lpstr>What we don’t (want to do)</vt:lpstr>
      <vt:lpstr>Why revocation is a deliberate Non-goal (skip this slide first time)</vt:lpstr>
      <vt:lpstr>What we don’t (want to do): Algorithm-specific instructions</vt:lpstr>
      <vt:lpstr>Metadata</vt:lpstr>
      <vt:lpstr>Metadata</vt:lpstr>
      <vt:lpstr>Algorithms (choice)</vt:lpstr>
      <vt:lpstr>Issues</vt:lpstr>
      <vt:lpstr>The Model</vt:lpstr>
      <vt:lpstr>A possible implementation</vt:lpstr>
      <vt:lpstr>Example 1: Simple Decryption, no Authentication</vt:lpstr>
      <vt:lpstr>How to estimate necessary CRF capacity</vt:lpstr>
      <vt:lpstr>Why we need this proposal</vt:lpstr>
      <vt:lpstr>Why we need to submit the proposal  </vt:lpstr>
      <vt:lpstr>State of the Specification</vt:lpstr>
      <vt:lpstr>State of the Specification</vt:lpstr>
      <vt:lpstr>Instructions and Metadata in Brief</vt:lpstr>
      <vt:lpstr>Provisioning / Export / Import (as of today)</vt:lpstr>
      <vt:lpstr>Provisioning Code</vt:lpstr>
      <vt:lpstr>Export Code</vt:lpstr>
      <vt:lpstr>Import Code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Roberto Avanzi</cp:lastModifiedBy>
  <cp:revision>187</cp:revision>
  <dcterms:modified xsi:type="dcterms:W3CDTF">2026-08-12T18:46:00Z</dcterms:modified>
</cp:coreProperties>
</file>