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3"/>
    <p:restoredTop sz="94647"/>
  </p:normalViewPr>
  <p:slideViewPr>
    <p:cSldViewPr snapToGrid="0">
      <p:cViewPr varScale="1">
        <p:scale>
          <a:sx n="176" d="100"/>
          <a:sy n="176" d="100"/>
        </p:scale>
        <p:origin x="20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41279-E9AF-EA4D-A8CD-140B0D7310C1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333A6-7963-9840-B8FB-A117EB61FA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6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</a:t>
            </a:r>
            <a:r>
              <a:rPr lang="en-US" dirty="0" err="1"/>
              <a:t>cr</a:t>
            </a:r>
            <a:r>
              <a:rPr lang="en-US" dirty="0"/>
              <a:t> # in the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333A6-7963-9840-B8FB-A117EB61FA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6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223B-1209-D02A-214D-643D2CCF7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5F4DB-B5EC-CE14-BF3D-A979B1677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70303-FE77-4ECB-1DB4-52899A3B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B4A30-25D8-01EE-0374-477469C1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F6215-9843-6F0B-5B86-9C14A14D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9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18B4-A757-3C8B-44AB-E9C3709C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DDB4F-5B74-548F-8F2B-AF5FA9A13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794D6-F692-FCCC-EA37-090F4DB5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E9C94-1A8D-3303-FFB7-7C0B424D7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DA9F6-AEAB-DDD2-976B-60050946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6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EB59-8AB6-AF71-DFA4-9E8118A0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A6593-4F17-0D1C-A083-2A7BC3875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34751-3D05-89CB-33D6-1FF28ABF5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ED56-0386-0AB4-4C02-D580669B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32FA6-BBF0-9C34-6C8E-82750BDF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2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2314-542F-72A9-C5AD-757DF30F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6CB65-3EE1-97D8-CF22-DE0C85C76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339C4-E82A-71EB-64B4-C6FA209BA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02672-9937-CAB4-5ED0-442093AB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AF8CD-F496-A7F0-4167-B42849EB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83CE7-A82C-F812-FF78-9A4ACD7C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3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8E5D-C9B0-B58C-5D41-6E70F5F3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B5D39-67B6-C5B5-12F3-63AECAF6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8082E-0B07-CD21-99FF-F81579EE7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8B56E-1ADA-704B-A757-5D1432CB7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FA7209-25FA-AF85-A2B3-8DA90668A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AFE3C-155B-BB41-0114-9387A22B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FB94A-AF62-AE01-D914-AC49DA5D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78FD16-DF9A-3B8F-F6F5-B59F614C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8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4BDB-64E4-13BF-9DC6-D52C9996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8FFCA-04B4-BAC1-3048-8C97A451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18865D-E403-8F9D-99B2-AB44D6B6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EEB20-36C7-5C4B-C903-57CA2841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9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441B2-0242-225C-30D3-24492E93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7748F-4520-CA55-386A-1B4DA1E4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536AB-8EDE-B117-80A0-957763C2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8BFF-FB9A-0F5B-8D1A-FAF8E544E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C7E5-AF26-8950-FA30-F3ECEFCA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FC009-48DB-99B8-0D01-D2F3E1528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BB23-02C5-DEEF-7B7F-7D5EA73F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B11F8-2294-5253-EFB6-27B8B764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3C61-CFB9-1B6A-DA55-B9D45EAC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5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2E56-3007-09B9-2195-F913545E1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532E6-2D30-EC9A-F7B4-7A8D1CFE0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D0234-A1F9-BDEE-6BC2-11F7302BD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4EE5F-C195-63E6-0495-D56514DB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E382B-13AE-26E5-207D-42B48E51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753D5-77C0-5829-CF9D-8189265D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3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1673-35BE-0FBA-527E-576B621C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CA319-8382-11E7-15BF-E9743CD69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CF36C-6A48-728D-36BF-C7FA2FC6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43DC4-BAAD-9E7D-F183-5C18A18B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7E23-DC51-67DD-6AAF-63B0EF4F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32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4B153-160A-B9B3-152D-F64F89108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046D5-9AB8-068B-7F88-9200C0A1C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16A12-04E5-0ABE-9CDE-57F12E9B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58B54-2E40-8BBD-95DE-C77B3162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0E286-BC37-C7B9-1297-40F49758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2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61C9D-5D58-5D61-EB7E-4CEAA4EA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8B0A4-B892-C1A6-3E7C-375064A98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3601D-974D-57FE-B67B-FFD311488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BB16D-C51F-394C-B87A-6B8B92AD17B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500D1-2E77-84AA-DBE3-8E146C121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4E7F4-C4D6-3AA9-10E5-E65532836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13822-79E4-954C-8DAD-C33A7A96D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6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4AEF773-FD04-8509-3DA6-B4E164246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440253"/>
              </p:ext>
            </p:extLst>
          </p:nvPr>
        </p:nvGraphicFramePr>
        <p:xfrm>
          <a:off x="886326" y="365793"/>
          <a:ext cx="10515600" cy="1259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703">
                  <a:extLst>
                    <a:ext uri="{9D8B030D-6E8A-4147-A177-3AD203B41FA5}">
                      <a16:colId xmlns:a16="http://schemas.microsoft.com/office/drawing/2014/main" val="3472974079"/>
                    </a:ext>
                  </a:extLst>
                </a:gridCol>
                <a:gridCol w="1415142">
                  <a:extLst>
                    <a:ext uri="{9D8B030D-6E8A-4147-A177-3AD203B41FA5}">
                      <a16:colId xmlns:a16="http://schemas.microsoft.com/office/drawing/2014/main" val="1420791574"/>
                    </a:ext>
                  </a:extLst>
                </a:gridCol>
                <a:gridCol w="1386115">
                  <a:extLst>
                    <a:ext uri="{9D8B030D-6E8A-4147-A177-3AD203B41FA5}">
                      <a16:colId xmlns:a16="http://schemas.microsoft.com/office/drawing/2014/main" val="3727537946"/>
                    </a:ext>
                  </a:extLst>
                </a:gridCol>
                <a:gridCol w="1328057">
                  <a:extLst>
                    <a:ext uri="{9D8B030D-6E8A-4147-A177-3AD203B41FA5}">
                      <a16:colId xmlns:a16="http://schemas.microsoft.com/office/drawing/2014/main" val="3501863385"/>
                    </a:ext>
                  </a:extLst>
                </a:gridCol>
                <a:gridCol w="994228">
                  <a:extLst>
                    <a:ext uri="{9D8B030D-6E8A-4147-A177-3AD203B41FA5}">
                      <a16:colId xmlns:a16="http://schemas.microsoft.com/office/drawing/2014/main" val="2068876006"/>
                    </a:ext>
                  </a:extLst>
                </a:gridCol>
                <a:gridCol w="566058">
                  <a:extLst>
                    <a:ext uri="{9D8B030D-6E8A-4147-A177-3AD203B41FA5}">
                      <a16:colId xmlns:a16="http://schemas.microsoft.com/office/drawing/2014/main" val="2306575618"/>
                    </a:ext>
                  </a:extLst>
                </a:gridCol>
                <a:gridCol w="1314497">
                  <a:extLst>
                    <a:ext uri="{9D8B030D-6E8A-4147-A177-3AD203B41FA5}">
                      <a16:colId xmlns:a16="http://schemas.microsoft.com/office/drawing/2014/main" val="14314526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3558851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227796745"/>
                    </a:ext>
                  </a:extLst>
                </a:gridCol>
              </a:tblGrid>
              <a:tr h="33241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M-mode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HS-mode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VS-mode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VU-mode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mlcrst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slcrst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vslcrst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811070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590866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Interrupts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706102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Saves CR0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795917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Configure,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792239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unconfig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049573"/>
                  </a:ext>
                </a:extLst>
              </a:tr>
              <a:tr h="360348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no restore, makes lazy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 Off (set by 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17587"/>
                  </a:ext>
                </a:extLst>
              </a:tr>
              <a:tr h="360348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sret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613776"/>
                  </a:ext>
                </a:extLst>
              </a:tr>
              <a:tr h="851302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Configure anew: something above is off: trap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Off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904594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 gets cause =</a:t>
                      </a:r>
                      <a:r>
                        <a:rPr lang="en-US" sz="1050" dirty="0" err="1"/>
                        <a:t>croff</a:t>
                      </a:r>
                      <a:r>
                        <a:rPr lang="en-US" sz="1050" dirty="0"/>
                        <a:t>, sees instruction. Knows does not have state, goes to 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Off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26256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HS gets cause=</a:t>
                      </a:r>
                      <a:r>
                        <a:rPr lang="en-US" sz="1050" dirty="0" err="1"/>
                        <a:t>croff</a:t>
                      </a:r>
                      <a:r>
                        <a:rPr lang="en-US" sz="1050" dirty="0"/>
                        <a:t>, sees instruction, has state, sees off in </a:t>
                      </a:r>
                      <a:r>
                        <a:rPr lang="en-US" sz="1050" dirty="0" err="1"/>
                        <a:t>slcrst</a:t>
                      </a:r>
                      <a:r>
                        <a:rPr lang="en-US" sz="1050" dirty="0"/>
                        <a:t>.</a:t>
                      </a:r>
                    </a:p>
                    <a:p>
                      <a:pPr algn="ctr"/>
                      <a:r>
                        <a:rPr lang="en-US" sz="1050" dirty="0"/>
                        <a:t>Loads SCC (or clear since instruction is config), set </a:t>
                      </a:r>
                      <a:r>
                        <a:rPr lang="en-US" sz="1050" dirty="0" err="1"/>
                        <a:t>slcrst</a:t>
                      </a:r>
                      <a:r>
                        <a:rPr lang="en-US" sz="1050" dirty="0"/>
                        <a:t> to clean (or older </a:t>
                      </a:r>
                      <a:r>
                        <a:rPr lang="en-US" sz="1050" dirty="0" err="1"/>
                        <a:t>crstatus</a:t>
                      </a:r>
                      <a:r>
                        <a:rPr lang="en-US" sz="1050" dirty="0"/>
                        <a:t>?)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 (old)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 after the import)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Clean (set at 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008007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Resume and complete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 (new)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544930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Interrupts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361873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Saves CR0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601176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Configure,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795113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unconfig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843128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no restore, makes lazy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 (set by VS)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333650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sret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680551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Wants to use.</a:t>
                      </a:r>
                      <a:br>
                        <a:rPr lang="en-US" sz="1050" dirty="0"/>
                      </a:br>
                      <a:r>
                        <a:rPr lang="en-US" sz="1050" dirty="0"/>
                        <a:t>There is an off 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⇒ trap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803396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 gets cause =</a:t>
                      </a:r>
                      <a:r>
                        <a:rPr lang="en-US" sz="1050" dirty="0" err="1"/>
                        <a:t>croff</a:t>
                      </a:r>
                      <a:r>
                        <a:rPr lang="en-US" sz="1050" dirty="0"/>
                        <a:t>, same as above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Off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517946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HS gets cause=</a:t>
                      </a:r>
                      <a:r>
                        <a:rPr lang="en-US" sz="1050" dirty="0" err="1"/>
                        <a:t>croff</a:t>
                      </a:r>
                      <a:r>
                        <a:rPr lang="en-US" sz="1050" dirty="0"/>
                        <a:t>, sees instruction, does not have state, does not see an off, goes to next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(unchanged)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Off (unchanged)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478136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HS gets cause=</a:t>
                      </a:r>
                      <a:r>
                        <a:rPr lang="en-US" sz="1050" dirty="0" err="1"/>
                        <a:t>croff</a:t>
                      </a:r>
                      <a:r>
                        <a:rPr lang="en-US" sz="1050" dirty="0"/>
                        <a:t>, sees instruction, has state, sees off in </a:t>
                      </a:r>
                      <a:r>
                        <a:rPr lang="en-US" sz="1050" dirty="0" err="1"/>
                        <a:t>slcrst</a:t>
                      </a:r>
                      <a:r>
                        <a:rPr lang="en-US" sz="1050" dirty="0"/>
                        <a:t>.</a:t>
                      </a:r>
                    </a:p>
                    <a:p>
                      <a:pPr algn="ctr"/>
                      <a:r>
                        <a:rPr lang="en-US" sz="1050" dirty="0"/>
                        <a:t>Loads SCC (or clear since instruction is config), set </a:t>
                      </a:r>
                      <a:r>
                        <a:rPr lang="en-US" sz="1050" dirty="0" err="1"/>
                        <a:t>vslcrst</a:t>
                      </a:r>
                      <a:r>
                        <a:rPr lang="en-US" sz="1050" dirty="0"/>
                        <a:t> to clean (or older </a:t>
                      </a:r>
                      <a:r>
                        <a:rPr lang="en-US" sz="1050" dirty="0" err="1"/>
                        <a:t>crstatus</a:t>
                      </a:r>
                      <a:r>
                        <a:rPr lang="en-US" sz="1050" dirty="0"/>
                        <a:t>?)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 (old)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 (auto)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Clean (set at end)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972698"/>
                  </a:ext>
                </a:extLst>
              </a:tr>
              <a:tr h="308870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Can now use because Clean ⇒</a:t>
                      </a:r>
                    </a:p>
                    <a:p>
                      <a:pPr algn="ctr"/>
                      <a:r>
                        <a:rPr lang="en-US" sz="1050" dirty="0"/>
                        <a:t>Authoritative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VU (new=old)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450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386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456</Words>
  <Application>Microsoft Macintosh PowerPoint</Application>
  <PresentationFormat>Widescreen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Avanzi</dc:creator>
  <cp:lastModifiedBy>Roberto Avanzi</cp:lastModifiedBy>
  <cp:revision>4</cp:revision>
  <dcterms:created xsi:type="dcterms:W3CDTF">2026-08-20T15:10:53Z</dcterms:created>
  <dcterms:modified xsi:type="dcterms:W3CDTF">2026-08-20T16:09:22Z</dcterms:modified>
</cp:coreProperties>
</file>